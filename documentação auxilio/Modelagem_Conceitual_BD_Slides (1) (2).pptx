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hLIQLBVYyfpA+Wd/N8ZJ4tl6Ve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B62D3A-F076-457F-87B1-A6AF3052C6D6}">
  <a:tblStyle styleId="{81B62D3A-F076-457F-87B1-A6AF3052C6D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3ddcfa7e5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1" name="Google Shape;521;g3f3ddcfa7e5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f3ddcfa7e5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3ddcfa7e5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4" name="Google Shape;534;g3f3ddcfa7e5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3f3ddcfa7e5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_BLANK">
  <p:cSld name="MASTER_BLANK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ptx_work/unpacked/ppt/media/image1.png"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" y="-18199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work/unpacked/ppt/media/image2.png" id="14" name="Google Shape;1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505" y="1192378"/>
            <a:ext cx="2984602" cy="23024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x_work/unpacked/ppt/media/image3.png" id="15" name="Google Shape;1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4586" y="5593385"/>
            <a:ext cx="1592885" cy="69128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3200400" y="2377440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Modelagem Conceitual de Banco de Dados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200400" y="37947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Joice Caroline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24" name="Google Shape;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O que é modelagem conceitual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2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"/>
          <p:cNvSpPr/>
          <p:nvPr/>
        </p:nvSpPr>
        <p:spPr>
          <a:xfrm>
            <a:off x="548640" y="1371600"/>
            <a:ext cx="94183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Representa, de forma abstrata, quais informações o sistema precisa guardar e como elas se relacionam — antes de pensar em tabelas ou SQL.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O resultado é o DER (Diagrama Entidade-Relacionamento): a "planta baixa" do banco de dados.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Três elementos centrais, presentes em todo DER: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Entidade — o "o quê"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Atributo — as características desse "o quê"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Relacionamento — como as entidades se ligam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4617720"/>
            <a:ext cx="9418320" cy="1417320"/>
          </a:xfrm>
          <a:prstGeom prst="roundRect">
            <a:avLst>
              <a:gd fmla="val 5161" name="adj"/>
            </a:avLst>
          </a:prstGeom>
          <a:solidFill>
            <a:srgbClr val="EAF1FB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94944" y="4700016"/>
            <a:ext cx="9125712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Por que isso importa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Um erro na modelagem conceitual se propaga para todo o sistema. Corrigir depois que o banco já está em produção, com dados reais, é caro e arriscado.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37" name="Google Shape;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Entidade: forte e fraca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3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3"/>
          <p:cNvSpPr/>
          <p:nvPr/>
        </p:nvSpPr>
        <p:spPr>
          <a:xfrm>
            <a:off x="548640" y="1371600"/>
            <a:ext cx="59436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Entidade é qualquer "coisa" sobre a qual guardamos informação: uma pessoa, um produto, um pedido.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Entidade forte — existe por si só. Ex.: Cliente, Produto.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Entidade fraca — só existe associada a outra entidade (a "forte", da qual depende) e não tem chave própria pra se identificar sozinha.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5F5E5A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A entidade fraca não tem chave própria: sua identidade é chave do dono + um atributo parcial (ex.: Dependente = Código do Empregado + Nome). No diagrama ao lado, repare que a linha entre o losango e Dependente é mais grossa — é assim que o DER marca essa relação identificadora.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903720" y="1417320"/>
            <a:ext cx="2743200" cy="59436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903720" y="141732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EMPREGADO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3"/>
          <p:cNvCxnSpPr/>
          <p:nvPr/>
        </p:nvCxnSpPr>
        <p:spPr>
          <a:xfrm>
            <a:off x="8275320" y="2011680"/>
            <a:ext cx="914" cy="32004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3"/>
          <p:cNvSpPr/>
          <p:nvPr/>
        </p:nvSpPr>
        <p:spPr>
          <a:xfrm>
            <a:off x="7772400" y="202996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680960" y="2331720"/>
            <a:ext cx="1188720" cy="914400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3"/>
          <p:cNvCxnSpPr/>
          <p:nvPr/>
        </p:nvCxnSpPr>
        <p:spPr>
          <a:xfrm>
            <a:off x="8275320" y="3246120"/>
            <a:ext cx="914" cy="320040"/>
          </a:xfrm>
          <a:prstGeom prst="straightConnector1">
            <a:avLst/>
          </a:prstGeom>
          <a:noFill/>
          <a:ln cap="flat" cmpd="sng" w="508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3"/>
          <p:cNvSpPr/>
          <p:nvPr/>
        </p:nvSpPr>
        <p:spPr>
          <a:xfrm>
            <a:off x="7772400" y="327355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903720" y="3566160"/>
            <a:ext cx="2743200" cy="594360"/>
          </a:xfrm>
          <a:prstGeom prst="rect">
            <a:avLst/>
          </a:prstGeom>
          <a:solidFill>
            <a:srgbClr val="E1F5EE"/>
          </a:solidFill>
          <a:ln cap="flat" cmpd="sng" w="1587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903720" y="356616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DEPENDENTE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903720" y="4251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a linha grossa marca a relação identificadora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58" name="Google Shape;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Atributo: tipos (com exemplo visual)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4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4"/>
          <p:cNvSpPr/>
          <p:nvPr/>
        </p:nvSpPr>
        <p:spPr>
          <a:xfrm>
            <a:off x="548640" y="1261872"/>
            <a:ext cx="9418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A entidade PESSOA abaixo tem um atributo de cada tipo. Preto = chave primária; branco = atributo comum. O símbolo ao lado de cada nome mostra se ele guarda um valor único, vários valores, um valor calculado, ou se ele se divide em partes.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48640" y="2606040"/>
            <a:ext cx="1828800" cy="96012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48640" y="260604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PESSOA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4"/>
          <p:cNvCxnSpPr/>
          <p:nvPr/>
        </p:nvCxnSpPr>
        <p:spPr>
          <a:xfrm flipH="1" rot="10800000">
            <a:off x="2377440" y="2011680"/>
            <a:ext cx="411480" cy="1074420"/>
          </a:xfrm>
          <a:prstGeom prst="straightConnector1">
            <a:avLst/>
          </a:prstGeom>
          <a:noFill/>
          <a:ln cap="flat" cmpd="sng" w="12700">
            <a:solidFill>
              <a:srgbClr val="8888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4"/>
          <p:cNvSpPr/>
          <p:nvPr/>
        </p:nvSpPr>
        <p:spPr>
          <a:xfrm>
            <a:off x="2734056" y="1956816"/>
            <a:ext cx="109728" cy="109728"/>
          </a:xfrm>
          <a:prstGeom prst="ellipse">
            <a:avLst/>
          </a:prstGeom>
          <a:solidFill>
            <a:srgbClr val="2C2C2A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2971800" y="1874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b="1" lang="en-US" sz="1250" u="sng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CPF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251960" y="1874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chave primária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4"/>
          <p:cNvCxnSpPr/>
          <p:nvPr/>
        </p:nvCxnSpPr>
        <p:spPr>
          <a:xfrm flipH="1" rot="10800000">
            <a:off x="2377440" y="2423160"/>
            <a:ext cx="411480" cy="662940"/>
          </a:xfrm>
          <a:prstGeom prst="straightConnector1">
            <a:avLst/>
          </a:prstGeom>
          <a:noFill/>
          <a:ln cap="flat" cmpd="sng" w="12700">
            <a:solidFill>
              <a:srgbClr val="8888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4"/>
          <p:cNvSpPr/>
          <p:nvPr/>
        </p:nvSpPr>
        <p:spPr>
          <a:xfrm>
            <a:off x="2734056" y="2368296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971800" y="22860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251960" y="2286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simples e monovalorado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4"/>
          <p:cNvCxnSpPr/>
          <p:nvPr/>
        </p:nvCxnSpPr>
        <p:spPr>
          <a:xfrm flipH="1" rot="10800000">
            <a:off x="2377440" y="2834640"/>
            <a:ext cx="411480" cy="251460"/>
          </a:xfrm>
          <a:prstGeom prst="straightConnector1">
            <a:avLst/>
          </a:prstGeom>
          <a:noFill/>
          <a:ln cap="flat" cmpd="sng" w="12700">
            <a:solidFill>
              <a:srgbClr val="8888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4"/>
          <p:cNvSpPr/>
          <p:nvPr/>
        </p:nvSpPr>
        <p:spPr>
          <a:xfrm>
            <a:off x="2724912" y="2770632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763317" y="2809037"/>
            <a:ext cx="51206" cy="5120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971800" y="26974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Telefone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25196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multivalorado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4"/>
          <p:cNvCxnSpPr/>
          <p:nvPr/>
        </p:nvCxnSpPr>
        <p:spPr>
          <a:xfrm>
            <a:off x="2377440" y="3086100"/>
            <a:ext cx="411480" cy="160020"/>
          </a:xfrm>
          <a:prstGeom prst="straightConnector1">
            <a:avLst/>
          </a:prstGeom>
          <a:noFill/>
          <a:ln cap="flat" cmpd="sng" w="12700">
            <a:solidFill>
              <a:srgbClr val="8888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4"/>
          <p:cNvSpPr/>
          <p:nvPr/>
        </p:nvSpPr>
        <p:spPr>
          <a:xfrm>
            <a:off x="2734056" y="3191256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971800" y="31089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Idade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251960" y="3108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derivado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4"/>
          <p:cNvCxnSpPr/>
          <p:nvPr/>
        </p:nvCxnSpPr>
        <p:spPr>
          <a:xfrm>
            <a:off x="2377440" y="3086100"/>
            <a:ext cx="411480" cy="571500"/>
          </a:xfrm>
          <a:prstGeom prst="straightConnector1">
            <a:avLst/>
          </a:prstGeom>
          <a:noFill/>
          <a:ln cap="flat" cmpd="sng" w="12700">
            <a:solidFill>
              <a:srgbClr val="8888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4"/>
          <p:cNvSpPr/>
          <p:nvPr/>
        </p:nvSpPr>
        <p:spPr>
          <a:xfrm>
            <a:off x="2734056" y="3602736"/>
            <a:ext cx="109728" cy="109728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971800" y="35204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Endereço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251960" y="3520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composto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4"/>
          <p:cNvCxnSpPr/>
          <p:nvPr/>
        </p:nvCxnSpPr>
        <p:spPr>
          <a:xfrm>
            <a:off x="2788920" y="3703320"/>
            <a:ext cx="914" cy="822960"/>
          </a:xfrm>
          <a:prstGeom prst="straightConnector1">
            <a:avLst/>
          </a:prstGeom>
          <a:noFill/>
          <a:ln cap="flat" cmpd="sng" w="12700">
            <a:solidFill>
              <a:srgbClr val="8888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4"/>
          <p:cNvCxnSpPr/>
          <p:nvPr/>
        </p:nvCxnSpPr>
        <p:spPr>
          <a:xfrm>
            <a:off x="2788920" y="3977640"/>
            <a:ext cx="228600" cy="914"/>
          </a:xfrm>
          <a:prstGeom prst="straightConnector1">
            <a:avLst/>
          </a:prstGeom>
          <a:noFill/>
          <a:ln cap="flat" cmpd="sng" w="12700">
            <a:solidFill>
              <a:srgbClr val="8888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4"/>
          <p:cNvSpPr/>
          <p:nvPr/>
        </p:nvSpPr>
        <p:spPr>
          <a:xfrm>
            <a:off x="2976372" y="3936492"/>
            <a:ext cx="82296" cy="8229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154680" y="38587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Rua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2788920" y="4251960"/>
            <a:ext cx="228600" cy="914"/>
          </a:xfrm>
          <a:prstGeom prst="straightConnector1">
            <a:avLst/>
          </a:prstGeom>
          <a:noFill/>
          <a:ln cap="flat" cmpd="sng" w="12700">
            <a:solidFill>
              <a:srgbClr val="8888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4"/>
          <p:cNvSpPr/>
          <p:nvPr/>
        </p:nvSpPr>
        <p:spPr>
          <a:xfrm>
            <a:off x="2976372" y="4210812"/>
            <a:ext cx="82296" cy="8229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154680" y="413308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2788920" y="4526280"/>
            <a:ext cx="228600" cy="914"/>
          </a:xfrm>
          <a:prstGeom prst="straightConnector1">
            <a:avLst/>
          </a:prstGeom>
          <a:noFill/>
          <a:ln cap="flat" cmpd="sng" w="12700">
            <a:solidFill>
              <a:srgbClr val="8888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4"/>
          <p:cNvSpPr/>
          <p:nvPr/>
        </p:nvSpPr>
        <p:spPr>
          <a:xfrm>
            <a:off x="2976372" y="4485132"/>
            <a:ext cx="82296" cy="8229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154680" y="440740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Cidade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4937760"/>
            <a:ext cx="9418320" cy="1554480"/>
          </a:xfrm>
          <a:prstGeom prst="roundRect">
            <a:avLst>
              <a:gd fmla="val 4706" name="adj"/>
            </a:avLst>
          </a:prstGeom>
          <a:solidFill>
            <a:srgbClr val="EAF1FB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94944" y="5020056"/>
            <a:ext cx="9125712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Leitura das marcas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● preto (preenchido) = chave primária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○ branco (vazio) = atributo comum, de valor único (monovalorado)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◎ duplo = pode ter vários valores ao mesmo tempo (multivalorado)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┄ tracejado = valor calculado automaticamente, não digitado (derivado)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↳ ramifica = se divide em outros atributos menores (composto)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Chave: primária, candidata e alternativa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5"/>
          <p:cNvSpPr/>
          <p:nvPr/>
        </p:nvSpPr>
        <p:spPr>
          <a:xfrm>
            <a:off x="548640" y="1234440"/>
            <a:ext cx="94183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Chave candidata (ou alternativa) — qualquer atributo que poderia, sozinho, identificar a entidade, por ser único. Ex.: CPF e RG são candidatas de Pessoa.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Chave primária — normalmente NÃO é uma chave alternativa. O ideal é um identificador técnico e artificial (um ID, criado só pra isso, sem significado de negócio). CPF e RG ficam marcados como "únicos" (alternativos), mas não são usados pra identificar a linha na tabela.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Por que não usar CPF direto como chave primária?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Nem todo cadastro tem CPF no momento em que é criado (ex.: estrangeiro sem CPF ainda)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Um dado de negócio pode precisar ser corrigido/trocado — um ID técnico nunca precisa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Um número artificial simples é mais rápido pro banco indexar e relacionar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48640" y="5532120"/>
            <a:ext cx="9418320" cy="868680"/>
          </a:xfrm>
          <a:prstGeom prst="roundRect">
            <a:avLst>
              <a:gd fmla="val 8421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94944" y="5614416"/>
            <a:ext cx="9125712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Regra prática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Primária = ID artificial. Alternativa (CPF, RG...) continua garantindo que não haja duplicidade, mas quem identifica a linha é o ID.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Chave estrangeira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6"/>
          <p:cNvSpPr/>
          <p:nvPr/>
        </p:nvSpPr>
        <p:spPr>
          <a:xfrm>
            <a:off x="5394960" y="1828800"/>
            <a:ext cx="4572000" cy="1051560"/>
          </a:xfrm>
          <a:prstGeom prst="roundRect">
            <a:avLst>
              <a:gd fmla="val 6957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541264" y="1911096"/>
            <a:ext cx="4279392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Chave estrangeira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Pergunta: esse atributo aponta pra outra tabela? Se sim → estrangeira.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22960" y="3246120"/>
            <a:ext cx="3931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760720" y="3246120"/>
            <a:ext cx="2103120" cy="54864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760720" y="32461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EMPREGADO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589520" y="4069080"/>
            <a:ext cx="2377440" cy="685800"/>
          </a:xfrm>
          <a:prstGeom prst="rect">
            <a:avLst/>
          </a:prstGeom>
          <a:solidFill>
            <a:srgbClr val="E1F5EE"/>
          </a:solidFill>
          <a:ln cap="flat" cmpd="sng" w="1587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589520" y="406908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58952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DEPENDENTE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Código_Empregado (FK)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 rot="10800000">
            <a:off x="6812280" y="3794760"/>
            <a:ext cx="1965960" cy="274320"/>
          </a:xfrm>
          <a:prstGeom prst="straightConnector1">
            <a:avLst/>
          </a:prstGeom>
          <a:noFill/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6"/>
          <p:cNvSpPr/>
          <p:nvPr/>
        </p:nvSpPr>
        <p:spPr>
          <a:xfrm>
            <a:off x="822960" y="2355442"/>
            <a:ext cx="4206240" cy="29670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 estrangeira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A chave estrangeira (Foreign Key) é um campo de uma tabela que faz referência à chave primária de outra tabela.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Ela serve para ligar duas tabelas e manter os dados relacionados corretamente.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Relacionamento e grau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7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7"/>
          <p:cNvSpPr/>
          <p:nvPr/>
        </p:nvSpPr>
        <p:spPr>
          <a:xfrm>
            <a:off x="548640" y="1371600"/>
            <a:ext cx="94183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Relacionamento é a associação entre entidades. No DER é um losango, ligado às entidades por linhas.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Grau do relacionamento = quantas entidades participam dele: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Binário — 2 entidades (o mais comum)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Ternário — 3 entidades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31520" y="3931920"/>
            <a:ext cx="2194560" cy="77724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31520" y="39319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315200" y="3931920"/>
            <a:ext cx="2194560" cy="77724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315200" y="39319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PEDIDO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343400" y="3703320"/>
            <a:ext cx="1188720" cy="1234440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343400" y="3703320"/>
            <a:ext cx="1188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faz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>
            <a:off x="2926080" y="4320540"/>
            <a:ext cx="1417320" cy="9144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7"/>
          <p:cNvCxnSpPr/>
          <p:nvPr/>
        </p:nvCxnSpPr>
        <p:spPr>
          <a:xfrm>
            <a:off x="5532120" y="4320540"/>
            <a:ext cx="1783080" cy="9144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Cardinalidade mínima e máxima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8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8"/>
          <p:cNvSpPr/>
          <p:nvPr/>
        </p:nvSpPr>
        <p:spPr>
          <a:xfrm>
            <a:off x="548640" y="1371600"/>
            <a:ext cx="94183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Cardinalidade = quantas ocorrências de uma entidade podem/devem se associar a quantas da outra. Escrita como (mínimo, máximo) do lado de cada entidade.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Mínima — a participação é obrigatória ou opcional?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0 = opcional (pode existir sem se relacionar)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1 = obrigatória (precisa estar relacionada a pelo menos uma)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1"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Máxima — no máximo quantas associações?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1 = no máximo uma      N = muitas, sem limite definido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Como descobrir a cardinalidade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9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9"/>
          <p:cNvSpPr/>
          <p:nvPr/>
        </p:nvSpPr>
        <p:spPr>
          <a:xfrm>
            <a:off x="548640" y="1261872"/>
            <a:ext cx="9418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Nas perguntas abaixo, "E" é só um apelido pra "a entidade que você está calculando" — não é uma entidade chamada E de verdade. Na hora de aplicar, troque E pelo nome real (Cliente, Pedido, Livro...).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48640" y="2057400"/>
            <a:ext cx="9418320" cy="1371600"/>
          </a:xfrm>
          <a:prstGeom prst="roundRect">
            <a:avLst>
              <a:gd fmla="val 5333" name="adj"/>
            </a:avLst>
          </a:prstGeom>
          <a:solidFill>
            <a:srgbClr val="EAF1FB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94944" y="2139696"/>
            <a:ext cx="9125712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Pergunta 1 — define o MÍNIMO do lado de uma entidade 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Pense numa ocorrência da entidade OPOSTA a E. Ela precisa estar associada a pelo menos uma ocorrência de E?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Sim → mínimo de E = 1.   Pode não ter nenhuma → mínimo de E = 0.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48640" y="3703320"/>
            <a:ext cx="9418320" cy="1417320"/>
          </a:xfrm>
          <a:prstGeom prst="roundRect">
            <a:avLst>
              <a:gd fmla="val 5161" name="adj"/>
            </a:avLst>
          </a:prstGeom>
          <a:solidFill>
            <a:srgbClr val="EAF1FB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94944" y="3785616"/>
            <a:ext cx="9125712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Pergunta 2 — define o MÁXIMO do lado de uma entidade 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Essa mesma ocorrência da entidade oposta pode se associar a quantas ocorrências de E, no máximo?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Só uma → máximo de E = 1.   Mais de uma → máximo de E = 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48640" y="5257800"/>
            <a:ext cx="9418320" cy="1051560"/>
          </a:xfrm>
          <a:prstGeom prst="roundRect">
            <a:avLst>
              <a:gd fmla="val 6957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94944" y="5340096"/>
            <a:ext cx="9125712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Isso depende da regra de negócio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O método (as duas perguntas) é sempre o mesmo, mas a resposta depende das regras daquela empresa. Ex.: numa escola, um aluno pode estar em no máximo 1 turma; em outra, pode estar em várias. Não existe cardinalidade "certa" fora do contexto do negócio.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Exemplo 1 — Cliente e Pedido (1:N)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0"/>
          <p:cNvSpPr/>
          <p:nvPr/>
        </p:nvSpPr>
        <p:spPr>
          <a:xfrm>
            <a:off x="731520" y="1920240"/>
            <a:ext cx="2286000" cy="73152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731520" y="19202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7315200" y="1920240"/>
            <a:ext cx="2286000" cy="73152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7315200" y="19202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PEDIDO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343400" y="1691640"/>
            <a:ext cx="1188720" cy="1188720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343400" y="169164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faz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3017520" y="2286000"/>
            <a:ext cx="1325880" cy="9144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10"/>
          <p:cNvCxnSpPr/>
          <p:nvPr/>
        </p:nvCxnSpPr>
        <p:spPr>
          <a:xfrm>
            <a:off x="5532120" y="2286000"/>
            <a:ext cx="1783080" cy="9144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0"/>
          <p:cNvSpPr/>
          <p:nvPr/>
        </p:nvSpPr>
        <p:spPr>
          <a:xfrm>
            <a:off x="3017520" y="18470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(1,1)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035040" y="18470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(0,N)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48640" y="3291840"/>
            <a:ext cx="9418320" cy="2743200"/>
          </a:xfrm>
          <a:prstGeom prst="roundRect">
            <a:avLst>
              <a:gd fmla="val 2667" name="adj"/>
            </a:avLst>
          </a:prstGeom>
          <a:solidFill>
            <a:srgbClr val="EAF1FB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94944" y="3374136"/>
            <a:ext cx="9125712" cy="2578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Como se chega nisso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Cardinalidade de PEDIDO: pense numa ocorrência de CLIENTE. Esse cliente precisa ter feito pelo menos 1 pedido pra existir no sistema? Não → mín. 0. Pode ter feito vários pedidos? Sim → máx. N. Pedido: (0,N).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Cardinalidade de CLIENTE: pense numa ocorrência de PEDIDO. Esse pedido precisa ter um cliente? Sim → mín. 1. Pode ter mais de um cliente responsável? Não → máx. 1. Cliente: (1,1).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206" name="Google Shape;2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Exemplo 2 — Pessoa e Passaporte (1:1)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1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1"/>
          <p:cNvSpPr/>
          <p:nvPr/>
        </p:nvSpPr>
        <p:spPr>
          <a:xfrm>
            <a:off x="731520" y="1920240"/>
            <a:ext cx="2286000" cy="73152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731520" y="19202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PESSOA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7315200" y="1920240"/>
            <a:ext cx="2286000" cy="73152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7315200" y="19202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PASSAPORTE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343400" y="1691640"/>
            <a:ext cx="1188720" cy="1188720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343400" y="169164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possui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1"/>
          <p:cNvCxnSpPr/>
          <p:nvPr/>
        </p:nvCxnSpPr>
        <p:spPr>
          <a:xfrm>
            <a:off x="3017520" y="2286000"/>
            <a:ext cx="1325880" cy="9144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11"/>
          <p:cNvCxnSpPr/>
          <p:nvPr/>
        </p:nvCxnSpPr>
        <p:spPr>
          <a:xfrm>
            <a:off x="5532120" y="2286000"/>
            <a:ext cx="1783080" cy="9144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1"/>
          <p:cNvSpPr/>
          <p:nvPr/>
        </p:nvSpPr>
        <p:spPr>
          <a:xfrm>
            <a:off x="3017520" y="18470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(1,1)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6035040" y="18470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(0,1)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48640" y="3291840"/>
            <a:ext cx="9418320" cy="2743200"/>
          </a:xfrm>
          <a:prstGeom prst="roundRect">
            <a:avLst>
              <a:gd fmla="val 2667" name="adj"/>
            </a:avLst>
          </a:prstGeom>
          <a:solidFill>
            <a:srgbClr val="EAF1FB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694944" y="3374136"/>
            <a:ext cx="9125712" cy="2578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Como se chega nisso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Cardinalidade de PASSAPORTE: pense numa ocorrência de PESSOA. Ela precisa ter passaporte? Não, é opcional → mín. 0. Pode ter mais de um passaporte válido ao mesmo tempo? Não → máx. 1. Passaporte: (0,1).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Cardinalidade de PESSOA: pense numa ocorrência de PASSAPORTE. Ele precisa ter uma pessoa dona? Sim → mín. 1. Pode ter mais de uma pessoa dona? Não → máx. 1. Pessoa: (1,1).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228" name="Google Shape;2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2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Exemplo 3 — Aluno e Disciplina (N:N)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2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12"/>
          <p:cNvSpPr/>
          <p:nvPr/>
        </p:nvSpPr>
        <p:spPr>
          <a:xfrm>
            <a:off x="731520" y="1920240"/>
            <a:ext cx="2286000" cy="73152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731520" y="19202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ALUNO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7315200" y="1920240"/>
            <a:ext cx="2286000" cy="73152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7315200" y="19202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DISCIPLINA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343400" y="1691640"/>
            <a:ext cx="1188720" cy="1188720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343400" y="169164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cursa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2"/>
          <p:cNvCxnSpPr/>
          <p:nvPr/>
        </p:nvCxnSpPr>
        <p:spPr>
          <a:xfrm>
            <a:off x="3017520" y="2286000"/>
            <a:ext cx="1325880" cy="9144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12"/>
          <p:cNvCxnSpPr/>
          <p:nvPr/>
        </p:nvCxnSpPr>
        <p:spPr>
          <a:xfrm>
            <a:off x="5532120" y="2286000"/>
            <a:ext cx="1783080" cy="9144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2"/>
          <p:cNvSpPr/>
          <p:nvPr/>
        </p:nvSpPr>
        <p:spPr>
          <a:xfrm>
            <a:off x="3017520" y="18470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(0,N)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035040" y="184708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(1,N)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48640" y="3291840"/>
            <a:ext cx="9418320" cy="1234440"/>
          </a:xfrm>
          <a:prstGeom prst="roundRect">
            <a:avLst>
              <a:gd fmla="val 5926" name="adj"/>
            </a:avLst>
          </a:prstGeom>
          <a:solidFill>
            <a:srgbClr val="EAF1FB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694944" y="3374136"/>
            <a:ext cx="912571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Como se chega nisso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Pense numa ocorrência de Disciplina: um Aluno pode estar em zero ou várias → (0,N). Pense numa ocorrência de Aluno: uma Disciplina tem pelo menos 1 aluno e pode ter vários → (1,N). Os dois lados N: relacionamento muitos-para-muitos.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548640" y="4709160"/>
            <a:ext cx="9418320" cy="1417320"/>
          </a:xfrm>
          <a:prstGeom prst="roundRect">
            <a:avLst>
              <a:gd fmla="val 5161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694944" y="4791456"/>
            <a:ext cx="9125712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E se for N:N? O que fazer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Se o relacionamento não guarda nenhum dado próprio, N:N já é válido como está. Mas se ele precisa guardar algo (nota, frequência), ele vira uma entidade associativa — é o próximo slide.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252" name="Google Shape;2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3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Entidade associativa: o que fazer com o N:N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3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3"/>
          <p:cNvSpPr/>
          <p:nvPr/>
        </p:nvSpPr>
        <p:spPr>
          <a:xfrm>
            <a:off x="548640" y="1261872"/>
            <a:ext cx="9418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Quando o relacionamento N:N do exemplo anterior precisa guardar informação própria, ele vira uma entidade.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48640" y="2286000"/>
            <a:ext cx="2286000" cy="77724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48640" y="22860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ALUNO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7498080" y="2286000"/>
            <a:ext cx="2286000" cy="77724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7498080" y="22860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DISCIPLINA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4023360" y="2194560"/>
            <a:ext cx="228600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4133088" y="2286000"/>
            <a:ext cx="2066544" cy="777240"/>
          </a:xfrm>
          <a:prstGeom prst="diamond">
            <a:avLst/>
          </a:prstGeom>
          <a:solidFill>
            <a:srgbClr val="FAECE7"/>
          </a:solidFill>
          <a:ln cap="flat" cmpd="sng" w="12700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4023360" y="2194560"/>
            <a:ext cx="22860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MATRÍCULA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4023360" y="3154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nota, frequência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3"/>
          <p:cNvCxnSpPr/>
          <p:nvPr/>
        </p:nvCxnSpPr>
        <p:spPr>
          <a:xfrm>
            <a:off x="2834640" y="2674620"/>
            <a:ext cx="1188720" cy="914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13"/>
          <p:cNvCxnSpPr/>
          <p:nvPr/>
        </p:nvCxnSpPr>
        <p:spPr>
          <a:xfrm>
            <a:off x="6309360" y="2674620"/>
            <a:ext cx="1188720" cy="914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13"/>
          <p:cNvSpPr/>
          <p:nvPr/>
        </p:nvSpPr>
        <p:spPr>
          <a:xfrm>
            <a:off x="2834640" y="19659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(1,1)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3520440" y="19659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(1,1)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6446520" y="19659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(0,N)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7178040" y="19659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(1,n)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548640" y="3566160"/>
            <a:ext cx="9418320" cy="1234440"/>
          </a:xfrm>
          <a:prstGeom prst="roundRect">
            <a:avLst>
              <a:gd fmla="val 5926" name="adj"/>
            </a:avLst>
          </a:prstGeom>
          <a:solidFill>
            <a:srgbClr val="EAF1FB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94944" y="3648456"/>
            <a:ext cx="912571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Por quê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A nota e a frequência não pertencem só ao aluno nem só à disciplina — pertencem à relação entre os dois. Por isso viram uma entidade própria, com sua chave composta (Aluno_id + Disciplina_id).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48640" y="4937760"/>
            <a:ext cx="9418320" cy="1188720"/>
          </a:xfrm>
          <a:prstGeom prst="roundRect">
            <a:avLst>
              <a:gd fmla="val 6154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94944" y="5020056"/>
            <a:ext cx="9125712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E a cardinalidade?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Mesmas perguntas de sempre: cada Matrícula tem exatamente 1 Aluno e 1 Disciplina → (1,1). Cada Aluno e cada Disciplina podem ter 0 ou várias matrículas → (0,N). O N:N original virou dois 1:N.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281" name="Google Shape;2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Resumo: tipos de relacionamento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4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85" name="Google Shape;285;p14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{81B62D3A-F076-457F-87B1-A6AF3052C6D6}</a:tableStyleId>
              </a:tblPr>
              <a:tblGrid>
                <a:gridCol w="2926075"/>
                <a:gridCol w="3840475"/>
                <a:gridCol w="26517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Notação comum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Exemplo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47C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 para um (1:1)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(0,1) ou (1,1) dos dois lados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Pessoa e Passaporte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 para muitos (1:N)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 lado (0,1)/(1,1), outro (0,N)/(1,N)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 e Pedido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Muitos para muitos (N:N)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(0,N) ou (1,N) dos dois lados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Aluno e Disciplina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3D1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292" name="Google Shape;2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Entidade fraca nunca é N:N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5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5"/>
          <p:cNvSpPr/>
          <p:nvPr/>
        </p:nvSpPr>
        <p:spPr>
          <a:xfrm>
            <a:off x="731520" y="1554480"/>
            <a:ext cx="2377440" cy="68580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731520" y="155448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EMPREGADO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5"/>
          <p:cNvCxnSpPr/>
          <p:nvPr/>
        </p:nvCxnSpPr>
        <p:spPr>
          <a:xfrm>
            <a:off x="1920240" y="2240280"/>
            <a:ext cx="914" cy="41148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5"/>
          <p:cNvSpPr/>
          <p:nvPr/>
        </p:nvSpPr>
        <p:spPr>
          <a:xfrm>
            <a:off x="1371600" y="228600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1325880" y="2651760"/>
            <a:ext cx="1188720" cy="1051560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15"/>
          <p:cNvCxnSpPr/>
          <p:nvPr/>
        </p:nvCxnSpPr>
        <p:spPr>
          <a:xfrm>
            <a:off x="1920240" y="3703320"/>
            <a:ext cx="914" cy="411480"/>
          </a:xfrm>
          <a:prstGeom prst="straightConnector1">
            <a:avLst/>
          </a:prstGeom>
          <a:noFill/>
          <a:ln cap="flat" cmpd="sng" w="508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15"/>
          <p:cNvSpPr/>
          <p:nvPr/>
        </p:nvSpPr>
        <p:spPr>
          <a:xfrm>
            <a:off x="1371600" y="37490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731520" y="4114800"/>
            <a:ext cx="2377440" cy="685800"/>
          </a:xfrm>
          <a:prstGeom prst="rect">
            <a:avLst/>
          </a:prstGeom>
          <a:solidFill>
            <a:srgbClr val="E1F5EE"/>
          </a:solidFill>
          <a:ln cap="flat" cmpd="sng" w="1587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731520" y="411480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DEPENDENTE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731520" y="49377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Válido — identificação sempre única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7223760" y="1554480"/>
            <a:ext cx="2377440" cy="68580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7223760" y="155448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EMPREGADO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5"/>
          <p:cNvCxnSpPr/>
          <p:nvPr/>
        </p:nvCxnSpPr>
        <p:spPr>
          <a:xfrm>
            <a:off x="8412480" y="2240280"/>
            <a:ext cx="914" cy="411480"/>
          </a:xfrm>
          <a:prstGeom prst="straightConnector1">
            <a:avLst/>
          </a:prstGeom>
          <a:noFill/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5"/>
          <p:cNvSpPr/>
          <p:nvPr/>
        </p:nvSpPr>
        <p:spPr>
          <a:xfrm>
            <a:off x="7863840" y="228600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7818120" y="2651760"/>
            <a:ext cx="1188720" cy="1051560"/>
          </a:xfrm>
          <a:prstGeom prst="diamond">
            <a:avLst/>
          </a:prstGeom>
          <a:solidFill>
            <a:srgbClr val="FFFFFF"/>
          </a:solidFill>
          <a:ln cap="flat" cmpd="sng" w="127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5"/>
          <p:cNvCxnSpPr/>
          <p:nvPr/>
        </p:nvCxnSpPr>
        <p:spPr>
          <a:xfrm>
            <a:off x="8001000" y="2834640"/>
            <a:ext cx="731520" cy="685800"/>
          </a:xfrm>
          <a:prstGeom prst="straightConnector1">
            <a:avLst/>
          </a:prstGeom>
          <a:noFill/>
          <a:ln cap="flat" cmpd="sng" w="254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5"/>
          <p:cNvCxnSpPr/>
          <p:nvPr/>
        </p:nvCxnSpPr>
        <p:spPr>
          <a:xfrm flipH="1">
            <a:off x="8001000" y="2834640"/>
            <a:ext cx="731520" cy="685800"/>
          </a:xfrm>
          <a:prstGeom prst="straightConnector1">
            <a:avLst/>
          </a:prstGeom>
          <a:noFill/>
          <a:ln cap="flat" cmpd="sng" w="254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5"/>
          <p:cNvCxnSpPr/>
          <p:nvPr/>
        </p:nvCxnSpPr>
        <p:spPr>
          <a:xfrm>
            <a:off x="8412480" y="3703320"/>
            <a:ext cx="914" cy="411480"/>
          </a:xfrm>
          <a:prstGeom prst="straightConnector1">
            <a:avLst/>
          </a:prstGeom>
          <a:noFill/>
          <a:ln cap="flat" cmpd="sng" w="50800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5"/>
          <p:cNvSpPr/>
          <p:nvPr/>
        </p:nvSpPr>
        <p:spPr>
          <a:xfrm>
            <a:off x="7863840" y="37490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7223760" y="4114800"/>
            <a:ext cx="2377440" cy="685800"/>
          </a:xfrm>
          <a:prstGeom prst="rect">
            <a:avLst/>
          </a:prstGeom>
          <a:solidFill>
            <a:srgbClr val="E1F5EE"/>
          </a:solidFill>
          <a:ln cap="flat" cmpd="sng" w="1587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7223760" y="411480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DEPENDENTE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7223760" y="493776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Impossível — de qual empregado?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548640" y="5394960"/>
            <a:ext cx="9418320" cy="1051560"/>
          </a:xfrm>
          <a:prstGeom prst="roundRect">
            <a:avLst>
              <a:gd fmla="val 6957" name="adj"/>
            </a:avLst>
          </a:prstGeom>
          <a:solidFill>
            <a:srgbClr val="EAF1FB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694944" y="5477256"/>
            <a:ext cx="9125712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Explicação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Se o lado do dono pudesse ser N, não haveria como saber de qual ocorrência herdar a chave — a identificação do dependente ficaria ambígua. Por isso a relação identificadora é sempre 1:N.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326" name="Google Shape;3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6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Generalização / especialização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6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6"/>
          <p:cNvSpPr/>
          <p:nvPr/>
        </p:nvSpPr>
        <p:spPr>
          <a:xfrm>
            <a:off x="548640" y="1261872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Uma entidade genérica (superclasse) se divide em subtipos mais específicos (subclasses), que herdam os atributos comuns e podem ter atributos próprios.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4023360" y="1920240"/>
            <a:ext cx="2377440" cy="73152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4023360" y="192024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FUNCIONÁRIO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16"/>
          <p:cNvCxnSpPr/>
          <p:nvPr/>
        </p:nvCxnSpPr>
        <p:spPr>
          <a:xfrm>
            <a:off x="5212080" y="2651760"/>
            <a:ext cx="914" cy="36576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6"/>
          <p:cNvSpPr/>
          <p:nvPr/>
        </p:nvSpPr>
        <p:spPr>
          <a:xfrm>
            <a:off x="4709160" y="3017520"/>
            <a:ext cx="1005840" cy="54864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2011680" y="4023360"/>
            <a:ext cx="2377440" cy="731520"/>
          </a:xfrm>
          <a:prstGeom prst="rect">
            <a:avLst/>
          </a:prstGeom>
          <a:solidFill>
            <a:srgbClr val="FAECE7"/>
          </a:solidFill>
          <a:ln cap="flat" cmpd="sng" w="15875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2011680" y="402336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GERENTE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6035040" y="4023360"/>
            <a:ext cx="2377440" cy="731520"/>
          </a:xfrm>
          <a:prstGeom prst="rect">
            <a:avLst/>
          </a:prstGeom>
          <a:solidFill>
            <a:srgbClr val="FAECE7"/>
          </a:solidFill>
          <a:ln cap="flat" cmpd="sng" w="15875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6035040" y="402336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VENDEDOR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16"/>
          <p:cNvCxnSpPr/>
          <p:nvPr/>
        </p:nvCxnSpPr>
        <p:spPr>
          <a:xfrm flipH="1">
            <a:off x="3200400" y="3566160"/>
            <a:ext cx="2011680" cy="45720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16"/>
          <p:cNvCxnSpPr/>
          <p:nvPr/>
        </p:nvCxnSpPr>
        <p:spPr>
          <a:xfrm>
            <a:off x="5212080" y="3566160"/>
            <a:ext cx="2011680" cy="45720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16"/>
          <p:cNvSpPr/>
          <p:nvPr/>
        </p:nvSpPr>
        <p:spPr>
          <a:xfrm>
            <a:off x="2011680" y="48006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Atributo próprio: valor do bônus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6035040" y="48006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Atributo próprio: comissão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3840480" y="16916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Atributos comuns: nome, CPF, data de admissão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350" name="Google Shape;3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7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Cobertura: total x parcial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17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17"/>
          <p:cNvSpPr/>
          <p:nvPr/>
        </p:nvSpPr>
        <p:spPr>
          <a:xfrm>
            <a:off x="548640" y="17830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1188720" y="2103120"/>
            <a:ext cx="1828800" cy="50292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1188720" y="21031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17"/>
          <p:cNvCxnSpPr/>
          <p:nvPr/>
        </p:nvCxnSpPr>
        <p:spPr>
          <a:xfrm>
            <a:off x="2103120" y="2606040"/>
            <a:ext cx="914" cy="22860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7"/>
          <p:cNvSpPr/>
          <p:nvPr/>
        </p:nvSpPr>
        <p:spPr>
          <a:xfrm>
            <a:off x="2194560" y="2587752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1600200" y="2834640"/>
            <a:ext cx="1005840" cy="4572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548640" y="3566160"/>
            <a:ext cx="1737360" cy="548640"/>
          </a:xfrm>
          <a:prstGeom prst="rect">
            <a:avLst/>
          </a:prstGeom>
          <a:solidFill>
            <a:srgbClr val="FAECE7"/>
          </a:solidFill>
          <a:ln cap="flat" cmpd="sng" w="15875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548640" y="35661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PESSOA FÍSICA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2468880" y="3566160"/>
            <a:ext cx="1737360" cy="548640"/>
          </a:xfrm>
          <a:prstGeom prst="rect">
            <a:avLst/>
          </a:prstGeom>
          <a:solidFill>
            <a:srgbClr val="FAECE7"/>
          </a:solidFill>
          <a:ln cap="flat" cmpd="sng" w="15875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2468880" y="35661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PESSOA JURÍDICA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p17"/>
          <p:cNvCxnSpPr/>
          <p:nvPr/>
        </p:nvCxnSpPr>
        <p:spPr>
          <a:xfrm flipH="1">
            <a:off x="1417320" y="3291840"/>
            <a:ext cx="182880" cy="27432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17"/>
          <p:cNvCxnSpPr/>
          <p:nvPr/>
        </p:nvCxnSpPr>
        <p:spPr>
          <a:xfrm>
            <a:off x="2606040" y="3291840"/>
            <a:ext cx="731520" cy="27432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17"/>
          <p:cNvSpPr/>
          <p:nvPr/>
        </p:nvSpPr>
        <p:spPr>
          <a:xfrm>
            <a:off x="3383280" y="2103120"/>
            <a:ext cx="1645920" cy="868680"/>
          </a:xfrm>
          <a:prstGeom prst="roundRect">
            <a:avLst>
              <a:gd fmla="val 6316" name="adj"/>
            </a:avLst>
          </a:prstGeom>
          <a:solidFill>
            <a:srgbClr val="EAF1FB"/>
          </a:solidFill>
          <a:ln cap="flat" cmpd="sng" w="952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3474720" y="2139696"/>
            <a:ext cx="14630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Indica que todo cliente é pessoa física ou jurídica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548640" y="42519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"t" = todo cliente vira uma das duas subclasses. Ninguém fica de fora.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5486400" y="17830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Parcial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6309360" y="2103120"/>
            <a:ext cx="1965960" cy="502920"/>
          </a:xfrm>
          <a:prstGeom prst="rect">
            <a:avLst/>
          </a:prstGeom>
          <a:solidFill>
            <a:srgbClr val="E6F1FB"/>
          </a:solidFill>
          <a:ln cap="flat" cmpd="sng" w="15875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6309360" y="21031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FUNCIONÁRIO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17"/>
          <p:cNvCxnSpPr/>
          <p:nvPr/>
        </p:nvCxnSpPr>
        <p:spPr>
          <a:xfrm>
            <a:off x="7292340" y="2606040"/>
            <a:ext cx="914" cy="22860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17"/>
          <p:cNvSpPr/>
          <p:nvPr/>
        </p:nvSpPr>
        <p:spPr>
          <a:xfrm>
            <a:off x="7388352" y="2587752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6793992" y="2834640"/>
            <a:ext cx="1005840" cy="4572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15875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5440680" y="3566160"/>
            <a:ext cx="1600200" cy="502920"/>
          </a:xfrm>
          <a:prstGeom prst="rect">
            <a:avLst/>
          </a:prstGeom>
          <a:solidFill>
            <a:srgbClr val="FAECE7"/>
          </a:solidFill>
          <a:ln cap="flat" cmpd="sng" w="15875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5440680" y="356616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MOTORISTA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7360920" y="3566160"/>
            <a:ext cx="1691640" cy="502920"/>
          </a:xfrm>
          <a:prstGeom prst="rect">
            <a:avLst/>
          </a:prstGeom>
          <a:solidFill>
            <a:srgbClr val="FAECE7"/>
          </a:solidFill>
          <a:ln cap="flat" cmpd="sng" w="15875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7360920" y="356616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SECRETÁRIA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" name="Google Shape;379;p17"/>
          <p:cNvCxnSpPr/>
          <p:nvPr/>
        </p:nvCxnSpPr>
        <p:spPr>
          <a:xfrm flipH="1">
            <a:off x="6240780" y="3291840"/>
            <a:ext cx="553212" cy="27432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17"/>
          <p:cNvCxnSpPr/>
          <p:nvPr/>
        </p:nvCxnSpPr>
        <p:spPr>
          <a:xfrm>
            <a:off x="7799832" y="3291840"/>
            <a:ext cx="406908" cy="27432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17"/>
          <p:cNvCxnSpPr/>
          <p:nvPr/>
        </p:nvCxnSpPr>
        <p:spPr>
          <a:xfrm>
            <a:off x="7292340" y="3063240"/>
            <a:ext cx="914" cy="1234440"/>
          </a:xfrm>
          <a:prstGeom prst="straightConnector1">
            <a:avLst/>
          </a:prstGeom>
          <a:noFill/>
          <a:ln cap="flat" cmpd="sng" w="12700">
            <a:solidFill>
              <a:srgbClr val="2C2C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17"/>
          <p:cNvSpPr/>
          <p:nvPr/>
        </p:nvSpPr>
        <p:spPr>
          <a:xfrm>
            <a:off x="6492240" y="4297680"/>
            <a:ext cx="1600200" cy="502920"/>
          </a:xfrm>
          <a:prstGeom prst="rect">
            <a:avLst/>
          </a:prstGeom>
          <a:solidFill>
            <a:srgbClr val="FAECE7"/>
          </a:solidFill>
          <a:ln cap="flat" cmpd="sng" w="15875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6492240" y="429768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COZINHEIRA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8412480" y="2103120"/>
            <a:ext cx="1508760" cy="960120"/>
          </a:xfrm>
          <a:prstGeom prst="roundRect">
            <a:avLst>
              <a:gd fmla="val 5714" name="adj"/>
            </a:avLst>
          </a:prstGeom>
          <a:solidFill>
            <a:srgbClr val="FAEEDA"/>
          </a:solidFill>
          <a:ln cap="flat" cmpd="sng" w="9525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8485632" y="2139696"/>
            <a:ext cx="1371600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Indica que nem todo funcionário é motorista ou secretária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5394960" y="4892040"/>
            <a:ext cx="44805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"p" = pode existir Funcionário que não é nenhuma das 3 subclasses listadas. Isso só fala se sobra alguém de FORA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548640" y="5943600"/>
            <a:ext cx="9418320" cy="822960"/>
          </a:xfrm>
          <a:prstGeom prst="roundRect">
            <a:avLst>
              <a:gd fmla="val 8889" name="adj"/>
            </a:avLst>
          </a:prstGeom>
          <a:solidFill>
            <a:srgbClr val="EAF1FB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694944" y="6025896"/>
            <a:ext cx="912571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Como saber qual 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Pergunte: "existe alguma ocorrência da superclasse que legitimamente não é nenhuma das subclasses?" Se sim → parcial (p). Se não → total (t).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395" name="Google Shape;3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8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Exclusividade: disjunta x sobreposta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18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18"/>
          <p:cNvSpPr/>
          <p:nvPr/>
        </p:nvSpPr>
        <p:spPr>
          <a:xfrm>
            <a:off x="548640" y="1261872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Exclusividade responde outra pergunta: uma ocorrência pode estar em mais de uma subclasse ao mesmo tempo, ou só numa?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548640" y="18745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Disjunta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731520" y="2286000"/>
            <a:ext cx="1737360" cy="1051560"/>
          </a:xfrm>
          <a:prstGeom prst="ellipse">
            <a:avLst/>
          </a:prstGeom>
          <a:solidFill>
            <a:srgbClr val="FAECE7"/>
          </a:solidFill>
          <a:ln cap="flat" cmpd="sng" w="12700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2651760" y="2286000"/>
            <a:ext cx="1737360" cy="1051560"/>
          </a:xfrm>
          <a:prstGeom prst="ellipse">
            <a:avLst/>
          </a:prstGeom>
          <a:solidFill>
            <a:srgbClr val="FAECE7"/>
          </a:solidFill>
          <a:ln cap="flat" cmpd="sng" w="12700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731520" y="26060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GERENTE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2651760" y="26060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VENDEDOR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548640" y="36576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Um Funcionário é Gerente OU Vendedor, nunca os dois ao mesmo tempo — as subclasses não se cruzam (por isso os círculos não se tocam no desenho).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5669280" y="18745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Sobreposta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5760720" y="2286000"/>
            <a:ext cx="1828800" cy="1097280"/>
          </a:xfrm>
          <a:prstGeom prst="ellipse">
            <a:avLst/>
          </a:prstGeom>
          <a:solidFill>
            <a:srgbClr val="FAECE7">
              <a:alpha val="65098"/>
            </a:srgbClr>
          </a:solidFill>
          <a:ln cap="flat" cmpd="sng" w="12700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6949440" y="2286000"/>
            <a:ext cx="1828800" cy="1097280"/>
          </a:xfrm>
          <a:prstGeom prst="ellipse">
            <a:avLst/>
          </a:prstGeom>
          <a:solidFill>
            <a:srgbClr val="FAECE7">
              <a:alpha val="65098"/>
            </a:srgbClr>
          </a:solidFill>
          <a:ln cap="flat" cmpd="sng" w="12700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5760720" y="262432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7543800" y="2624328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3C1D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FORNECEDOR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5394960" y="36576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Uma Pessoa pode ser Cliente E Fornecedor da mesma empresa ao mesmo tempo — por isso os círculos se cruzam: a área do meio é quem está nas duas.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548640" y="5074920"/>
            <a:ext cx="9418320" cy="777240"/>
          </a:xfrm>
          <a:prstGeom prst="roundRect">
            <a:avLst>
              <a:gd fmla="val 9412" name="adj"/>
            </a:avLst>
          </a:prstGeom>
          <a:solidFill>
            <a:srgbClr val="EAF1FB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694944" y="5157216"/>
            <a:ext cx="9125712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Como saber qual é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Pergunte: "uma mesma ocorrência pode acumular as duas subclasses?" Se sim → sobreposta. Se não → disjunta.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548640" y="5943600"/>
            <a:ext cx="9418320" cy="777240"/>
          </a:xfrm>
          <a:prstGeom prst="roundRect">
            <a:avLst>
              <a:gd fmla="val 9412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694944" y="6025896"/>
            <a:ext cx="9125712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Exemplo (juntando os dois eixos)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Clínica: toda Pessoa é Paciente ou Funcionário, nunca as duas, nunca nenhuma → total e disjunta ao mesmo tempo.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9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422" name="Google Shape;4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9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Exercícios (1 de 2)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19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p19"/>
          <p:cNvSpPr/>
          <p:nvPr/>
        </p:nvSpPr>
        <p:spPr>
          <a:xfrm>
            <a:off x="548640" y="1463040"/>
            <a:ext cx="9418320" cy="2103120"/>
          </a:xfrm>
          <a:prstGeom prst="roundRect">
            <a:avLst>
              <a:gd fmla="val 3478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694944" y="1545336"/>
            <a:ext cx="9125712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Exercício 1 — Entidade, atributo e chave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Uma locadora guarda, de cada carro: placa, modelo, cor e ano. A placa nunca se repete. Identifique: (a) a entidade; (b) os atributos; (c) qual deve ser a chave primária e por quê.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548640" y="3749040"/>
            <a:ext cx="9418320" cy="2103120"/>
          </a:xfrm>
          <a:prstGeom prst="roundRect">
            <a:avLst>
              <a:gd fmla="val 3478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694944" y="3831336"/>
            <a:ext cx="9125712" cy="1938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Exercício 2 — Atributo composto e multivalorado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A entidade Autor tem: nome completo (nome e sobrenome) e telefones de contato (pode haver vários). Classifique cada um desses dois atributos quanto ao tipo.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0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436" name="Google Shape;4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0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Exercícios (2 de 2)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20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20"/>
          <p:cNvSpPr/>
          <p:nvPr/>
        </p:nvSpPr>
        <p:spPr>
          <a:xfrm>
            <a:off x="548640" y="1463040"/>
            <a:ext cx="9418320" cy="1554480"/>
          </a:xfrm>
          <a:prstGeom prst="roundRect">
            <a:avLst>
              <a:gd fmla="val 4706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0"/>
          <p:cNvSpPr/>
          <p:nvPr/>
        </p:nvSpPr>
        <p:spPr>
          <a:xfrm>
            <a:off x="694944" y="1545336"/>
            <a:ext cx="9125712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Exercício 3 — Cardinalidade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Livro pode ser emprestado no máximo 1 vez por Empréstimo em aberto, mas pode nunca ter sido emprestado. Empréstimo sempre se refere a exatamente 1 livro. Defina a cardinalidade dos dois lados.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548640" y="3154680"/>
            <a:ext cx="9418320" cy="1554480"/>
          </a:xfrm>
          <a:prstGeom prst="roundRect">
            <a:avLst>
              <a:gd fmla="val 4706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694944" y="3236976"/>
            <a:ext cx="9125712" cy="138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Exercício 4 — Entidade fraca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Escola cadastra Turmas e, dentro delas, Aulas (aula 1, 2, 3...). O número da aula só faz sentido dentro de uma turma. Qual entidade é fraca? Justifique.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548640" y="4846320"/>
            <a:ext cx="9418320" cy="1417320"/>
          </a:xfrm>
          <a:prstGeom prst="roundRect">
            <a:avLst>
              <a:gd fmla="val 5161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694944" y="4928616"/>
            <a:ext cx="9125712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Exercício 5 — Generalização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Clínica: toda Pessoa é Paciente ou Funcionário, nunca as duas, nunca nenhuma. Classifique quanto à cobertura e à exclusividade.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1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452" name="Google Shape;4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1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Gabarito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21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" name="Google Shape;456;p21"/>
          <p:cNvSpPr/>
          <p:nvPr/>
        </p:nvSpPr>
        <p:spPr>
          <a:xfrm>
            <a:off x="548640" y="1371600"/>
            <a:ext cx="94183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1 — Entidade: Carro. Chave primária: placa (é o único atributo garantidamente único).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2 — Nome completo: composto. Telefones de contato: multivalorado.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3 — Livro: (0,1). Empréstimo: (1,1).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4 — Aula é a entidade fraca: depende da Turma para existir e ser identificada.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C2C2A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5 — Generalização total (toda Pessoa é uma das duas) e disjunta (nunca as duas ao mesmo tempo).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2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463" name="Google Shape;4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2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2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Exercícios— desenhe você mesmo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p22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22"/>
          <p:cNvSpPr/>
          <p:nvPr/>
        </p:nvSpPr>
        <p:spPr>
          <a:xfrm>
            <a:off x="548640" y="1737360"/>
            <a:ext cx="9418320" cy="2011680"/>
          </a:xfrm>
          <a:prstGeom prst="roundRect">
            <a:avLst>
              <a:gd fmla="val 3636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2"/>
          <p:cNvSpPr/>
          <p:nvPr/>
        </p:nvSpPr>
        <p:spPr>
          <a:xfrm>
            <a:off x="694944" y="1819656"/>
            <a:ext cx="9125712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Biblioteca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biblioteca possui vários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livros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Cada livro possui título, ISBN, ano de publicação e editora.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biblioteca possui também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podem realizar empréstimos de livros.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aluno pode realizar vários empréstimos ao longo do tempo, mas cada empréstimo pertence a apenas um aluno.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livro pode ser emprestado várias vezes ao longo do tempo, porém cada empréstimo registra apenas um livro.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o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Conceitual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sistema.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Identifique: As entidades; Os atributos de cada entidade; A chave primária de cada entidade; Os relacionamentos;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cardinalidade de cada relacionamento.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2"/>
          <p:cNvSpPr/>
          <p:nvPr/>
        </p:nvSpPr>
        <p:spPr>
          <a:xfrm>
            <a:off x="548640" y="3931920"/>
            <a:ext cx="9418320" cy="2194560"/>
          </a:xfrm>
          <a:prstGeom prst="roundRect">
            <a:avLst>
              <a:gd fmla="val 3333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694944" y="4014216"/>
            <a:ext cx="9125712" cy="202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Clínica Médica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clínica possui vários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médicos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vários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pacientes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médico possui CRM, nome, telefone e especialidade.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paciente possui CPF, nome, data de nascimento, telefone e endereço.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médico pode atender vários pacientes e um paciente pode ser atendido por vários médicos.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atendimento deve registrar a data, o horário e a descrição do atendimento.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o Modelo Conceitual identificando: Entidades; Atributos; Chaves primárias; Relacionamentos; Cardinalidades.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3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477" name="Google Shape;4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3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Exercícios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23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23"/>
          <p:cNvSpPr/>
          <p:nvPr/>
        </p:nvSpPr>
        <p:spPr>
          <a:xfrm>
            <a:off x="548640" y="1554480"/>
            <a:ext cx="9418320" cy="4919472"/>
          </a:xfrm>
          <a:prstGeom prst="roundRect">
            <a:avLst>
              <a:gd fmla="val 3478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3"/>
          <p:cNvSpPr/>
          <p:nvPr/>
        </p:nvSpPr>
        <p:spPr>
          <a:xfrm>
            <a:off x="694944" y="1774579"/>
            <a:ext cx="9125712" cy="4589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Loja Virtual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loja virtual possui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produtos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cliente possui código, nome, CPF, e-mail e telefone.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produto possui código, nome, descrição, preço e quantidade em estoque.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cliente pode realizar vários pedidos.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pedido pertence a apenas um cliente.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pedido pode possuir vários produtos e um produto pode aparecer em vários pedidos.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cada produto dentro de um pedido, é necessário registrar a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quantidade comprada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o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preço do produto naquele momento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o Modelo Conceitual identificando: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Chaves primárias;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Cardinalidades.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489" name="Google Shape;4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4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Exercícios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24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p24"/>
          <p:cNvSpPr/>
          <p:nvPr/>
        </p:nvSpPr>
        <p:spPr>
          <a:xfrm>
            <a:off x="548640" y="1554480"/>
            <a:ext cx="9418320" cy="4919472"/>
          </a:xfrm>
          <a:prstGeom prst="roundRect">
            <a:avLst>
              <a:gd fmla="val 3478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694944" y="1774579"/>
            <a:ext cx="9125712" cy="4589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Universidade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universidade possui vários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curso possui código, nome e duração.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curso possui várias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disciplinas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disciplina pode fazer parte de vários cursos.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universidade possui vários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professores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professor pode ministrar várias disciplinas e uma disciplina pode ser ministrada por diferentes professores.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podem estar matriculados em um curso.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aluno pode realizar várias matrículas em disciplinas.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matrícula deve registrar o semestre, a data da matrícula e a nota final.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o Modelo Conceitual identificando: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Chaves primárias;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Cardinalidades;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Relacionamentos 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Atributos pertencentes aos relacionamentos.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5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501" name="Google Shape;5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5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5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Exercícios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25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25"/>
          <p:cNvSpPr/>
          <p:nvPr/>
        </p:nvSpPr>
        <p:spPr>
          <a:xfrm>
            <a:off x="184709" y="182880"/>
            <a:ext cx="9782251" cy="6291072"/>
          </a:xfrm>
          <a:prstGeom prst="roundRect">
            <a:avLst>
              <a:gd fmla="val 3478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369416" y="571788"/>
            <a:ext cx="9826144" cy="5783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Hotel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hotel possui vários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quartos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quarto possui um número, andar, capacidade e valor da diária.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quarto pertence a um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quarto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Solteiro;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Duplo;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Triplo;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Suíte.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hóspede pode realizar várias reservas.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reserva possui data de entrada, data de saída e quantidade de hóspedes.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reserva pode incluir vários hóspedes.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hóspede pode participar de várias reservas.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Situação especial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quarto possui um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histórico de manutenção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manutenção só pode ser identificada considerando o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quarto ao qual ela pertence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o número da manutenção.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exemplo: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Quarto 101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Manutenção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Manutenção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Manutenção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Quarto 102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Manutenção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Manutenção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número da manutenção sozinho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identifica uma manutenção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pois o número 1 pode existir para vários quartos.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6"/>
          <p:cNvSpPr/>
          <p:nvPr/>
        </p:nvSpPr>
        <p:spPr>
          <a:xfrm>
            <a:off x="10532059" y="0"/>
            <a:ext cx="1657807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513" name="Google Shape;51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6"/>
          <p:cNvSpPr/>
          <p:nvPr/>
        </p:nvSpPr>
        <p:spPr>
          <a:xfrm>
            <a:off x="969264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502920" y="38404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Exercícios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26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26"/>
          <p:cNvSpPr/>
          <p:nvPr/>
        </p:nvSpPr>
        <p:spPr>
          <a:xfrm>
            <a:off x="166421" y="224028"/>
            <a:ext cx="9782251" cy="6291072"/>
          </a:xfrm>
          <a:prstGeom prst="roundRect">
            <a:avLst>
              <a:gd fmla="val 3478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6"/>
          <p:cNvSpPr/>
          <p:nvPr/>
        </p:nvSpPr>
        <p:spPr>
          <a:xfrm>
            <a:off x="369416" y="571788"/>
            <a:ext cx="9826144" cy="5902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Exercícios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Tarefa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Crie o Modelo Conceitual identificando: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Chaves primárias;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Cardinalidades;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 fraca;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 parcial;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Relacionamento identificador.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Desafio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Identifique: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é a entidade fraca?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entidade é a entidade forte?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atributo funciona como chave parcial?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a chave da entidade fraca é formada?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é a cardinalidade entre quarto e manutenção?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3ddcfa7e5_0_0"/>
          <p:cNvSpPr/>
          <p:nvPr/>
        </p:nvSpPr>
        <p:spPr>
          <a:xfrm>
            <a:off x="10532059" y="0"/>
            <a:ext cx="1657800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525" name="Google Shape;525;g3f3ddcfa7e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g3f3ddcfa7e5_0_0"/>
          <p:cNvSpPr/>
          <p:nvPr/>
        </p:nvSpPr>
        <p:spPr>
          <a:xfrm>
            <a:off x="9692640" y="635508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3ddcfa7e5_0_0"/>
          <p:cNvSpPr/>
          <p:nvPr/>
        </p:nvSpPr>
        <p:spPr>
          <a:xfrm>
            <a:off x="502920" y="384048"/>
            <a:ext cx="9692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Exercícios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g3f3ddcfa7e5_0_0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9" name="Google Shape;529;g3f3ddcfa7e5_0_0"/>
          <p:cNvSpPr/>
          <p:nvPr/>
        </p:nvSpPr>
        <p:spPr>
          <a:xfrm>
            <a:off x="166421" y="224028"/>
            <a:ext cx="9782400" cy="6291000"/>
          </a:xfrm>
          <a:prstGeom prst="roundRect">
            <a:avLst>
              <a:gd fmla="val 3478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g3f3ddcfa7e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426" y="146825"/>
            <a:ext cx="4865425" cy="6286500"/>
          </a:xfrm>
          <a:prstGeom prst="rect">
            <a:avLst/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1" name="Google Shape;531;g3f3ddcfa7e5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0613" y="516775"/>
            <a:ext cx="4648200" cy="5705475"/>
          </a:xfrm>
          <a:prstGeom prst="rect">
            <a:avLst/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3ddcfa7e5_0_13"/>
          <p:cNvSpPr/>
          <p:nvPr/>
        </p:nvSpPr>
        <p:spPr>
          <a:xfrm>
            <a:off x="10532059" y="0"/>
            <a:ext cx="1657800" cy="6858000"/>
          </a:xfrm>
          <a:prstGeom prst="rect">
            <a:avLst/>
          </a:prstGeom>
          <a:solidFill>
            <a:srgbClr val="91C6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logo.png" id="538" name="Google Shape;538;g3f3ddcfa7e5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7586" y="5599786"/>
            <a:ext cx="99578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f3ddcfa7e5_0_13"/>
          <p:cNvSpPr/>
          <p:nvPr/>
        </p:nvSpPr>
        <p:spPr>
          <a:xfrm>
            <a:off x="9692640" y="635508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f3ddcfa7e5_0_13"/>
          <p:cNvSpPr/>
          <p:nvPr/>
        </p:nvSpPr>
        <p:spPr>
          <a:xfrm>
            <a:off x="502920" y="384048"/>
            <a:ext cx="9692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Exercícios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1" name="Google Shape;541;g3f3ddcfa7e5_0_13"/>
          <p:cNvCxnSpPr/>
          <p:nvPr/>
        </p:nvCxnSpPr>
        <p:spPr>
          <a:xfrm>
            <a:off x="521208" y="117043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D3D1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g3f3ddcfa7e5_0_13"/>
          <p:cNvSpPr/>
          <p:nvPr/>
        </p:nvSpPr>
        <p:spPr>
          <a:xfrm>
            <a:off x="166421" y="224028"/>
            <a:ext cx="9782400" cy="6291000"/>
          </a:xfrm>
          <a:prstGeom prst="roundRect">
            <a:avLst>
              <a:gd fmla="val 3478" name="adj"/>
            </a:avLst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 primária de MANUTENÇÃO = número do quarto  +  número_manutenção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(vem do Quarto)      (chave parcial)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f3ddcfa7e5_0_13"/>
          <p:cNvSpPr txBox="1"/>
          <p:nvPr/>
        </p:nvSpPr>
        <p:spPr>
          <a:xfrm>
            <a:off x="821250" y="164250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entidade fraca  →  não tem chave primária própria completa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→  o atributo que ela tem (que ajuda a identificar) é, por definição, chave PARCIAL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2026-08-10T13:29:09Z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2026-08-10T14:28:43Z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9bb3521b-fcb3-4efd-a14e-0f41960ebd36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