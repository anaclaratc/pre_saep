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6858000" cx="12192000"/>
  <p:notesSz cx="10002500" cy="68770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65">
          <p15:clr>
            <a:srgbClr val="A4A3A4"/>
          </p15:clr>
        </p15:guide>
        <p15:guide id="2" pos="211">
          <p15:clr>
            <a:srgbClr val="A4A3A4"/>
          </p15:clr>
        </p15:guide>
        <p15:guide id="3" orient="horz" pos="1814">
          <p15:clr>
            <a:srgbClr val="A4A3A4"/>
          </p15:clr>
        </p15:guide>
        <p15:guide id="4" pos="3725">
          <p15:clr>
            <a:srgbClr val="A4A3A4"/>
          </p15:clr>
        </p15:guide>
      </p15:sldGuideLst>
    </p:ext>
    <p:ext uri="{2D200454-40CA-4A62-9FC3-DE9A4176ACB9}">
      <p15:notesGuideLst>
        <p15:guide id="1" orient="horz" pos="2138">
          <p15:clr>
            <a:srgbClr val="000000"/>
          </p15:clr>
        </p15:guide>
        <p15:guide id="2" pos="3175">
          <p15:clr>
            <a:srgbClr val="000000"/>
          </p15:clr>
        </p15:guide>
      </p15:notesGuideLst>
    </p:ext>
    <p:ext uri="GoogleSlidesCustomDataVersion2">
      <go:slidesCustomData xmlns:go="http://customooxmlschemas.google.com/" r:id="rId36" roundtripDataSignature="AMtx7mjlJPV3rNMMktanrr4pFj6dkD3Z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A886E18-4E8B-43D8-82EB-8B1C6A0CDE77}">
  <a:tblStyle styleId="{0A886E18-4E8B-43D8-82EB-8B1C6A0CDE7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65" orient="horz"/>
        <p:guide pos="211"/>
        <p:guide pos="1814" orient="horz"/>
        <p:guide pos="3725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38" orient="horz"/>
        <p:guide pos="3175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1"/>
            <a:ext cx="4334563" cy="345047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25" spcFirstLastPara="1" rIns="96425" wrap="square" tIns="482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65960" y="1"/>
            <a:ext cx="4334563" cy="345047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25" spcFirstLastPara="1" rIns="96425" wrap="square" tIns="482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938463" y="860425"/>
            <a:ext cx="4125912" cy="2320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000284" y="3309580"/>
            <a:ext cx="8002270" cy="2707839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25" spcFirstLastPara="1" rIns="96425" wrap="square" tIns="482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32004"/>
            <a:ext cx="4334563" cy="345046"/>
          </a:xfrm>
          <a:prstGeom prst="rect">
            <a:avLst/>
          </a:prstGeom>
          <a:noFill/>
          <a:ln>
            <a:noFill/>
          </a:ln>
        </p:spPr>
        <p:txBody>
          <a:bodyPr anchorCtr="0" anchor="b" bIns="48200" lIns="96425" spcFirstLastPara="1" rIns="96425" wrap="square" tIns="482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65960" y="6532004"/>
            <a:ext cx="4334563" cy="345046"/>
          </a:xfrm>
          <a:prstGeom prst="rect">
            <a:avLst/>
          </a:prstGeom>
          <a:noFill/>
          <a:ln>
            <a:noFill/>
          </a:ln>
        </p:spPr>
        <p:txBody>
          <a:bodyPr anchorCtr="0" anchor="b" bIns="48200" lIns="96425" spcFirstLastPara="1" rIns="96425" wrap="square" tIns="48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1000284" y="3309580"/>
            <a:ext cx="8002270" cy="2707839"/>
          </a:xfrm>
          <a:prstGeom prst="rect">
            <a:avLst/>
          </a:prstGeom>
        </p:spPr>
        <p:txBody>
          <a:bodyPr anchorCtr="0" anchor="t" bIns="48200" lIns="96425" spcFirstLastPara="1" rIns="96425" wrap="square" tIns="48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2938463" y="860425"/>
            <a:ext cx="4125912" cy="2320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/>
          <p:nvPr>
            <p:ph idx="2" type="sldImg"/>
          </p:nvPr>
        </p:nvSpPr>
        <p:spPr>
          <a:xfrm>
            <a:off x="2938463" y="860425"/>
            <a:ext cx="4125912" cy="2320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1000284" y="3309580"/>
            <a:ext cx="8002270" cy="2707839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25" spcFirstLastPara="1" rIns="96425" wrap="square" tIns="48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Após ter sido selecionado do comitê de aprovação chega o momento de planejá-lo cuidadosamente.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Em grandes organizações ou em grandes projetos, normalmente a função de gerenciamento de projeto e realizado por profissional especialista (Gerente de projeto)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Em organizações menores ou projetos menores, o analista de sistemas pode desempenhar essa função</a:t>
            </a:r>
            <a:endParaRPr/>
          </a:p>
        </p:txBody>
      </p:sp>
      <p:sp>
        <p:nvSpPr>
          <p:cNvPr id="103" name="Google Shape;103;p2:notes"/>
          <p:cNvSpPr txBox="1"/>
          <p:nvPr>
            <p:ph idx="12" type="sldNum"/>
          </p:nvPr>
        </p:nvSpPr>
        <p:spPr>
          <a:xfrm>
            <a:off x="5665960" y="6532004"/>
            <a:ext cx="4334563" cy="345046"/>
          </a:xfrm>
          <a:prstGeom prst="rect">
            <a:avLst/>
          </a:prstGeom>
          <a:noFill/>
          <a:ln>
            <a:noFill/>
          </a:ln>
        </p:spPr>
        <p:txBody>
          <a:bodyPr anchorCtr="0" anchor="b" bIns="48200" lIns="96425" spcFirstLastPara="1" rIns="96425" wrap="square" tIns="48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1000284" y="3309580"/>
            <a:ext cx="8002270" cy="2707839"/>
          </a:xfrm>
          <a:prstGeom prst="rect">
            <a:avLst/>
          </a:prstGeom>
        </p:spPr>
        <p:txBody>
          <a:bodyPr anchorCtr="0" anchor="t" bIns="48200" lIns="96425" spcFirstLastPara="1" rIns="96425" wrap="square" tIns="48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2938463" y="860425"/>
            <a:ext cx="4125912" cy="2320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/>
          <p:nvPr>
            <p:ph idx="2" type="sldImg"/>
          </p:nvPr>
        </p:nvSpPr>
        <p:spPr>
          <a:xfrm>
            <a:off x="2938463" y="860425"/>
            <a:ext cx="4125912" cy="2320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1000284" y="3309580"/>
            <a:ext cx="8002270" cy="2707839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25" spcFirstLastPara="1" rIns="96425" wrap="square" tIns="48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 acordo com CVDS ele fornece a base para o processo de desenvolvimento de um sistema.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Existem muitas metodologias diferentes para o desenvolvimento de sistemas.  Elas variam em termos de progressão que variam em termos de progressão por meio das fases do CVDS.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Algumas metodologias são padrões formais utilizadas por diversos órgãos governamentais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Outras foram desenvolvidas por empresas de consultorias para serem vendidas aos clientes.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Diversas organizações possuem  suas metodologias internas próprias, que foram refinadas durantes anos </a:t>
            </a:r>
            <a:endParaRPr/>
          </a:p>
        </p:txBody>
      </p:sp>
      <p:sp>
        <p:nvSpPr>
          <p:cNvPr id="121" name="Google Shape;121;p4:notes"/>
          <p:cNvSpPr txBox="1"/>
          <p:nvPr>
            <p:ph idx="12" type="sldNum"/>
          </p:nvPr>
        </p:nvSpPr>
        <p:spPr>
          <a:xfrm>
            <a:off x="5665960" y="6532004"/>
            <a:ext cx="4334563" cy="345046"/>
          </a:xfrm>
          <a:prstGeom prst="rect">
            <a:avLst/>
          </a:prstGeom>
          <a:noFill/>
          <a:ln>
            <a:noFill/>
          </a:ln>
        </p:spPr>
        <p:txBody>
          <a:bodyPr anchorCtr="0" anchor="b" bIns="48200" lIns="96425" spcFirstLastPara="1" rIns="96425" wrap="square" tIns="48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/>
          <p:nvPr>
            <p:ph idx="2" type="sldImg"/>
          </p:nvPr>
        </p:nvSpPr>
        <p:spPr>
          <a:xfrm>
            <a:off x="2938463" y="860425"/>
            <a:ext cx="4125912" cy="2320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1000284" y="3309580"/>
            <a:ext cx="8002270" cy="2707839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25" spcFirstLastPara="1" rIns="96425" wrap="square" tIns="48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 o desenvolvimento em cascata o analista e os usuários prosseguem sequencialmente de uma fase para outra. Em geral os produtos importantes de cada fase são volumosos e apresentados ao comitê de aprovação e ao patrocinador do projeto para aprovação a medida que o projeto passa de uma fase para outra.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Vantagens: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Identificar os requisitos muito antes da programação iniciar,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Limitar as modificações a medida que projeto prossegue.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Desvantagens: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projeto tem que ser completamente especificação antes da programação começar.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Um grande lapso de tempo entre a conclusão da proposta do sistema.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 txBox="1"/>
          <p:nvPr>
            <p:ph idx="12" type="sldNum"/>
          </p:nvPr>
        </p:nvSpPr>
        <p:spPr>
          <a:xfrm>
            <a:off x="5665960" y="6532004"/>
            <a:ext cx="4334563" cy="345046"/>
          </a:xfrm>
          <a:prstGeom prst="rect">
            <a:avLst/>
          </a:prstGeom>
          <a:noFill/>
          <a:ln>
            <a:noFill/>
          </a:ln>
        </p:spPr>
        <p:txBody>
          <a:bodyPr anchorCtr="0" anchor="b" bIns="48200" lIns="96425" spcFirstLastPara="1" rIns="96425" wrap="square" tIns="48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2938463" y="860425"/>
            <a:ext cx="4125912" cy="2320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1000284" y="3309580"/>
            <a:ext cx="8002270" cy="2707839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25" spcFirstLastPara="1" rIns="96425" wrap="square" tIns="48200">
            <a:noAutofit/>
          </a:bodyPr>
          <a:lstStyle/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/>
              <a:t>Variante do  desenvolvimento em cascata  A metodologia de desenvolvimento paralelo surgiram para lidar com o longo período de tempo do desenvolvimento.</a:t>
            </a:r>
            <a:endParaRPr/>
          </a:p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/>
              <a:t>Ao invés de ser realizado sequencialmente o design e a implementação , é criado um design geral, ou uma concepção, do sistema como um todo.</a:t>
            </a:r>
            <a:endParaRPr/>
          </a:p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/>
              <a:t>Em seguida o sistema é dividido em uma série de subprojetos distintos que podem ser concebidos e implementados em paralelo.</a:t>
            </a:r>
            <a:endParaRPr/>
          </a:p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/>
              <a:t>Após todos os subprojetos sejam concluídos, há a integração final das partes e sistema é distribuído.</a:t>
            </a:r>
            <a:endParaRPr/>
          </a:p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pt-BR"/>
              <a:t>Problemas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/>
              <a:t>Volumoso produtos resultantes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/>
              <a:t>Se os subprojetos não forem completamente  independentes, as decisões de design tomadas em um subprojeto poderão afetar outro dificultando a integração.</a:t>
            </a:r>
            <a:endParaRPr/>
          </a:p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 txBox="1"/>
          <p:nvPr>
            <p:ph idx="12" type="sldNum"/>
          </p:nvPr>
        </p:nvSpPr>
        <p:spPr>
          <a:xfrm>
            <a:off x="5665960" y="6532004"/>
            <a:ext cx="4334563" cy="345046"/>
          </a:xfrm>
          <a:prstGeom prst="rect">
            <a:avLst/>
          </a:prstGeom>
          <a:noFill/>
          <a:ln>
            <a:noFill/>
          </a:ln>
        </p:spPr>
        <p:txBody>
          <a:bodyPr anchorCtr="0" anchor="b" bIns="48200" lIns="96425" spcFirstLastPara="1" rIns="96425" wrap="square" tIns="48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/>
          <p:nvPr>
            <p:ph idx="2" type="sldImg"/>
          </p:nvPr>
        </p:nvSpPr>
        <p:spPr>
          <a:xfrm>
            <a:off x="2938463" y="860425"/>
            <a:ext cx="4125912" cy="2320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1000284" y="3309580"/>
            <a:ext cx="8002270" cy="2707839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25" spcFirstLastPara="1" rIns="96425" wrap="square" tIns="48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 V é outra variante do desenvolvimento em cascata que dedica mais a atenção aos testes.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processo de desenvolvimento  prossegue para baixo na linha inclinada do lado esquerdo do V definindo os requisitos e determinando componentes do sistema.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Na base do V, é escrito o código.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Na linha inclinada do lado direito do modelo são realizados os testes dos componentes, os testes  da unidade e finalmente os testes de aceitação.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modelo V é simples e direto e melhora a qualidade total dos sistemas por intermédio de sua ênfase no desenvolvimento precoce dos planos de testes.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Ainda é problemático pois a natureza não apropriada para ambientes empresariais.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 txBox="1"/>
          <p:nvPr>
            <p:ph idx="12" type="sldNum"/>
          </p:nvPr>
        </p:nvSpPr>
        <p:spPr>
          <a:xfrm>
            <a:off x="5665960" y="6532004"/>
            <a:ext cx="4334563" cy="345046"/>
          </a:xfrm>
          <a:prstGeom prst="rect">
            <a:avLst/>
          </a:prstGeom>
          <a:noFill/>
          <a:ln>
            <a:noFill/>
          </a:ln>
        </p:spPr>
        <p:txBody>
          <a:bodyPr anchorCtr="0" anchor="b" bIns="48200" lIns="96425" spcFirstLastPara="1" rIns="96425" wrap="square" tIns="48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/>
          <p:nvPr>
            <p:ph idx="2" type="sldImg"/>
          </p:nvPr>
        </p:nvSpPr>
        <p:spPr>
          <a:xfrm>
            <a:off x="2938463" y="860425"/>
            <a:ext cx="4125912" cy="2320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8:notes"/>
          <p:cNvSpPr txBox="1"/>
          <p:nvPr>
            <p:ph idx="1" type="body"/>
          </p:nvPr>
        </p:nvSpPr>
        <p:spPr>
          <a:xfrm>
            <a:off x="1000284" y="3309580"/>
            <a:ext cx="8002270" cy="2707839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25" spcFirstLastPara="1" rIns="96425" wrap="square" tIns="48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RAD – (Rapid apllication development) – ou desenvolvimento rápido de aplicação -  metodologia que emergiu em resposta às deficiências do desenvolvimento em cascata e de suas variantes.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RAD incorpora técnicas especiais e ferramentas computacionais para acelerar as fases de análise, projeto e implementação.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Utiliza ferramentas CASE (Computer-aided software engineering)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As sessões JAD (Joint application design)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As linguagens de programação de quarta geração (Visual Basic, Visual Net)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Apesar de aumentar a velocidade e melhorar a qualidade dos sistemas também pode introduzir problemas na gestão das expectativas dos usuários.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Aumentar os requisitos  durante o projeto. Mudança de escopo ou aumento de recursos.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:notes"/>
          <p:cNvSpPr txBox="1"/>
          <p:nvPr>
            <p:ph idx="12" type="sldNum"/>
          </p:nvPr>
        </p:nvSpPr>
        <p:spPr>
          <a:xfrm>
            <a:off x="5665960" y="6532004"/>
            <a:ext cx="4334563" cy="345046"/>
          </a:xfrm>
          <a:prstGeom prst="rect">
            <a:avLst/>
          </a:prstGeom>
          <a:noFill/>
          <a:ln>
            <a:noFill/>
          </a:ln>
        </p:spPr>
        <p:txBody>
          <a:bodyPr anchorCtr="0" anchor="b" bIns="48200" lIns="96425" spcFirstLastPara="1" rIns="96425" wrap="square" tIns="48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/>
          <p:nvPr>
            <p:ph idx="2" type="sldImg"/>
          </p:nvPr>
        </p:nvSpPr>
        <p:spPr>
          <a:xfrm>
            <a:off x="2938463" y="860425"/>
            <a:ext cx="4125912" cy="2320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9:notes"/>
          <p:cNvSpPr txBox="1"/>
          <p:nvPr>
            <p:ph idx="1" type="body"/>
          </p:nvPr>
        </p:nvSpPr>
        <p:spPr>
          <a:xfrm>
            <a:off x="1000284" y="3309580"/>
            <a:ext cx="8002270" cy="2707839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25" spcFirstLastPara="1" rIns="96425" wrap="square" tIns="48200">
            <a:noAutofit/>
          </a:bodyPr>
          <a:lstStyle/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/>
              <a:t>Executa simultaneamente as fases de análise, projeto (design) e implementação afim de desenvolver rápido uma versão simplificada do sistema e distribuir aos usuários para avaliação e retorno de informações.</a:t>
            </a:r>
            <a:endParaRPr/>
          </a:p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/>
              <a:t>O protótipo do sistema é uma versão rápida e malfeita que fornece quantidade mínima de recursos. </a:t>
            </a:r>
            <a:endParaRPr/>
          </a:p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/>
              <a:t>De acordo com as reações e os comentários dos usuários, os desenvolvedores analisam novamente, projetam mais uma vez e voltam a implementar o segundo protótipo.</a:t>
            </a:r>
            <a:endParaRPr/>
          </a:p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/>
              <a:t>Esse ciclo permanece até que os usuários, analistas e patrocinadores  já fornece as funcionalidades suficientes para ser instalado.</a:t>
            </a:r>
            <a:endParaRPr/>
          </a:p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/>
              <a:t>Essa abordagem é muito útil quando os usuários têm  dificuldades de expressar os requisitos do sistema.</a:t>
            </a:r>
            <a:endParaRPr/>
          </a:p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/>
              <a:t>Desvantagens: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/>
              <a:t>Falta de análise cuidadosa e metódica antes da tomada de decisão quanto ao design e à implementação.</a:t>
            </a:r>
            <a:endParaRPr/>
          </a:p>
          <a:p>
            <a:pPr indent="-171450" lvl="1" marL="6286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/>
              <a:t>Os protótipos podem apresentar algumas limitações fundamentais de design por falta de entendimento no requisitos do sistema nas fases iniciais do projeto.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9" name="Google Shape;279;p9:notes"/>
          <p:cNvSpPr txBox="1"/>
          <p:nvPr>
            <p:ph idx="12" type="sldNum"/>
          </p:nvPr>
        </p:nvSpPr>
        <p:spPr>
          <a:xfrm>
            <a:off x="5665960" y="6532004"/>
            <a:ext cx="4334563" cy="345046"/>
          </a:xfrm>
          <a:prstGeom prst="rect">
            <a:avLst/>
          </a:prstGeom>
          <a:noFill/>
          <a:ln>
            <a:noFill/>
          </a:ln>
        </p:spPr>
        <p:txBody>
          <a:bodyPr anchorCtr="0" anchor="b" bIns="48200" lIns="96425" spcFirstLastPara="1" rIns="96425" wrap="square" tIns="48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:notes"/>
          <p:cNvSpPr/>
          <p:nvPr>
            <p:ph idx="2" type="sldImg"/>
          </p:nvPr>
        </p:nvSpPr>
        <p:spPr>
          <a:xfrm>
            <a:off x="2938463" y="860425"/>
            <a:ext cx="4125912" cy="2320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1:notes"/>
          <p:cNvSpPr txBox="1"/>
          <p:nvPr>
            <p:ph idx="1" type="body"/>
          </p:nvPr>
        </p:nvSpPr>
        <p:spPr>
          <a:xfrm>
            <a:off x="1000284" y="3309580"/>
            <a:ext cx="8002270" cy="2707839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25" spcFirstLastPara="1" rIns="96425" wrap="square" tIns="48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:notes"/>
          <p:cNvSpPr txBox="1"/>
          <p:nvPr>
            <p:ph idx="12" type="sldNum"/>
          </p:nvPr>
        </p:nvSpPr>
        <p:spPr>
          <a:xfrm>
            <a:off x="5665960" y="6532004"/>
            <a:ext cx="4334563" cy="345046"/>
          </a:xfrm>
          <a:prstGeom prst="rect">
            <a:avLst/>
          </a:prstGeom>
          <a:noFill/>
          <a:ln>
            <a:noFill/>
          </a:ln>
        </p:spPr>
        <p:txBody>
          <a:bodyPr anchorCtr="0" anchor="b" bIns="48200" lIns="96425" spcFirstLastPara="1" rIns="96425" wrap="square" tIns="48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3:notes"/>
          <p:cNvSpPr txBox="1"/>
          <p:nvPr>
            <p:ph idx="1" type="body"/>
          </p:nvPr>
        </p:nvSpPr>
        <p:spPr>
          <a:xfrm>
            <a:off x="1000284" y="3309580"/>
            <a:ext cx="8002270" cy="2707839"/>
          </a:xfrm>
          <a:prstGeom prst="rect">
            <a:avLst/>
          </a:prstGeom>
        </p:spPr>
        <p:txBody>
          <a:bodyPr anchorCtr="0" anchor="t" bIns="48200" lIns="96425" spcFirstLastPara="1" rIns="96425" wrap="square" tIns="48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:notes"/>
          <p:cNvSpPr/>
          <p:nvPr>
            <p:ph idx="2" type="sldImg"/>
          </p:nvPr>
        </p:nvSpPr>
        <p:spPr>
          <a:xfrm>
            <a:off x="2938463" y="860425"/>
            <a:ext cx="4125912" cy="2320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4:notes"/>
          <p:cNvSpPr txBox="1"/>
          <p:nvPr>
            <p:ph idx="1" type="body"/>
          </p:nvPr>
        </p:nvSpPr>
        <p:spPr>
          <a:xfrm>
            <a:off x="1000284" y="3309580"/>
            <a:ext cx="8002270" cy="2707839"/>
          </a:xfrm>
          <a:prstGeom prst="rect">
            <a:avLst/>
          </a:prstGeom>
        </p:spPr>
        <p:txBody>
          <a:bodyPr anchorCtr="0" anchor="t" bIns="48200" lIns="96425" spcFirstLastPara="1" rIns="96425" wrap="square" tIns="48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4:notes"/>
          <p:cNvSpPr/>
          <p:nvPr>
            <p:ph idx="2" type="sldImg"/>
          </p:nvPr>
        </p:nvSpPr>
        <p:spPr>
          <a:xfrm>
            <a:off x="2938463" y="860425"/>
            <a:ext cx="4125912" cy="2320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5:notes"/>
          <p:cNvSpPr txBox="1"/>
          <p:nvPr>
            <p:ph idx="1" type="body"/>
          </p:nvPr>
        </p:nvSpPr>
        <p:spPr>
          <a:xfrm>
            <a:off x="1000284" y="3309580"/>
            <a:ext cx="8002270" cy="2707839"/>
          </a:xfrm>
          <a:prstGeom prst="rect">
            <a:avLst/>
          </a:prstGeom>
        </p:spPr>
        <p:txBody>
          <a:bodyPr anchorCtr="0" anchor="t" bIns="48200" lIns="96425" spcFirstLastPara="1" rIns="96425" wrap="square" tIns="48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5:notes"/>
          <p:cNvSpPr/>
          <p:nvPr>
            <p:ph idx="2" type="sldImg"/>
          </p:nvPr>
        </p:nvSpPr>
        <p:spPr>
          <a:xfrm>
            <a:off x="2938463" y="860425"/>
            <a:ext cx="4125912" cy="2320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6:notes"/>
          <p:cNvSpPr/>
          <p:nvPr>
            <p:ph idx="2" type="sldImg"/>
          </p:nvPr>
        </p:nvSpPr>
        <p:spPr>
          <a:xfrm>
            <a:off x="2938463" y="860425"/>
            <a:ext cx="4125912" cy="2320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16:notes"/>
          <p:cNvSpPr txBox="1"/>
          <p:nvPr>
            <p:ph idx="1" type="body"/>
          </p:nvPr>
        </p:nvSpPr>
        <p:spPr>
          <a:xfrm>
            <a:off x="1000284" y="3309580"/>
            <a:ext cx="8002270" cy="2707839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25" spcFirstLastPara="1" rIns="96425" wrap="square" tIns="48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6:notes"/>
          <p:cNvSpPr txBox="1"/>
          <p:nvPr>
            <p:ph idx="12" type="sldNum"/>
          </p:nvPr>
        </p:nvSpPr>
        <p:spPr>
          <a:xfrm>
            <a:off x="5665960" y="6532004"/>
            <a:ext cx="4334563" cy="345046"/>
          </a:xfrm>
          <a:prstGeom prst="rect">
            <a:avLst/>
          </a:prstGeom>
          <a:noFill/>
          <a:ln>
            <a:noFill/>
          </a:ln>
        </p:spPr>
        <p:txBody>
          <a:bodyPr anchorCtr="0" anchor="b" bIns="48200" lIns="96425" spcFirstLastPara="1" rIns="96425" wrap="square" tIns="48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7:notes"/>
          <p:cNvSpPr/>
          <p:nvPr>
            <p:ph idx="2" type="sldImg"/>
          </p:nvPr>
        </p:nvSpPr>
        <p:spPr>
          <a:xfrm>
            <a:off x="2938463" y="860425"/>
            <a:ext cx="4125912" cy="2320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7:notes"/>
          <p:cNvSpPr txBox="1"/>
          <p:nvPr>
            <p:ph idx="1" type="body"/>
          </p:nvPr>
        </p:nvSpPr>
        <p:spPr>
          <a:xfrm>
            <a:off x="1000284" y="3309580"/>
            <a:ext cx="8002270" cy="2707839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25" spcFirstLastPara="1" rIns="96425" wrap="square" tIns="48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UP (Processo Unificado)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Surgiu como um processo popular para o desenvolvimento de software visando à construção de sistemas orientados a objetos  (o RUP – Rational Unified Process é um refinamento do PU).</a:t>
            </a:r>
            <a:br>
              <a:rPr b="0" i="0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341" name="Google Shape;341;p17:notes"/>
          <p:cNvSpPr txBox="1"/>
          <p:nvPr>
            <p:ph idx="12" type="sldNum"/>
          </p:nvPr>
        </p:nvSpPr>
        <p:spPr>
          <a:xfrm>
            <a:off x="5665960" y="6532004"/>
            <a:ext cx="4334563" cy="345046"/>
          </a:xfrm>
          <a:prstGeom prst="rect">
            <a:avLst/>
          </a:prstGeom>
          <a:noFill/>
          <a:ln>
            <a:noFill/>
          </a:ln>
        </p:spPr>
        <p:txBody>
          <a:bodyPr anchorCtr="0" anchor="b" bIns="48200" lIns="96425" spcFirstLastPara="1" rIns="96425" wrap="square" tIns="48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8:notes"/>
          <p:cNvSpPr/>
          <p:nvPr>
            <p:ph idx="2" type="sldImg"/>
          </p:nvPr>
        </p:nvSpPr>
        <p:spPr>
          <a:xfrm>
            <a:off x="2938463" y="860425"/>
            <a:ext cx="4125912" cy="2320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18:notes"/>
          <p:cNvSpPr txBox="1"/>
          <p:nvPr>
            <p:ph idx="1" type="body"/>
          </p:nvPr>
        </p:nvSpPr>
        <p:spPr>
          <a:xfrm>
            <a:off x="1000284" y="3309580"/>
            <a:ext cx="8002270" cy="2707839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25" spcFirstLastPara="1" rIns="96425" wrap="square" tIns="48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>
                <a:solidFill>
                  <a:srgbClr val="FF0000"/>
                </a:solidFill>
              </a:rPr>
              <a:t>O Analista pode não entender as verdadeiras necessidades de negócio do usuário. É importante a participação do usuário na descrição dos requisitos.</a:t>
            </a:r>
            <a:endParaRPr b="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>
                <a:solidFill>
                  <a:srgbClr val="FF0000"/>
                </a:solidFill>
              </a:rPr>
              <a:t>Deve-se ter em mente também que os requisitos inevitavelmente  mudam durante o desenvolvimento do projeto.</a:t>
            </a:r>
            <a:endParaRPr b="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solidFill>
                <a:srgbClr val="FF0000"/>
              </a:solidFill>
            </a:endParaRPr>
          </a:p>
        </p:txBody>
      </p:sp>
      <p:sp>
        <p:nvSpPr>
          <p:cNvPr id="350" name="Google Shape;350;p18:notes"/>
          <p:cNvSpPr txBox="1"/>
          <p:nvPr>
            <p:ph idx="12" type="sldNum"/>
          </p:nvPr>
        </p:nvSpPr>
        <p:spPr>
          <a:xfrm>
            <a:off x="5665960" y="6532004"/>
            <a:ext cx="4334563" cy="345046"/>
          </a:xfrm>
          <a:prstGeom prst="rect">
            <a:avLst/>
          </a:prstGeom>
          <a:noFill/>
          <a:ln>
            <a:noFill/>
          </a:ln>
        </p:spPr>
        <p:txBody>
          <a:bodyPr anchorCtr="0" anchor="b" bIns="48200" lIns="96425" spcFirstLastPara="1" rIns="96425" wrap="square" tIns="48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9:notes"/>
          <p:cNvSpPr txBox="1"/>
          <p:nvPr>
            <p:ph idx="1" type="body"/>
          </p:nvPr>
        </p:nvSpPr>
        <p:spPr>
          <a:xfrm>
            <a:off x="1000284" y="3309580"/>
            <a:ext cx="8002270" cy="2707839"/>
          </a:xfrm>
          <a:prstGeom prst="rect">
            <a:avLst/>
          </a:prstGeom>
        </p:spPr>
        <p:txBody>
          <a:bodyPr anchorCtr="0" anchor="t" bIns="48200" lIns="96425" spcFirstLastPara="1" rIns="96425" wrap="square" tIns="48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9:notes"/>
          <p:cNvSpPr/>
          <p:nvPr>
            <p:ph idx="2" type="sldImg"/>
          </p:nvPr>
        </p:nvSpPr>
        <p:spPr>
          <a:xfrm>
            <a:off x="2938463" y="860425"/>
            <a:ext cx="4125912" cy="2320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0:notes"/>
          <p:cNvSpPr txBox="1"/>
          <p:nvPr>
            <p:ph idx="1" type="body"/>
          </p:nvPr>
        </p:nvSpPr>
        <p:spPr>
          <a:xfrm>
            <a:off x="1000284" y="3309580"/>
            <a:ext cx="8002270" cy="2707839"/>
          </a:xfrm>
          <a:prstGeom prst="rect">
            <a:avLst/>
          </a:prstGeom>
        </p:spPr>
        <p:txBody>
          <a:bodyPr anchorCtr="0" anchor="t" bIns="48200" lIns="96425" spcFirstLastPara="1" rIns="96425" wrap="square" tIns="48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0:notes"/>
          <p:cNvSpPr/>
          <p:nvPr>
            <p:ph idx="2" type="sldImg"/>
          </p:nvPr>
        </p:nvSpPr>
        <p:spPr>
          <a:xfrm>
            <a:off x="2938463" y="860425"/>
            <a:ext cx="4125912" cy="2320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1:notes"/>
          <p:cNvSpPr txBox="1"/>
          <p:nvPr>
            <p:ph idx="1" type="body"/>
          </p:nvPr>
        </p:nvSpPr>
        <p:spPr>
          <a:xfrm>
            <a:off x="1000284" y="3309580"/>
            <a:ext cx="8002270" cy="2707839"/>
          </a:xfrm>
          <a:prstGeom prst="rect">
            <a:avLst/>
          </a:prstGeom>
        </p:spPr>
        <p:txBody>
          <a:bodyPr anchorCtr="0" anchor="t" bIns="48200" lIns="96425" spcFirstLastPara="1" rIns="96425" wrap="square" tIns="48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1:notes"/>
          <p:cNvSpPr/>
          <p:nvPr>
            <p:ph idx="2" type="sldImg"/>
          </p:nvPr>
        </p:nvSpPr>
        <p:spPr>
          <a:xfrm>
            <a:off x="2938463" y="860425"/>
            <a:ext cx="4125912" cy="2320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2:notes"/>
          <p:cNvSpPr/>
          <p:nvPr>
            <p:ph idx="2" type="sldImg"/>
          </p:nvPr>
        </p:nvSpPr>
        <p:spPr>
          <a:xfrm>
            <a:off x="2938463" y="860425"/>
            <a:ext cx="4125912" cy="2320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22:notes"/>
          <p:cNvSpPr txBox="1"/>
          <p:nvPr>
            <p:ph idx="1" type="body"/>
          </p:nvPr>
        </p:nvSpPr>
        <p:spPr>
          <a:xfrm>
            <a:off x="1000284" y="3309580"/>
            <a:ext cx="8002270" cy="2707839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25" spcFirstLastPara="1" rIns="96425" wrap="square" tIns="48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2:notes"/>
          <p:cNvSpPr txBox="1"/>
          <p:nvPr>
            <p:ph idx="12" type="sldNum"/>
          </p:nvPr>
        </p:nvSpPr>
        <p:spPr>
          <a:xfrm>
            <a:off x="5665960" y="6532004"/>
            <a:ext cx="4334563" cy="345046"/>
          </a:xfrm>
          <a:prstGeom prst="rect">
            <a:avLst/>
          </a:prstGeom>
          <a:noFill/>
          <a:ln>
            <a:noFill/>
          </a:ln>
        </p:spPr>
        <p:txBody>
          <a:bodyPr anchorCtr="0" anchor="b" bIns="48200" lIns="96425" spcFirstLastPara="1" rIns="96425" wrap="square" tIns="48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3:notes"/>
          <p:cNvSpPr txBox="1"/>
          <p:nvPr>
            <p:ph idx="1" type="body"/>
          </p:nvPr>
        </p:nvSpPr>
        <p:spPr>
          <a:xfrm>
            <a:off x="1000284" y="3309580"/>
            <a:ext cx="8002270" cy="2707839"/>
          </a:xfrm>
          <a:prstGeom prst="rect">
            <a:avLst/>
          </a:prstGeom>
        </p:spPr>
        <p:txBody>
          <a:bodyPr anchorCtr="0" anchor="t" bIns="48200" lIns="96425" spcFirstLastPara="1" rIns="96425" wrap="square" tIns="48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3:notes"/>
          <p:cNvSpPr/>
          <p:nvPr>
            <p:ph idx="2" type="sldImg"/>
          </p:nvPr>
        </p:nvSpPr>
        <p:spPr>
          <a:xfrm>
            <a:off x="2938463" y="860425"/>
            <a:ext cx="4125912" cy="2320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4:notes"/>
          <p:cNvSpPr/>
          <p:nvPr>
            <p:ph idx="2" type="sldImg"/>
          </p:nvPr>
        </p:nvSpPr>
        <p:spPr>
          <a:xfrm>
            <a:off x="2938463" y="860425"/>
            <a:ext cx="4125912" cy="2320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24:notes"/>
          <p:cNvSpPr txBox="1"/>
          <p:nvPr>
            <p:ph idx="1" type="body"/>
          </p:nvPr>
        </p:nvSpPr>
        <p:spPr>
          <a:xfrm>
            <a:off x="1000284" y="3309580"/>
            <a:ext cx="8002270" cy="2707839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25" spcFirstLastPara="1" rIns="96425" wrap="square" tIns="48200">
            <a:noAutofit/>
          </a:bodyPr>
          <a:lstStyle/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/>
              <a:t>Deve ser criada uma agenda de entrevistas relacionando que será entrevista.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/>
              <a:t>Os patrocinadores do projeto podem ajudar na escolha e indicação.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/>
              <a:t>Pessoas de vários níveis da empresa deverão fazer parte da entrevista. Cada um tem uma visão diferente.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/>
              <a:t>Envolver os principais usuário é uma boa pratica.</a:t>
            </a:r>
            <a:endParaRPr/>
          </a:p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/>
              <a:t>Criar fichas de entrevistados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/>
              <a:t>Perguntas da entrevista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/>
              <a:t>Preparação para a entrevista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/>
              <a:t>Condução da entrevista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/>
              <a:t>Acompanhamento após a entrevista</a:t>
            </a:r>
            <a:endParaRPr/>
          </a:p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4:notes"/>
          <p:cNvSpPr txBox="1"/>
          <p:nvPr>
            <p:ph idx="12" type="sldNum"/>
          </p:nvPr>
        </p:nvSpPr>
        <p:spPr>
          <a:xfrm>
            <a:off x="5665960" y="6532004"/>
            <a:ext cx="4334563" cy="345046"/>
          </a:xfrm>
          <a:prstGeom prst="rect">
            <a:avLst/>
          </a:prstGeom>
          <a:noFill/>
          <a:ln>
            <a:noFill/>
          </a:ln>
        </p:spPr>
        <p:txBody>
          <a:bodyPr anchorCtr="0" anchor="b" bIns="48200" lIns="96425" spcFirstLastPara="1" rIns="96425" wrap="square" tIns="48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5:notes"/>
          <p:cNvSpPr/>
          <p:nvPr>
            <p:ph idx="2" type="sldImg"/>
          </p:nvPr>
        </p:nvSpPr>
        <p:spPr>
          <a:xfrm>
            <a:off x="2938463" y="860425"/>
            <a:ext cx="4125912" cy="2320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25:notes"/>
          <p:cNvSpPr txBox="1"/>
          <p:nvPr>
            <p:ph idx="1" type="body"/>
          </p:nvPr>
        </p:nvSpPr>
        <p:spPr>
          <a:xfrm>
            <a:off x="1000284" y="3309580"/>
            <a:ext cx="8002270" cy="2707839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25" spcFirstLastPara="1" rIns="96425" wrap="square" tIns="48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5:notes"/>
          <p:cNvSpPr txBox="1"/>
          <p:nvPr>
            <p:ph idx="12" type="sldNum"/>
          </p:nvPr>
        </p:nvSpPr>
        <p:spPr>
          <a:xfrm>
            <a:off x="5665960" y="6532004"/>
            <a:ext cx="4334563" cy="345046"/>
          </a:xfrm>
          <a:prstGeom prst="rect">
            <a:avLst/>
          </a:prstGeom>
          <a:noFill/>
          <a:ln>
            <a:noFill/>
          </a:ln>
        </p:spPr>
        <p:txBody>
          <a:bodyPr anchorCtr="0" anchor="b" bIns="48200" lIns="96425" spcFirstLastPara="1" rIns="96425" wrap="square" tIns="48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6:notes"/>
          <p:cNvSpPr/>
          <p:nvPr>
            <p:ph idx="2" type="sldImg"/>
          </p:nvPr>
        </p:nvSpPr>
        <p:spPr>
          <a:xfrm>
            <a:off x="2938463" y="860425"/>
            <a:ext cx="4125912" cy="2320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26:notes"/>
          <p:cNvSpPr txBox="1"/>
          <p:nvPr>
            <p:ph idx="1" type="body"/>
          </p:nvPr>
        </p:nvSpPr>
        <p:spPr>
          <a:xfrm>
            <a:off x="1000284" y="3309580"/>
            <a:ext cx="8002270" cy="2707839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25" spcFirstLastPara="1" rIns="96425" wrap="square" tIns="48200">
            <a:noAutofit/>
          </a:bodyPr>
          <a:lstStyle/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6:notes"/>
          <p:cNvSpPr txBox="1"/>
          <p:nvPr>
            <p:ph idx="12" type="sldNum"/>
          </p:nvPr>
        </p:nvSpPr>
        <p:spPr>
          <a:xfrm>
            <a:off x="5665960" y="6532004"/>
            <a:ext cx="4334563" cy="345046"/>
          </a:xfrm>
          <a:prstGeom prst="rect">
            <a:avLst/>
          </a:prstGeom>
          <a:noFill/>
          <a:ln>
            <a:noFill/>
          </a:ln>
        </p:spPr>
        <p:txBody>
          <a:bodyPr anchorCtr="0" anchor="b" bIns="48200" lIns="96425" spcFirstLastPara="1" rIns="96425" wrap="square" tIns="48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7:notes"/>
          <p:cNvSpPr/>
          <p:nvPr>
            <p:ph idx="2" type="sldImg"/>
          </p:nvPr>
        </p:nvSpPr>
        <p:spPr>
          <a:xfrm>
            <a:off x="2938463" y="860425"/>
            <a:ext cx="4125912" cy="2320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27:notes"/>
          <p:cNvSpPr txBox="1"/>
          <p:nvPr>
            <p:ph idx="1" type="body"/>
          </p:nvPr>
        </p:nvSpPr>
        <p:spPr>
          <a:xfrm>
            <a:off x="1000284" y="3309580"/>
            <a:ext cx="8002270" cy="2707839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25" spcFirstLastPara="1" rIns="96425" wrap="square" tIns="48200">
            <a:noAutofit/>
          </a:bodyPr>
          <a:lstStyle/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7:notes"/>
          <p:cNvSpPr txBox="1"/>
          <p:nvPr>
            <p:ph idx="12" type="sldNum"/>
          </p:nvPr>
        </p:nvSpPr>
        <p:spPr>
          <a:xfrm>
            <a:off x="5665960" y="6532004"/>
            <a:ext cx="4334563" cy="345046"/>
          </a:xfrm>
          <a:prstGeom prst="rect">
            <a:avLst/>
          </a:prstGeom>
          <a:noFill/>
          <a:ln>
            <a:noFill/>
          </a:ln>
        </p:spPr>
        <p:txBody>
          <a:bodyPr anchorCtr="0" anchor="b" bIns="48200" lIns="96425" spcFirstLastPara="1" rIns="96425" wrap="square" tIns="48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8:notes"/>
          <p:cNvSpPr/>
          <p:nvPr>
            <p:ph idx="2" type="sldImg"/>
          </p:nvPr>
        </p:nvSpPr>
        <p:spPr>
          <a:xfrm>
            <a:off x="2938463" y="860425"/>
            <a:ext cx="4125912" cy="2320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28:notes"/>
          <p:cNvSpPr txBox="1"/>
          <p:nvPr>
            <p:ph idx="1" type="body"/>
          </p:nvPr>
        </p:nvSpPr>
        <p:spPr>
          <a:xfrm>
            <a:off x="1000284" y="3309580"/>
            <a:ext cx="8002270" cy="2707839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25" spcFirstLastPara="1" rIns="96425" wrap="square" tIns="48200">
            <a:noAutofit/>
          </a:bodyPr>
          <a:lstStyle/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8:notes"/>
          <p:cNvSpPr txBox="1"/>
          <p:nvPr>
            <p:ph idx="12" type="sldNum"/>
          </p:nvPr>
        </p:nvSpPr>
        <p:spPr>
          <a:xfrm>
            <a:off x="5665960" y="6532004"/>
            <a:ext cx="4334563" cy="345046"/>
          </a:xfrm>
          <a:prstGeom prst="rect">
            <a:avLst/>
          </a:prstGeom>
          <a:noFill/>
          <a:ln>
            <a:noFill/>
          </a:ln>
        </p:spPr>
        <p:txBody>
          <a:bodyPr anchorCtr="0" anchor="b" bIns="48200" lIns="96425" spcFirstLastPara="1" rIns="96425" wrap="square" tIns="48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9:notes"/>
          <p:cNvSpPr txBox="1"/>
          <p:nvPr>
            <p:ph idx="1" type="body"/>
          </p:nvPr>
        </p:nvSpPr>
        <p:spPr>
          <a:xfrm>
            <a:off x="1000284" y="3309580"/>
            <a:ext cx="8002270" cy="2707839"/>
          </a:xfrm>
          <a:prstGeom prst="rect">
            <a:avLst/>
          </a:prstGeom>
        </p:spPr>
        <p:txBody>
          <a:bodyPr anchorCtr="0" anchor="t" bIns="48200" lIns="96425" spcFirstLastPara="1" rIns="96425" wrap="square" tIns="48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9:notes"/>
          <p:cNvSpPr/>
          <p:nvPr>
            <p:ph idx="2" type="sldImg"/>
          </p:nvPr>
        </p:nvSpPr>
        <p:spPr>
          <a:xfrm>
            <a:off x="2938463" y="860425"/>
            <a:ext cx="4125912" cy="2320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0:notes"/>
          <p:cNvSpPr txBox="1"/>
          <p:nvPr>
            <p:ph idx="1" type="body"/>
          </p:nvPr>
        </p:nvSpPr>
        <p:spPr>
          <a:xfrm>
            <a:off x="1000284" y="3309580"/>
            <a:ext cx="8002270" cy="2707839"/>
          </a:xfrm>
          <a:prstGeom prst="rect">
            <a:avLst/>
          </a:prstGeom>
        </p:spPr>
        <p:txBody>
          <a:bodyPr anchorCtr="0" anchor="t" bIns="48200" lIns="96425" spcFirstLastPara="1" rIns="96425" wrap="square" tIns="48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0:notes"/>
          <p:cNvSpPr/>
          <p:nvPr>
            <p:ph idx="2" type="sldImg"/>
          </p:nvPr>
        </p:nvSpPr>
        <p:spPr>
          <a:xfrm>
            <a:off x="2938463" y="860425"/>
            <a:ext cx="4125912" cy="2320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1:notes"/>
          <p:cNvSpPr txBox="1"/>
          <p:nvPr>
            <p:ph idx="1" type="body"/>
          </p:nvPr>
        </p:nvSpPr>
        <p:spPr>
          <a:xfrm>
            <a:off x="1000284" y="3309580"/>
            <a:ext cx="8002270" cy="2707839"/>
          </a:xfrm>
          <a:prstGeom prst="rect">
            <a:avLst/>
          </a:prstGeom>
        </p:spPr>
        <p:txBody>
          <a:bodyPr anchorCtr="0" anchor="t" bIns="48200" lIns="96425" spcFirstLastPara="1" rIns="96425" wrap="square" tIns="48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1:notes"/>
          <p:cNvSpPr/>
          <p:nvPr>
            <p:ph idx="2" type="sldImg"/>
          </p:nvPr>
        </p:nvSpPr>
        <p:spPr>
          <a:xfrm>
            <a:off x="2938463" y="860425"/>
            <a:ext cx="4125912" cy="2320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20" name="Google Shape;20;p33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3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3"/>
          <p:cNvSpPr txBox="1"/>
          <p:nvPr>
            <p:ph idx="12" type="sldNum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4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4"/>
          <p:cNvSpPr txBox="1"/>
          <p:nvPr>
            <p:ph idx="12" type="sldNum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ítulo e conteúdo">
  <p:cSld name="2_Título e conteúdo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5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2" type="sldNum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6"/>
          <p:cNvSpPr txBox="1"/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6"/>
          <p:cNvSpPr txBox="1"/>
          <p:nvPr>
            <p:ph idx="1" type="body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36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6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6"/>
          <p:cNvSpPr txBox="1"/>
          <p:nvPr>
            <p:ph idx="12" type="sldNum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7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7"/>
          <p:cNvSpPr txBox="1"/>
          <p:nvPr>
            <p:ph idx="12" type="sldNum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8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9pPr>
          </a:lstStyle>
          <a:p/>
        </p:txBody>
      </p:sp>
      <p:sp>
        <p:nvSpPr>
          <p:cNvPr id="48" name="Google Shape;48;p38"/>
          <p:cNvSpPr txBox="1"/>
          <p:nvPr>
            <p:ph idx="2" type="body"/>
          </p:nvPr>
        </p:nvSpPr>
        <p:spPr>
          <a:xfrm>
            <a:off x="839789" y="2505076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38"/>
          <p:cNvSpPr txBox="1"/>
          <p:nvPr>
            <p:ph idx="3" type="body"/>
          </p:nvPr>
        </p:nvSpPr>
        <p:spPr>
          <a:xfrm>
            <a:off x="6172202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9pPr>
          </a:lstStyle>
          <a:p/>
        </p:txBody>
      </p:sp>
      <p:sp>
        <p:nvSpPr>
          <p:cNvPr id="50" name="Google Shape;50;p38"/>
          <p:cNvSpPr txBox="1"/>
          <p:nvPr>
            <p:ph idx="4" type="body"/>
          </p:nvPr>
        </p:nvSpPr>
        <p:spPr>
          <a:xfrm>
            <a:off x="6172202" y="2505076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9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9"/>
          <p:cNvSpPr txBox="1"/>
          <p:nvPr>
            <p:ph idx="12" type="sldNum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0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0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0"/>
          <p:cNvSpPr txBox="1"/>
          <p:nvPr>
            <p:ph idx="12" type="sldNum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1"/>
          <p:cNvSpPr txBox="1"/>
          <p:nvPr>
            <p:ph idx="1" type="body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4pPr>
            <a:lvl5pPr indent="-3619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5pPr>
            <a:lvl6pPr indent="-3619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66" name="Google Shape;66;p4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41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1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1"/>
          <p:cNvSpPr txBox="1"/>
          <p:nvPr>
            <p:ph idx="12" type="sldNum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2"/>
          <p:cNvSpPr/>
          <p:nvPr>
            <p:ph idx="2" type="pic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4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42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2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2" type="sldNum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43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3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3"/>
          <p:cNvSpPr txBox="1"/>
          <p:nvPr>
            <p:ph idx="12" type="sldNum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4"/>
          <p:cNvSpPr txBox="1"/>
          <p:nvPr>
            <p:ph type="title"/>
          </p:nvPr>
        </p:nvSpPr>
        <p:spPr>
          <a:xfrm rot="5400000">
            <a:off x="7133433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4"/>
          <p:cNvSpPr txBox="1"/>
          <p:nvPr>
            <p:ph idx="1" type="body"/>
          </p:nvPr>
        </p:nvSpPr>
        <p:spPr>
          <a:xfrm rot="5400000">
            <a:off x="1799433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44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4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4"/>
          <p:cNvSpPr txBox="1"/>
          <p:nvPr>
            <p:ph idx="12" type="sldNum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e conteúdo">
  <p:cSld name="1_Título e conteúdo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ítulo e conteúdo">
  <p:cSld name="3_Título e conteúdo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19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2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J-188-12 Template Sala de Aula4.jpg" id="15" name="Google Shape;15;p3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2"/>
          <p:cNvSpPr/>
          <p:nvPr/>
        </p:nvSpPr>
        <p:spPr>
          <a:xfrm>
            <a:off x="298548" y="328855"/>
            <a:ext cx="328634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Análise e Projeto de Sistemas</a:t>
            </a:r>
            <a:endParaRPr b="1" i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www.manifestoagil.com.br/" TargetMode="External"/><Relationship Id="rId4" Type="http://schemas.openxmlformats.org/officeDocument/2006/relationships/hyperlink" Target="http://www.desenvolvimentoagil.com.br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Criando plano do Projeto</a:t>
            </a:r>
            <a:endParaRPr/>
          </a:p>
        </p:txBody>
      </p:sp>
      <p:sp>
        <p:nvSpPr>
          <p:cNvPr id="96" name="Google Shape;96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Opções de Metodologia de Projeto</a:t>
            </a:r>
            <a:endParaRPr/>
          </a:p>
        </p:txBody>
      </p:sp>
      <p:sp>
        <p:nvSpPr>
          <p:cNvPr id="97" name="Google Shape;97;p1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Professor: Jorge Roberto Nogueira</a:t>
            </a:r>
            <a:endParaRPr/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3300" y="4079875"/>
            <a:ext cx="2286000" cy="200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 p14:dur="2500">
    <p:checker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>
            <p:ph idx="1" type="body"/>
          </p:nvPr>
        </p:nvSpPr>
        <p:spPr>
          <a:xfrm>
            <a:off x="660400" y="2095500"/>
            <a:ext cx="10515600" cy="307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Criando o plano do projeto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Gerente de projeto toma várias decisões a respeito do projeto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pt-BR"/>
              <a:t>Melhor metodologia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pt-BR"/>
              <a:t>Desenvolver um plano de trabalho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pt-BR"/>
              <a:t>Escolher os integrantes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pt-BR"/>
              <a:t>Estabelecer mecanismos para coordenar e controlar o projeto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06" name="Google Shape;106;p2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Professor: Jorge Roberto Nogueira</a:t>
            </a:r>
            <a:endParaRPr/>
          </a:p>
        </p:txBody>
      </p:sp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900" y="1509711"/>
            <a:ext cx="1231900" cy="1077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Analise e Projeto de Sistemas</a:t>
            </a:r>
            <a:endParaRPr/>
          </a:p>
        </p:txBody>
      </p:sp>
      <p:sp>
        <p:nvSpPr>
          <p:cNvPr id="114" name="Google Shape;114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sz="2800"/>
              <a:t>Opções de Metodologia de Projeto</a:t>
            </a:r>
            <a:endParaRPr sz="28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Professor: Jorge Roberto Nogueira</a:t>
            </a:r>
            <a:endParaRPr/>
          </a:p>
        </p:txBody>
      </p:sp>
      <p:pic>
        <p:nvPicPr>
          <p:cNvPr id="117" name="Google Shape;1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1099" y="4224514"/>
            <a:ext cx="2159521" cy="2081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00">
        <p:fade thruBlk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/>
              <a:t>Opções de metodologia de projeto</a:t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Existem muitas metodologias diferentes para o desenvolvimento de sistemas.  Elas variam de acordo com a progressão das fases do projeto.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Algumas metodologias são padrões formais utilizadas por diversos órgãos governamentais 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Outras foram desenvolvidas por empresas de consultorias para serem vendidas aos clientes.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Diversas organizações possuem  suas metodologias internas próprias, que foram refinadas durantes anos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Professor: Jorge Roberto Nogueira</a:t>
            </a:r>
            <a:endParaRPr/>
          </a:p>
        </p:txBody>
      </p:sp>
      <p:pic>
        <p:nvPicPr>
          <p:cNvPr id="126" name="Google Shape;1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94900" y="1257654"/>
            <a:ext cx="889520" cy="857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300" y="5881688"/>
            <a:ext cx="572020" cy="551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Professor: Jorge Roberto Nogueira</a:t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893135" y="1546568"/>
            <a:ext cx="1371600" cy="616689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Planejamento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2545472" y="2343999"/>
            <a:ext cx="1371600" cy="616689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Análise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229893" y="3210272"/>
            <a:ext cx="1371600" cy="616689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Projeto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850144" y="4120264"/>
            <a:ext cx="1529223" cy="616689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Implementação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7915495" y="5220687"/>
            <a:ext cx="1790700" cy="76758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C647"/>
              </a:gs>
              <a:gs pos="50000">
                <a:srgbClr val="FFC600"/>
              </a:gs>
              <a:gs pos="100000">
                <a:srgbClr val="E3B400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637662" y="6027479"/>
            <a:ext cx="29840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Desenvolvimento em Cascata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5"/>
          <p:cNvCxnSpPr>
            <a:stCxn id="135" idx="3"/>
            <a:endCxn id="136" idx="0"/>
          </p:cNvCxnSpPr>
          <p:nvPr/>
        </p:nvCxnSpPr>
        <p:spPr>
          <a:xfrm>
            <a:off x="2264735" y="1854913"/>
            <a:ext cx="966600" cy="489000"/>
          </a:xfrm>
          <a:prstGeom prst="curved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42" name="Google Shape;142;p5"/>
          <p:cNvCxnSpPr>
            <a:endCxn id="137" idx="0"/>
          </p:cNvCxnSpPr>
          <p:nvPr/>
        </p:nvCxnSpPr>
        <p:spPr>
          <a:xfrm>
            <a:off x="3916993" y="2652272"/>
            <a:ext cx="998700" cy="558000"/>
          </a:xfrm>
          <a:prstGeom prst="curved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43" name="Google Shape;143;p5"/>
          <p:cNvCxnSpPr/>
          <p:nvPr/>
        </p:nvCxnSpPr>
        <p:spPr>
          <a:xfrm>
            <a:off x="5601493" y="3530251"/>
            <a:ext cx="998700" cy="558000"/>
          </a:xfrm>
          <a:prstGeom prst="curved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44" name="Google Shape;144;p5"/>
          <p:cNvCxnSpPr>
            <a:stCxn id="138" idx="3"/>
            <a:endCxn id="139" idx="0"/>
          </p:cNvCxnSpPr>
          <p:nvPr/>
        </p:nvCxnSpPr>
        <p:spPr>
          <a:xfrm>
            <a:off x="7379367" y="4428609"/>
            <a:ext cx="1431600" cy="792000"/>
          </a:xfrm>
          <a:prstGeom prst="bentConnector2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45" name="Google Shape;145;p5"/>
          <p:cNvCxnSpPr>
            <a:stCxn id="136" idx="1"/>
          </p:cNvCxnSpPr>
          <p:nvPr/>
        </p:nvCxnSpPr>
        <p:spPr>
          <a:xfrm rot="10800000">
            <a:off x="2129672" y="2163344"/>
            <a:ext cx="415800" cy="489000"/>
          </a:xfrm>
          <a:prstGeom prst="curvedConnector2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med" w="med" type="stealth"/>
          </a:ln>
        </p:spPr>
      </p:cxnSp>
      <p:cxnSp>
        <p:nvCxnSpPr>
          <p:cNvPr id="146" name="Google Shape;146;p5"/>
          <p:cNvCxnSpPr/>
          <p:nvPr/>
        </p:nvCxnSpPr>
        <p:spPr>
          <a:xfrm flipH="1" rot="5400000">
            <a:off x="3724808" y="3059681"/>
            <a:ext cx="489000" cy="415800"/>
          </a:xfrm>
          <a:prstGeom prst="curvedConnector2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med" w="med" type="stealth"/>
          </a:ln>
        </p:spPr>
      </p:cxnSp>
      <p:cxnSp>
        <p:nvCxnSpPr>
          <p:cNvPr id="147" name="Google Shape;147;p5"/>
          <p:cNvCxnSpPr/>
          <p:nvPr/>
        </p:nvCxnSpPr>
        <p:spPr>
          <a:xfrm flipH="1" rot="5400000">
            <a:off x="5356976" y="3912407"/>
            <a:ext cx="489000" cy="415800"/>
          </a:xfrm>
          <a:prstGeom prst="curvedConnector2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med" w="med" type="stealth"/>
          </a:ln>
        </p:spPr>
      </p:cxnSp>
      <p:sp>
        <p:nvSpPr>
          <p:cNvPr id="148" name="Google Shape;148;p5"/>
          <p:cNvSpPr txBox="1"/>
          <p:nvPr/>
        </p:nvSpPr>
        <p:spPr>
          <a:xfrm>
            <a:off x="4109449" y="1361902"/>
            <a:ext cx="580094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Desenvolvimento em Cascata</a:t>
            </a:r>
            <a:endParaRPr b="1" sz="36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Professor: Jorge Roberto Nogueira</a:t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893135" y="1265273"/>
            <a:ext cx="1371600" cy="616689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Planejamento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1011021" y="2559787"/>
            <a:ext cx="1371600" cy="616689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Análise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170408" y="2999330"/>
            <a:ext cx="1371600" cy="616689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Projeto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284381" y="5220687"/>
            <a:ext cx="1371600" cy="616689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Implementação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708215" y="1528660"/>
            <a:ext cx="1371600" cy="616689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Projeto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6"/>
          <p:cNvCxnSpPr>
            <a:stCxn id="156" idx="3"/>
            <a:endCxn id="157" idx="0"/>
          </p:cNvCxnSpPr>
          <p:nvPr/>
        </p:nvCxnSpPr>
        <p:spPr>
          <a:xfrm flipH="1">
            <a:off x="1696835" y="1573618"/>
            <a:ext cx="567900" cy="986100"/>
          </a:xfrm>
          <a:prstGeom prst="curvedConnector4">
            <a:avLst>
              <a:gd fmla="val -40254" name="adj1"/>
              <a:gd fmla="val 65638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62" name="Google Shape;162;p6"/>
          <p:cNvCxnSpPr>
            <a:stCxn id="163" idx="3"/>
            <a:endCxn id="158" idx="1"/>
          </p:cNvCxnSpPr>
          <p:nvPr/>
        </p:nvCxnSpPr>
        <p:spPr>
          <a:xfrm flipH="1" rot="10800000">
            <a:off x="2382621" y="3307782"/>
            <a:ext cx="2787900" cy="991500"/>
          </a:xfrm>
          <a:prstGeom prst="curvedConnector3">
            <a:avLst>
              <a:gd fmla="val 56903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64" name="Google Shape;164;p6"/>
          <p:cNvCxnSpPr>
            <a:stCxn id="163" idx="3"/>
            <a:endCxn id="160" idx="1"/>
          </p:cNvCxnSpPr>
          <p:nvPr/>
        </p:nvCxnSpPr>
        <p:spPr>
          <a:xfrm flipH="1" rot="10800000">
            <a:off x="2382621" y="1836882"/>
            <a:ext cx="3325500" cy="2462400"/>
          </a:xfrm>
          <a:prstGeom prst="curvedConnector3">
            <a:avLst>
              <a:gd fmla="val 50001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63" name="Google Shape;163;p6"/>
          <p:cNvSpPr/>
          <p:nvPr/>
        </p:nvSpPr>
        <p:spPr>
          <a:xfrm>
            <a:off x="1011021" y="3990937"/>
            <a:ext cx="1371600" cy="616689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Projeto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6"/>
          <p:cNvCxnSpPr>
            <a:stCxn id="157" idx="2"/>
            <a:endCxn id="163" idx="0"/>
          </p:cNvCxnSpPr>
          <p:nvPr/>
        </p:nvCxnSpPr>
        <p:spPr>
          <a:xfrm>
            <a:off x="1696821" y="3176476"/>
            <a:ext cx="0" cy="814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66" name="Google Shape;166;p6"/>
          <p:cNvSpPr/>
          <p:nvPr/>
        </p:nvSpPr>
        <p:spPr>
          <a:xfrm>
            <a:off x="2999035" y="5220686"/>
            <a:ext cx="1371600" cy="616689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Projeto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7362765" y="3130578"/>
            <a:ext cx="1371600" cy="616689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Implementação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8335271" y="1517796"/>
            <a:ext cx="1371600" cy="616689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Implementação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6"/>
          <p:cNvCxnSpPr>
            <a:stCxn id="160" idx="3"/>
            <a:endCxn id="168" idx="0"/>
          </p:cNvCxnSpPr>
          <p:nvPr/>
        </p:nvCxnSpPr>
        <p:spPr>
          <a:xfrm flipH="1" rot="10800000">
            <a:off x="7079815" y="1517804"/>
            <a:ext cx="1941300" cy="319200"/>
          </a:xfrm>
          <a:prstGeom prst="curvedConnector4">
            <a:avLst>
              <a:gd fmla="val 32335" name="adj1"/>
              <a:gd fmla="val 17162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70" name="Google Shape;170;p6"/>
          <p:cNvSpPr/>
          <p:nvPr/>
        </p:nvSpPr>
        <p:spPr>
          <a:xfrm>
            <a:off x="10034056" y="4006976"/>
            <a:ext cx="1371600" cy="616689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Implementação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6"/>
          <p:cNvCxnSpPr>
            <a:stCxn id="166" idx="3"/>
            <a:endCxn id="159" idx="1"/>
          </p:cNvCxnSpPr>
          <p:nvPr/>
        </p:nvCxnSpPr>
        <p:spPr>
          <a:xfrm>
            <a:off x="4370635" y="5529031"/>
            <a:ext cx="913800" cy="6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72" name="Google Shape;172;p6"/>
          <p:cNvCxnSpPr>
            <a:stCxn id="159" idx="3"/>
            <a:endCxn id="170" idx="1"/>
          </p:cNvCxnSpPr>
          <p:nvPr/>
        </p:nvCxnSpPr>
        <p:spPr>
          <a:xfrm flipH="1" rot="10800000">
            <a:off x="6655981" y="4315232"/>
            <a:ext cx="3378000" cy="12138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73" name="Google Shape;173;p6"/>
          <p:cNvCxnSpPr>
            <a:stCxn id="158" idx="2"/>
            <a:endCxn id="167" idx="1"/>
          </p:cNvCxnSpPr>
          <p:nvPr/>
        </p:nvCxnSpPr>
        <p:spPr>
          <a:xfrm rot="-5400000">
            <a:off x="6521008" y="2774219"/>
            <a:ext cx="177000" cy="1506600"/>
          </a:xfrm>
          <a:prstGeom prst="curvedConnector4">
            <a:avLst>
              <a:gd fmla="val -129153" name="adj1"/>
              <a:gd fmla="val 72758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74" name="Google Shape;174;p6"/>
          <p:cNvCxnSpPr>
            <a:stCxn id="167" idx="3"/>
          </p:cNvCxnSpPr>
          <p:nvPr/>
        </p:nvCxnSpPr>
        <p:spPr>
          <a:xfrm>
            <a:off x="8734365" y="3438923"/>
            <a:ext cx="1371600" cy="733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75" name="Google Shape;175;p6"/>
          <p:cNvCxnSpPr>
            <a:stCxn id="168" idx="2"/>
            <a:endCxn id="170" idx="0"/>
          </p:cNvCxnSpPr>
          <p:nvPr/>
        </p:nvCxnSpPr>
        <p:spPr>
          <a:xfrm flipH="1" rot="-5400000">
            <a:off x="8934221" y="2221335"/>
            <a:ext cx="1872600" cy="16989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76" name="Google Shape;176;p6"/>
          <p:cNvSpPr/>
          <p:nvPr/>
        </p:nvSpPr>
        <p:spPr>
          <a:xfrm>
            <a:off x="9824506" y="5220687"/>
            <a:ext cx="1790700" cy="76758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C647"/>
              </a:gs>
              <a:gs pos="50000">
                <a:srgbClr val="FFC600"/>
              </a:gs>
              <a:gs pos="100000">
                <a:srgbClr val="E3B400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6"/>
          <p:cNvCxnSpPr>
            <a:stCxn id="170" idx="2"/>
            <a:endCxn id="176" idx="0"/>
          </p:cNvCxnSpPr>
          <p:nvPr/>
        </p:nvCxnSpPr>
        <p:spPr>
          <a:xfrm>
            <a:off x="10719856" y="4623665"/>
            <a:ext cx="0" cy="597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78" name="Google Shape;178;p6"/>
          <p:cNvCxnSpPr>
            <a:endCxn id="156" idx="1"/>
          </p:cNvCxnSpPr>
          <p:nvPr/>
        </p:nvCxnSpPr>
        <p:spPr>
          <a:xfrm flipH="1" rot="5400000">
            <a:off x="611285" y="1855468"/>
            <a:ext cx="986100" cy="422400"/>
          </a:xfrm>
          <a:prstGeom prst="curvedConnector4">
            <a:avLst>
              <a:gd fmla="val 34362" name="adj1"/>
              <a:gd fmla="val 154119" name="adj2"/>
            </a:avLst>
          </a:prstGeom>
          <a:noFill/>
          <a:ln cap="flat" cmpd="sng" w="19050">
            <a:solidFill>
              <a:srgbClr val="FF0000"/>
            </a:solidFill>
            <a:prstDash val="dash"/>
            <a:miter lim="800000"/>
            <a:headEnd len="sm" w="sm" type="none"/>
            <a:tailEnd len="med" w="med" type="stealth"/>
          </a:ln>
        </p:spPr>
      </p:cxnSp>
      <p:cxnSp>
        <p:nvCxnSpPr>
          <p:cNvPr id="179" name="Google Shape;179;p6"/>
          <p:cNvCxnSpPr>
            <a:endCxn id="157" idx="1"/>
          </p:cNvCxnSpPr>
          <p:nvPr/>
        </p:nvCxnSpPr>
        <p:spPr>
          <a:xfrm flipH="1" rot="5400000">
            <a:off x="593871" y="3285282"/>
            <a:ext cx="1138800" cy="304500"/>
          </a:xfrm>
          <a:prstGeom prst="curvedConnector4">
            <a:avLst>
              <a:gd fmla="val 36460" name="adj1"/>
              <a:gd fmla="val 175073" name="adj2"/>
            </a:avLst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med" w="med" type="stealth"/>
          </a:ln>
        </p:spPr>
      </p:cxnSp>
      <p:cxnSp>
        <p:nvCxnSpPr>
          <p:cNvPr id="180" name="Google Shape;180;p6"/>
          <p:cNvCxnSpPr>
            <a:stCxn id="163" idx="2"/>
            <a:endCxn id="166" idx="1"/>
          </p:cNvCxnSpPr>
          <p:nvPr/>
        </p:nvCxnSpPr>
        <p:spPr>
          <a:xfrm flipH="1" rot="-5400000">
            <a:off x="1887321" y="4417126"/>
            <a:ext cx="921300" cy="1302300"/>
          </a:xfrm>
          <a:prstGeom prst="curved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81" name="Google Shape;181;p6"/>
          <p:cNvSpPr/>
          <p:nvPr/>
        </p:nvSpPr>
        <p:spPr>
          <a:xfrm>
            <a:off x="2566737" y="4853886"/>
            <a:ext cx="5357176" cy="1350287"/>
          </a:xfrm>
          <a:prstGeom prst="ellipse">
            <a:avLst/>
          </a:prstGeom>
          <a:noFill/>
          <a:ln cap="flat" cmpd="sng" w="38100">
            <a:solidFill>
              <a:schemeClr val="accent6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6"/>
          <p:cNvCxnSpPr>
            <a:stCxn id="159" idx="0"/>
          </p:cNvCxnSpPr>
          <p:nvPr/>
        </p:nvCxnSpPr>
        <p:spPr>
          <a:xfrm rot="5400000">
            <a:off x="5128081" y="4463187"/>
            <a:ext cx="84600" cy="1599600"/>
          </a:xfrm>
          <a:prstGeom prst="curvedConnector4">
            <a:avLst>
              <a:gd fmla="val -270213" name="adj1"/>
              <a:gd fmla="val 71435" name="adj2"/>
            </a:avLst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med" w="med" type="stealth"/>
          </a:ln>
        </p:spPr>
      </p:cxnSp>
      <p:cxnSp>
        <p:nvCxnSpPr>
          <p:cNvPr id="183" name="Google Shape;183;p6"/>
          <p:cNvCxnSpPr/>
          <p:nvPr/>
        </p:nvCxnSpPr>
        <p:spPr>
          <a:xfrm rot="10800000">
            <a:off x="1980810" y="4752220"/>
            <a:ext cx="852000" cy="553200"/>
          </a:xfrm>
          <a:prstGeom prst="curvedConnector3">
            <a:avLst>
              <a:gd fmla="val 50002" name="adj1"/>
            </a:avLst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med" w="med" type="stealth"/>
          </a:ln>
        </p:spPr>
      </p:cxnSp>
      <p:sp>
        <p:nvSpPr>
          <p:cNvPr id="184" name="Google Shape;184;p6"/>
          <p:cNvSpPr txBox="1"/>
          <p:nvPr/>
        </p:nvSpPr>
        <p:spPr>
          <a:xfrm>
            <a:off x="4589703" y="4383030"/>
            <a:ext cx="1410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Subprojeto 3</a:t>
            </a:r>
            <a:endParaRPr b="1" sz="1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4370635" y="2644797"/>
            <a:ext cx="5357176" cy="1350287"/>
          </a:xfrm>
          <a:prstGeom prst="ellipse">
            <a:avLst/>
          </a:prstGeom>
          <a:noFill/>
          <a:ln cap="flat" cmpd="sng" w="38100">
            <a:solidFill>
              <a:schemeClr val="accent6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" name="Google Shape;186;p6"/>
          <p:cNvCxnSpPr/>
          <p:nvPr/>
        </p:nvCxnSpPr>
        <p:spPr>
          <a:xfrm rot="10800000">
            <a:off x="6641330" y="2999478"/>
            <a:ext cx="1278900" cy="131100"/>
          </a:xfrm>
          <a:prstGeom prst="curvedConnector2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med" w="med" type="stealth"/>
          </a:ln>
        </p:spPr>
      </p:cxnSp>
      <p:cxnSp>
        <p:nvCxnSpPr>
          <p:cNvPr id="187" name="Google Shape;187;p6"/>
          <p:cNvCxnSpPr/>
          <p:nvPr/>
        </p:nvCxnSpPr>
        <p:spPr>
          <a:xfrm flipH="1">
            <a:off x="2382511" y="3437552"/>
            <a:ext cx="2787900" cy="1130100"/>
          </a:xfrm>
          <a:prstGeom prst="curvedConnector3">
            <a:avLst>
              <a:gd fmla="val 37339" name="adj1"/>
            </a:avLst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med" w="med" type="stealth"/>
          </a:ln>
        </p:spPr>
      </p:cxnSp>
      <p:sp>
        <p:nvSpPr>
          <p:cNvPr id="188" name="Google Shape;188;p6"/>
          <p:cNvSpPr/>
          <p:nvPr/>
        </p:nvSpPr>
        <p:spPr>
          <a:xfrm>
            <a:off x="5184160" y="1150996"/>
            <a:ext cx="5357176" cy="1350287"/>
          </a:xfrm>
          <a:prstGeom prst="ellipse">
            <a:avLst/>
          </a:prstGeom>
          <a:noFill/>
          <a:ln cap="flat" cmpd="sng" w="38100">
            <a:solidFill>
              <a:schemeClr val="accent6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6"/>
          <p:cNvCxnSpPr>
            <a:stCxn id="160" idx="0"/>
          </p:cNvCxnSpPr>
          <p:nvPr/>
        </p:nvCxnSpPr>
        <p:spPr>
          <a:xfrm rot="5400000">
            <a:off x="3066565" y="844810"/>
            <a:ext cx="2643600" cy="4011300"/>
          </a:xfrm>
          <a:prstGeom prst="curvedConnector4">
            <a:avLst>
              <a:gd fmla="val -8647" name="adj1"/>
              <a:gd fmla="val 69348" name="adj2"/>
            </a:avLst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med" w="med" type="stealth"/>
          </a:ln>
        </p:spPr>
      </p:cxnSp>
      <p:sp>
        <p:nvSpPr>
          <p:cNvPr id="190" name="Google Shape;190;p6"/>
          <p:cNvSpPr txBox="1"/>
          <p:nvPr/>
        </p:nvSpPr>
        <p:spPr>
          <a:xfrm>
            <a:off x="7157394" y="4013698"/>
            <a:ext cx="1410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Subprojeto 2</a:t>
            </a:r>
            <a:endParaRPr b="1" sz="1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10034056" y="2234096"/>
            <a:ext cx="1410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Subprojeto 1</a:t>
            </a:r>
            <a:endParaRPr b="1" sz="1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 txBox="1"/>
          <p:nvPr/>
        </p:nvSpPr>
        <p:spPr>
          <a:xfrm>
            <a:off x="637662" y="6027479"/>
            <a:ext cx="26772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Desenvolvimento Paralelo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Professor: Jorge Roberto Nogueira</a:t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1037514" y="1481281"/>
            <a:ext cx="1371600" cy="616689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Análise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1037514" y="3637197"/>
            <a:ext cx="1371600" cy="616689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Projeto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5037221" y="5723637"/>
            <a:ext cx="1748589" cy="616689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Implementação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(Codificação) 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9646903" y="1481282"/>
            <a:ext cx="1371600" cy="616689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Teste de Aceitação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9646903" y="2652343"/>
            <a:ext cx="1371600" cy="616689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Teste do Sistema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9646903" y="3691296"/>
            <a:ext cx="1371600" cy="616689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Teste de Integração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9646903" y="4760815"/>
            <a:ext cx="1371600" cy="616689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Teste da Unidade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4940967" y="1427183"/>
            <a:ext cx="1941095" cy="724886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C647"/>
              </a:gs>
              <a:gs pos="50000">
                <a:srgbClr val="FFC600"/>
              </a:gs>
              <a:gs pos="100000">
                <a:srgbClr val="E3B400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Design dos Testes de Aceitação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4940969" y="2475880"/>
            <a:ext cx="1941095" cy="724886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C647"/>
              </a:gs>
              <a:gs pos="50000">
                <a:srgbClr val="FFC600"/>
              </a:gs>
              <a:gs pos="100000">
                <a:srgbClr val="E3B400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Design dos Testes do Sistema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957011" y="3583099"/>
            <a:ext cx="1941095" cy="724886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C647"/>
              </a:gs>
              <a:gs pos="50000">
                <a:srgbClr val="FFC600"/>
              </a:gs>
              <a:gs pos="100000">
                <a:srgbClr val="E3B400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Design dos Testes de Integração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4957010" y="4667024"/>
            <a:ext cx="1941095" cy="724886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C647"/>
              </a:gs>
              <a:gs pos="50000">
                <a:srgbClr val="FFC600"/>
              </a:gs>
              <a:gs pos="100000">
                <a:srgbClr val="E3B400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Design dos Testes da Unidade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 rot="4041068">
            <a:off x="1695115" y="3433272"/>
            <a:ext cx="4482016" cy="51604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4E0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 rot="-4408557">
            <a:off x="5638099" y="3307941"/>
            <a:ext cx="4482016" cy="51604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4E0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7"/>
          <p:cNvCxnSpPr>
            <a:stCxn id="200" idx="2"/>
            <a:endCxn id="201" idx="0"/>
          </p:cNvCxnSpPr>
          <p:nvPr/>
        </p:nvCxnSpPr>
        <p:spPr>
          <a:xfrm>
            <a:off x="1723314" y="2097970"/>
            <a:ext cx="0" cy="1539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214" name="Google Shape;214;p7"/>
          <p:cNvCxnSpPr>
            <a:stCxn id="201" idx="2"/>
            <a:endCxn id="202" idx="1"/>
          </p:cNvCxnSpPr>
          <p:nvPr/>
        </p:nvCxnSpPr>
        <p:spPr>
          <a:xfrm>
            <a:off x="1723314" y="4253886"/>
            <a:ext cx="3313800" cy="1778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215" name="Google Shape;215;p7"/>
          <p:cNvCxnSpPr>
            <a:stCxn id="202" idx="3"/>
            <a:endCxn id="206" idx="1"/>
          </p:cNvCxnSpPr>
          <p:nvPr/>
        </p:nvCxnSpPr>
        <p:spPr>
          <a:xfrm flipH="1" rot="10800000">
            <a:off x="6785810" y="5069282"/>
            <a:ext cx="2861100" cy="96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216" name="Google Shape;216;p7"/>
          <p:cNvCxnSpPr>
            <a:stCxn id="206" idx="0"/>
            <a:endCxn id="205" idx="2"/>
          </p:cNvCxnSpPr>
          <p:nvPr/>
        </p:nvCxnSpPr>
        <p:spPr>
          <a:xfrm rot="10800000">
            <a:off x="10332703" y="4308115"/>
            <a:ext cx="0" cy="45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217" name="Google Shape;217;p7"/>
          <p:cNvCxnSpPr>
            <a:stCxn id="205" idx="0"/>
            <a:endCxn id="204" idx="2"/>
          </p:cNvCxnSpPr>
          <p:nvPr/>
        </p:nvCxnSpPr>
        <p:spPr>
          <a:xfrm rot="10800000">
            <a:off x="10332703" y="3268896"/>
            <a:ext cx="0" cy="42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218" name="Google Shape;218;p7"/>
          <p:cNvCxnSpPr>
            <a:stCxn id="204" idx="0"/>
            <a:endCxn id="203" idx="2"/>
          </p:cNvCxnSpPr>
          <p:nvPr/>
        </p:nvCxnSpPr>
        <p:spPr>
          <a:xfrm rot="10800000">
            <a:off x="10332703" y="2097943"/>
            <a:ext cx="0" cy="55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219" name="Google Shape;219;p7"/>
          <p:cNvCxnSpPr>
            <a:stCxn id="201" idx="3"/>
            <a:endCxn id="208" idx="1"/>
          </p:cNvCxnSpPr>
          <p:nvPr/>
        </p:nvCxnSpPr>
        <p:spPr>
          <a:xfrm flipH="1" rot="10800000">
            <a:off x="2409114" y="2838242"/>
            <a:ext cx="2532000" cy="1107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med" w="med" type="stealth"/>
          </a:ln>
        </p:spPr>
      </p:cxnSp>
      <p:cxnSp>
        <p:nvCxnSpPr>
          <p:cNvPr id="220" name="Google Shape;220;p7"/>
          <p:cNvCxnSpPr>
            <a:stCxn id="201" idx="3"/>
          </p:cNvCxnSpPr>
          <p:nvPr/>
        </p:nvCxnSpPr>
        <p:spPr>
          <a:xfrm flipH="1" rot="10800000">
            <a:off x="2409114" y="3691442"/>
            <a:ext cx="2532000" cy="254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med" w="med" type="stealth"/>
          </a:ln>
        </p:spPr>
      </p:cxnSp>
      <p:cxnSp>
        <p:nvCxnSpPr>
          <p:cNvPr id="221" name="Google Shape;221;p7"/>
          <p:cNvCxnSpPr>
            <a:stCxn id="201" idx="3"/>
            <a:endCxn id="210" idx="1"/>
          </p:cNvCxnSpPr>
          <p:nvPr/>
        </p:nvCxnSpPr>
        <p:spPr>
          <a:xfrm>
            <a:off x="2409114" y="3945542"/>
            <a:ext cx="2547900" cy="10839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med" w="med" type="stealth"/>
          </a:ln>
        </p:spPr>
      </p:cxnSp>
      <p:cxnSp>
        <p:nvCxnSpPr>
          <p:cNvPr id="222" name="Google Shape;222;p7"/>
          <p:cNvCxnSpPr>
            <a:stCxn id="207" idx="3"/>
            <a:endCxn id="203" idx="0"/>
          </p:cNvCxnSpPr>
          <p:nvPr/>
        </p:nvCxnSpPr>
        <p:spPr>
          <a:xfrm flipH="1" rot="10800000">
            <a:off x="6882062" y="1481226"/>
            <a:ext cx="3450600" cy="308400"/>
          </a:xfrm>
          <a:prstGeom prst="curvedConnector4">
            <a:avLst>
              <a:gd fmla="val 40063" name="adj1"/>
              <a:gd fmla="val 191648" name="adj2"/>
            </a:avLst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med" w="med" type="stealth"/>
          </a:ln>
        </p:spPr>
      </p:cxnSp>
      <p:cxnSp>
        <p:nvCxnSpPr>
          <p:cNvPr id="223" name="Google Shape;223;p7"/>
          <p:cNvCxnSpPr>
            <a:stCxn id="200" idx="3"/>
            <a:endCxn id="207" idx="1"/>
          </p:cNvCxnSpPr>
          <p:nvPr/>
        </p:nvCxnSpPr>
        <p:spPr>
          <a:xfrm>
            <a:off x="2409114" y="1789626"/>
            <a:ext cx="2532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med" w="med" type="stealth"/>
          </a:ln>
        </p:spPr>
      </p:cxnSp>
      <p:cxnSp>
        <p:nvCxnSpPr>
          <p:cNvPr id="224" name="Google Shape;224;p7"/>
          <p:cNvCxnSpPr>
            <a:stCxn id="208" idx="3"/>
            <a:endCxn id="204" idx="1"/>
          </p:cNvCxnSpPr>
          <p:nvPr/>
        </p:nvCxnSpPr>
        <p:spPr>
          <a:xfrm>
            <a:off x="6882064" y="2838323"/>
            <a:ext cx="2764800" cy="1224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med" w="med" type="stealth"/>
          </a:ln>
        </p:spPr>
      </p:cxnSp>
      <p:cxnSp>
        <p:nvCxnSpPr>
          <p:cNvPr id="225" name="Google Shape;225;p7"/>
          <p:cNvCxnSpPr>
            <a:stCxn id="209" idx="3"/>
            <a:endCxn id="205" idx="1"/>
          </p:cNvCxnSpPr>
          <p:nvPr/>
        </p:nvCxnSpPr>
        <p:spPr>
          <a:xfrm>
            <a:off x="6898106" y="3945542"/>
            <a:ext cx="2748900" cy="540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med" w="med" type="stealth"/>
          </a:ln>
        </p:spPr>
      </p:cxnSp>
      <p:cxnSp>
        <p:nvCxnSpPr>
          <p:cNvPr id="226" name="Google Shape;226;p7"/>
          <p:cNvCxnSpPr/>
          <p:nvPr/>
        </p:nvCxnSpPr>
        <p:spPr>
          <a:xfrm flipH="1" rot="10800000">
            <a:off x="6785810" y="4760760"/>
            <a:ext cx="2861100" cy="3084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med" w="med" type="stealth"/>
          </a:ln>
        </p:spPr>
      </p:cxnSp>
      <p:sp>
        <p:nvSpPr>
          <p:cNvPr id="227" name="Google Shape;227;p7"/>
          <p:cNvSpPr txBox="1"/>
          <p:nvPr/>
        </p:nvSpPr>
        <p:spPr>
          <a:xfrm>
            <a:off x="637662" y="6027479"/>
            <a:ext cx="28359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Desenvolvimento Modelo V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Professor: Jorge Roberto Nogueira</a:t>
            </a:r>
            <a:endParaRPr/>
          </a:p>
        </p:txBody>
      </p:sp>
      <p:sp>
        <p:nvSpPr>
          <p:cNvPr id="235" name="Google Shape;235;p8"/>
          <p:cNvSpPr txBox="1"/>
          <p:nvPr/>
        </p:nvSpPr>
        <p:spPr>
          <a:xfrm>
            <a:off x="637662" y="6027479"/>
            <a:ext cx="27115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Desenvolvimento Iterativo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656513" y="1332555"/>
            <a:ext cx="1371600" cy="616689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Planejamento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2308850" y="2129986"/>
            <a:ext cx="1371600" cy="616689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Análise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8"/>
          <p:cNvCxnSpPr>
            <a:stCxn id="236" idx="3"/>
            <a:endCxn id="237" idx="0"/>
          </p:cNvCxnSpPr>
          <p:nvPr/>
        </p:nvCxnSpPr>
        <p:spPr>
          <a:xfrm>
            <a:off x="2028113" y="1640900"/>
            <a:ext cx="966600" cy="489000"/>
          </a:xfrm>
          <a:prstGeom prst="curved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239" name="Google Shape;239;p8"/>
          <p:cNvCxnSpPr>
            <a:stCxn id="237" idx="1"/>
          </p:cNvCxnSpPr>
          <p:nvPr/>
        </p:nvCxnSpPr>
        <p:spPr>
          <a:xfrm rot="10800000">
            <a:off x="1893050" y="1949331"/>
            <a:ext cx="415800" cy="489000"/>
          </a:xfrm>
          <a:prstGeom prst="curvedConnector2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med" w="med" type="stealth"/>
          </a:ln>
        </p:spPr>
      </p:cxnSp>
      <p:cxnSp>
        <p:nvCxnSpPr>
          <p:cNvPr id="240" name="Google Shape;240;p8"/>
          <p:cNvCxnSpPr>
            <a:stCxn id="237" idx="3"/>
            <a:endCxn id="241" idx="1"/>
          </p:cNvCxnSpPr>
          <p:nvPr/>
        </p:nvCxnSpPr>
        <p:spPr>
          <a:xfrm flipH="1" rot="10800000">
            <a:off x="3680450" y="1632231"/>
            <a:ext cx="1279500" cy="80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242" name="Google Shape;242;p8"/>
          <p:cNvSpPr/>
          <p:nvPr/>
        </p:nvSpPr>
        <p:spPr>
          <a:xfrm rot="1160225">
            <a:off x="4502091" y="1415257"/>
            <a:ext cx="6208294" cy="2019664"/>
          </a:xfrm>
          <a:prstGeom prst="ellipse">
            <a:avLst/>
          </a:prstGeom>
          <a:noFill/>
          <a:ln cap="flat" cmpd="sng" w="12700">
            <a:solidFill>
              <a:srgbClr val="92D05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3" name="Google Shape;243;p8"/>
          <p:cNvGrpSpPr/>
          <p:nvPr/>
        </p:nvGrpSpPr>
        <p:grpSpPr>
          <a:xfrm>
            <a:off x="4959808" y="1324033"/>
            <a:ext cx="5271043" cy="2350719"/>
            <a:chOff x="4959808" y="1324033"/>
            <a:chExt cx="5271043" cy="2350719"/>
          </a:xfrm>
        </p:grpSpPr>
        <p:sp>
          <p:nvSpPr>
            <p:cNvPr id="244" name="Google Shape;244;p8"/>
            <p:cNvSpPr/>
            <p:nvPr/>
          </p:nvSpPr>
          <p:spPr>
            <a:xfrm>
              <a:off x="6837526" y="2193788"/>
              <a:ext cx="1371600" cy="616689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Projeto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8"/>
            <p:cNvSpPr/>
            <p:nvPr/>
          </p:nvSpPr>
          <p:spPr>
            <a:xfrm>
              <a:off x="8701628" y="3058063"/>
              <a:ext cx="1529223" cy="616689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Implementação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8"/>
            <p:cNvSpPr/>
            <p:nvPr/>
          </p:nvSpPr>
          <p:spPr>
            <a:xfrm>
              <a:off x="4959808" y="1324033"/>
              <a:ext cx="1371600" cy="616689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Análise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6" name="Google Shape;246;p8"/>
            <p:cNvCxnSpPr>
              <a:stCxn id="241" idx="3"/>
              <a:endCxn id="244" idx="0"/>
            </p:cNvCxnSpPr>
            <p:nvPr/>
          </p:nvCxnSpPr>
          <p:spPr>
            <a:xfrm>
              <a:off x="6331408" y="1632378"/>
              <a:ext cx="1191900" cy="561300"/>
            </a:xfrm>
            <a:prstGeom prst="curvedConnector2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247" name="Google Shape;247;p8"/>
            <p:cNvCxnSpPr>
              <a:stCxn id="244" idx="3"/>
              <a:endCxn id="245" idx="0"/>
            </p:cNvCxnSpPr>
            <p:nvPr/>
          </p:nvCxnSpPr>
          <p:spPr>
            <a:xfrm>
              <a:off x="8209126" y="2502133"/>
              <a:ext cx="1257000" cy="555900"/>
            </a:xfrm>
            <a:prstGeom prst="curvedConnector2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248" name="Google Shape;248;p8"/>
            <p:cNvCxnSpPr>
              <a:stCxn id="244" idx="1"/>
              <a:endCxn id="241" idx="2"/>
            </p:cNvCxnSpPr>
            <p:nvPr/>
          </p:nvCxnSpPr>
          <p:spPr>
            <a:xfrm rot="10800000">
              <a:off x="5645626" y="1940833"/>
              <a:ext cx="1191900" cy="561300"/>
            </a:xfrm>
            <a:prstGeom prst="curvedConnector2">
              <a:avLst/>
            </a:prstGeom>
            <a:noFill/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249" name="Google Shape;249;p8"/>
            <p:cNvCxnSpPr>
              <a:stCxn id="245" idx="1"/>
            </p:cNvCxnSpPr>
            <p:nvPr/>
          </p:nvCxnSpPr>
          <p:spPr>
            <a:xfrm rot="10800000">
              <a:off x="8203928" y="2780207"/>
              <a:ext cx="497700" cy="586200"/>
            </a:xfrm>
            <a:prstGeom prst="curvedConnector2">
              <a:avLst/>
            </a:prstGeom>
            <a:noFill/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med" w="med" type="stealth"/>
            </a:ln>
          </p:spPr>
        </p:cxnSp>
      </p:grpSp>
      <p:grpSp>
        <p:nvGrpSpPr>
          <p:cNvPr id="250" name="Google Shape;250;p8"/>
          <p:cNvGrpSpPr/>
          <p:nvPr/>
        </p:nvGrpSpPr>
        <p:grpSpPr>
          <a:xfrm>
            <a:off x="4954584" y="3366409"/>
            <a:ext cx="5271043" cy="2350719"/>
            <a:chOff x="4959808" y="1324033"/>
            <a:chExt cx="5271043" cy="2350719"/>
          </a:xfrm>
        </p:grpSpPr>
        <p:sp>
          <p:nvSpPr>
            <p:cNvPr id="251" name="Google Shape;251;p8"/>
            <p:cNvSpPr/>
            <p:nvPr/>
          </p:nvSpPr>
          <p:spPr>
            <a:xfrm>
              <a:off x="6837526" y="2193788"/>
              <a:ext cx="1371600" cy="616689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Projeto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8"/>
            <p:cNvSpPr/>
            <p:nvPr/>
          </p:nvSpPr>
          <p:spPr>
            <a:xfrm>
              <a:off x="8701628" y="3058063"/>
              <a:ext cx="1529223" cy="616689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Implementação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8"/>
            <p:cNvSpPr/>
            <p:nvPr/>
          </p:nvSpPr>
          <p:spPr>
            <a:xfrm>
              <a:off x="4959808" y="1324033"/>
              <a:ext cx="1371600" cy="616689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Análise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54" name="Google Shape;254;p8"/>
            <p:cNvCxnSpPr>
              <a:stCxn id="253" idx="3"/>
              <a:endCxn id="251" idx="0"/>
            </p:cNvCxnSpPr>
            <p:nvPr/>
          </p:nvCxnSpPr>
          <p:spPr>
            <a:xfrm>
              <a:off x="6331408" y="1632378"/>
              <a:ext cx="1191900" cy="561300"/>
            </a:xfrm>
            <a:prstGeom prst="curvedConnector2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255" name="Google Shape;255;p8"/>
            <p:cNvCxnSpPr>
              <a:stCxn id="251" idx="3"/>
              <a:endCxn id="252" idx="0"/>
            </p:cNvCxnSpPr>
            <p:nvPr/>
          </p:nvCxnSpPr>
          <p:spPr>
            <a:xfrm>
              <a:off x="8209126" y="2502133"/>
              <a:ext cx="1257000" cy="555900"/>
            </a:xfrm>
            <a:prstGeom prst="curvedConnector2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256" name="Google Shape;256;p8"/>
            <p:cNvCxnSpPr>
              <a:stCxn id="251" idx="1"/>
              <a:endCxn id="253" idx="2"/>
            </p:cNvCxnSpPr>
            <p:nvPr/>
          </p:nvCxnSpPr>
          <p:spPr>
            <a:xfrm rot="10800000">
              <a:off x="5645626" y="1940833"/>
              <a:ext cx="1191900" cy="561300"/>
            </a:xfrm>
            <a:prstGeom prst="curvedConnector2">
              <a:avLst/>
            </a:prstGeom>
            <a:noFill/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257" name="Google Shape;257;p8"/>
            <p:cNvCxnSpPr>
              <a:stCxn id="252" idx="1"/>
              <a:endCxn id="251" idx="2"/>
            </p:cNvCxnSpPr>
            <p:nvPr/>
          </p:nvCxnSpPr>
          <p:spPr>
            <a:xfrm rot="10800000">
              <a:off x="7523228" y="2810507"/>
              <a:ext cx="1178400" cy="555900"/>
            </a:xfrm>
            <a:prstGeom prst="curvedConnector2">
              <a:avLst/>
            </a:prstGeom>
            <a:noFill/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med" w="med" type="stealth"/>
            </a:ln>
          </p:spPr>
        </p:cxnSp>
      </p:grpSp>
      <p:grpSp>
        <p:nvGrpSpPr>
          <p:cNvPr id="258" name="Google Shape;258;p8"/>
          <p:cNvGrpSpPr/>
          <p:nvPr/>
        </p:nvGrpSpPr>
        <p:grpSpPr>
          <a:xfrm>
            <a:off x="505170" y="3711282"/>
            <a:ext cx="5271043" cy="2350719"/>
            <a:chOff x="4959808" y="1324033"/>
            <a:chExt cx="5271043" cy="2350719"/>
          </a:xfrm>
        </p:grpSpPr>
        <p:sp>
          <p:nvSpPr>
            <p:cNvPr id="259" name="Google Shape;259;p8"/>
            <p:cNvSpPr/>
            <p:nvPr/>
          </p:nvSpPr>
          <p:spPr>
            <a:xfrm>
              <a:off x="6837526" y="2193788"/>
              <a:ext cx="1371600" cy="616689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Projeto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8701628" y="3058063"/>
              <a:ext cx="1529223" cy="616689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Implementação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4959808" y="1324033"/>
              <a:ext cx="1371600" cy="616689"/>
            </a:xfrm>
            <a:prstGeom prst="rect">
              <a:avLst/>
            </a:prstGeom>
            <a:solidFill>
              <a:srgbClr val="9CC2E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Análise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62" name="Google Shape;262;p8"/>
            <p:cNvCxnSpPr>
              <a:stCxn id="261" idx="3"/>
              <a:endCxn id="259" idx="0"/>
            </p:cNvCxnSpPr>
            <p:nvPr/>
          </p:nvCxnSpPr>
          <p:spPr>
            <a:xfrm>
              <a:off x="6331408" y="1632378"/>
              <a:ext cx="1191900" cy="561300"/>
            </a:xfrm>
            <a:prstGeom prst="curvedConnector2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263" name="Google Shape;263;p8"/>
            <p:cNvCxnSpPr>
              <a:stCxn id="259" idx="3"/>
              <a:endCxn id="260" idx="0"/>
            </p:cNvCxnSpPr>
            <p:nvPr/>
          </p:nvCxnSpPr>
          <p:spPr>
            <a:xfrm>
              <a:off x="8209126" y="2502133"/>
              <a:ext cx="1257000" cy="555900"/>
            </a:xfrm>
            <a:prstGeom prst="curvedConnector2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264" name="Google Shape;264;p8"/>
            <p:cNvCxnSpPr>
              <a:stCxn id="259" idx="1"/>
              <a:endCxn id="261" idx="2"/>
            </p:cNvCxnSpPr>
            <p:nvPr/>
          </p:nvCxnSpPr>
          <p:spPr>
            <a:xfrm rot="10800000">
              <a:off x="5645626" y="1940833"/>
              <a:ext cx="1191900" cy="561300"/>
            </a:xfrm>
            <a:prstGeom prst="curvedConnector2">
              <a:avLst/>
            </a:prstGeom>
            <a:noFill/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265" name="Google Shape;265;p8"/>
            <p:cNvCxnSpPr>
              <a:stCxn id="260" idx="1"/>
              <a:endCxn id="259" idx="2"/>
            </p:cNvCxnSpPr>
            <p:nvPr/>
          </p:nvCxnSpPr>
          <p:spPr>
            <a:xfrm rot="10800000">
              <a:off x="7523228" y="2810507"/>
              <a:ext cx="1178400" cy="555900"/>
            </a:xfrm>
            <a:prstGeom prst="curvedConnector2">
              <a:avLst/>
            </a:prstGeom>
            <a:noFill/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med" w="med" type="stealth"/>
            </a:ln>
          </p:spPr>
        </p:cxnSp>
      </p:grpSp>
      <p:sp>
        <p:nvSpPr>
          <p:cNvPr id="266" name="Google Shape;266;p8"/>
          <p:cNvSpPr/>
          <p:nvPr/>
        </p:nvSpPr>
        <p:spPr>
          <a:xfrm rot="1160225">
            <a:off x="4420231" y="3658300"/>
            <a:ext cx="6208294" cy="1819519"/>
          </a:xfrm>
          <a:prstGeom prst="ellipse">
            <a:avLst/>
          </a:prstGeom>
          <a:noFill/>
          <a:ln cap="flat" cmpd="sng" w="12700">
            <a:solidFill>
              <a:srgbClr val="92D05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 rot="1160225">
            <a:off x="124269" y="3867442"/>
            <a:ext cx="6208294" cy="2019664"/>
          </a:xfrm>
          <a:prstGeom prst="ellipse">
            <a:avLst/>
          </a:prstGeom>
          <a:noFill/>
          <a:ln cap="flat" cmpd="sng" w="12700">
            <a:solidFill>
              <a:srgbClr val="92D05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8"/>
          <p:cNvCxnSpPr>
            <a:stCxn id="245" idx="3"/>
          </p:cNvCxnSpPr>
          <p:nvPr/>
        </p:nvCxnSpPr>
        <p:spPr>
          <a:xfrm>
            <a:off x="10230851" y="3366407"/>
            <a:ext cx="895500" cy="655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269" name="Google Shape;269;p8"/>
          <p:cNvCxnSpPr>
            <a:endCxn id="253" idx="0"/>
          </p:cNvCxnSpPr>
          <p:nvPr/>
        </p:nvCxnSpPr>
        <p:spPr>
          <a:xfrm rot="10800000">
            <a:off x="5640384" y="3366409"/>
            <a:ext cx="4590600" cy="1039500"/>
          </a:xfrm>
          <a:prstGeom prst="curvedConnector4">
            <a:avLst>
              <a:gd fmla="val 42532" name="adj1"/>
              <a:gd fmla="val 143597" name="adj2"/>
            </a:avLst>
          </a:prstGeom>
          <a:noFill/>
          <a:ln cap="flat" cmpd="sng" w="57150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70" name="Google Shape;270;p8"/>
          <p:cNvSpPr/>
          <p:nvPr/>
        </p:nvSpPr>
        <p:spPr>
          <a:xfrm>
            <a:off x="10230852" y="4036515"/>
            <a:ext cx="1479885" cy="582914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Versão do SISTEMA 1</a:t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10543673" y="5770544"/>
            <a:ext cx="1479885" cy="582914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Versão do SISTEMA 2</a:t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p8"/>
          <p:cNvCxnSpPr>
            <a:endCxn id="271" idx="0"/>
          </p:cNvCxnSpPr>
          <p:nvPr/>
        </p:nvCxnSpPr>
        <p:spPr>
          <a:xfrm>
            <a:off x="10215916" y="5425844"/>
            <a:ext cx="1067700" cy="344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273" name="Google Shape;273;p8"/>
          <p:cNvSpPr/>
          <p:nvPr/>
        </p:nvSpPr>
        <p:spPr>
          <a:xfrm>
            <a:off x="7469183" y="6105354"/>
            <a:ext cx="1479885" cy="582914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Versão do SISTEMA 3</a:t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p8"/>
          <p:cNvCxnSpPr>
            <a:endCxn id="273" idx="1"/>
          </p:cNvCxnSpPr>
          <p:nvPr/>
        </p:nvCxnSpPr>
        <p:spPr>
          <a:xfrm>
            <a:off x="5780483" y="5755111"/>
            <a:ext cx="1688700" cy="64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275" name="Google Shape;275;p8"/>
          <p:cNvCxnSpPr>
            <a:stCxn id="271" idx="1"/>
          </p:cNvCxnSpPr>
          <p:nvPr/>
        </p:nvCxnSpPr>
        <p:spPr>
          <a:xfrm rot="10800000">
            <a:off x="1893173" y="3886101"/>
            <a:ext cx="8650500" cy="2175900"/>
          </a:xfrm>
          <a:prstGeom prst="curvedConnector3">
            <a:avLst>
              <a:gd fmla="val 50001" name="adj1"/>
            </a:avLst>
          </a:prstGeom>
          <a:noFill/>
          <a:ln cap="flat" cmpd="sng" w="57150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Professor: Jorge Roberto Nogueira</a:t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3704575" y="3559914"/>
            <a:ext cx="1529223" cy="616689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Projeto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3704576" y="4176603"/>
            <a:ext cx="1529223" cy="616689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Implementação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3704575" y="2943225"/>
            <a:ext cx="1529223" cy="616689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Análise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1530870" y="1780173"/>
            <a:ext cx="1529223" cy="616689"/>
          </a:xfrm>
          <a:prstGeom prst="rect">
            <a:avLst/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Planejamento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9"/>
          <p:cNvCxnSpPr>
            <a:stCxn id="286" idx="3"/>
          </p:cNvCxnSpPr>
          <p:nvPr/>
        </p:nvCxnSpPr>
        <p:spPr>
          <a:xfrm>
            <a:off x="3060093" y="2088518"/>
            <a:ext cx="829200" cy="854700"/>
          </a:xfrm>
          <a:prstGeom prst="curved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288" name="Google Shape;288;p9"/>
          <p:cNvSpPr/>
          <p:nvPr/>
        </p:nvSpPr>
        <p:spPr>
          <a:xfrm>
            <a:off x="6519904" y="3559914"/>
            <a:ext cx="1479885" cy="582914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Prototipo do Sistema</a:t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9" name="Google Shape;289;p9"/>
          <p:cNvCxnSpPr>
            <a:stCxn id="288" idx="0"/>
            <a:endCxn id="285" idx="0"/>
          </p:cNvCxnSpPr>
          <p:nvPr/>
        </p:nvCxnSpPr>
        <p:spPr>
          <a:xfrm flipH="1" rot="5400000">
            <a:off x="5556147" y="1856214"/>
            <a:ext cx="616800" cy="2790600"/>
          </a:xfrm>
          <a:prstGeom prst="bentConnector3">
            <a:avLst>
              <a:gd fmla="val 251482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290" name="Google Shape;290;p9"/>
          <p:cNvCxnSpPr>
            <a:stCxn id="284" idx="2"/>
            <a:endCxn id="288" idx="2"/>
          </p:cNvCxnSpPr>
          <p:nvPr/>
        </p:nvCxnSpPr>
        <p:spPr>
          <a:xfrm rot="-5400000">
            <a:off x="5539288" y="3072792"/>
            <a:ext cx="650400" cy="2790600"/>
          </a:xfrm>
          <a:prstGeom prst="bentConnector3">
            <a:avLst>
              <a:gd fmla="val -35147" name="adj1"/>
            </a:avLst>
          </a:prstGeom>
          <a:noFill/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91" name="Google Shape;291;p9"/>
          <p:cNvSpPr txBox="1"/>
          <p:nvPr/>
        </p:nvSpPr>
        <p:spPr>
          <a:xfrm>
            <a:off x="637662" y="6027479"/>
            <a:ext cx="25954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Prototipagem do Sistema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9231082" y="3543026"/>
            <a:ext cx="1529223" cy="616689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Implementação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9280420" y="5222038"/>
            <a:ext cx="1479885" cy="582914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</a:t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p9"/>
          <p:cNvCxnSpPr>
            <a:stCxn id="288" idx="3"/>
            <a:endCxn id="292" idx="1"/>
          </p:cNvCxnSpPr>
          <p:nvPr/>
        </p:nvCxnSpPr>
        <p:spPr>
          <a:xfrm>
            <a:off x="7999789" y="3851371"/>
            <a:ext cx="1231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95" name="Google Shape;295;p9"/>
          <p:cNvCxnSpPr>
            <a:stCxn id="292" idx="2"/>
            <a:endCxn id="293" idx="0"/>
          </p:cNvCxnSpPr>
          <p:nvPr/>
        </p:nvCxnSpPr>
        <p:spPr>
          <a:xfrm>
            <a:off x="9995694" y="4159715"/>
            <a:ext cx="24600" cy="1062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296" name="Google Shape;296;p9"/>
          <p:cNvCxnSpPr>
            <a:stCxn id="285" idx="1"/>
            <a:endCxn id="286" idx="2"/>
          </p:cNvCxnSpPr>
          <p:nvPr/>
        </p:nvCxnSpPr>
        <p:spPr>
          <a:xfrm rot="10800000">
            <a:off x="2295475" y="2396870"/>
            <a:ext cx="1409100" cy="854700"/>
          </a:xfrm>
          <a:prstGeom prst="curvedConnector2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med" w="med" type="stealth"/>
          </a:ln>
        </p:spPr>
      </p:cxnSp>
      <p:sp>
        <p:nvSpPr>
          <p:cNvPr id="297" name="Google Shape;297;p9"/>
          <p:cNvSpPr txBox="1"/>
          <p:nvPr/>
        </p:nvSpPr>
        <p:spPr>
          <a:xfrm>
            <a:off x="4109449" y="1361902"/>
            <a:ext cx="501906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Prototipagem do Sistema</a:t>
            </a:r>
            <a:endParaRPr b="1" sz="36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3000"/>
              <a:t>Desenvolvimento </a:t>
            </a:r>
            <a:r>
              <a:rPr lang="pt-BR" sz="3000"/>
              <a:t>Ágil</a:t>
            </a:r>
            <a:r>
              <a:rPr b="1" lang="pt-BR" sz="3000"/>
              <a:t> (Agile Development)</a:t>
            </a:r>
            <a:endParaRPr sz="3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sz="2600"/>
              <a:t>Criado por um grupo de especialistas  denominado Aliança Ágil, em 2001,  cuja metodologia é centrada na programação com o objetivo de agilizar o projeto.</a:t>
            </a:r>
            <a:endParaRPr sz="2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sz="2600"/>
              <a:t>Parte do principio de eliminar parte do excesso de modelagem e de documentos e estimulando a comunicação cara a cara.</a:t>
            </a:r>
            <a:endParaRPr sz="2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sz="2600"/>
              <a:t>Os ciclos são mantidos curtos (de uma a quatro semanas)</a:t>
            </a:r>
            <a:endParaRPr sz="2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sz="2600"/>
              <a:t>A equipe de desenvolvimento se dedica à adaptação do ambiente de negócio atual.</a:t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2000"/>
              <a:t>Sites: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2000"/>
              <a:t>Manifesto para desenvolvimento Ágil de Software </a:t>
            </a:r>
            <a:r>
              <a:rPr lang="pt-BR" sz="2000" u="sng">
                <a:solidFill>
                  <a:schemeClr val="hlink"/>
                </a:solidFill>
                <a:hlinkClick r:id="rId3"/>
              </a:rPr>
              <a:t>http://www.manifestoagil.com.br/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2000"/>
              <a:t>Desenvolvimento Ágil -  </a:t>
            </a:r>
            <a:r>
              <a:rPr lang="pt-BR" sz="2000" u="sng">
                <a:solidFill>
                  <a:schemeClr val="hlink"/>
                </a:solidFill>
                <a:hlinkClick r:id="rId4"/>
              </a:rPr>
              <a:t>http://www.desenvolvimentoagil.com.br/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Professor: Jorge Roberto Nogueira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/>
              <a:t>Outras abordagens de desenvolvimentos ágeis</a:t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SCRUM (Ferramenta de gestão e planejamento de projetos de software)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DSDM (Dynamic systems development method)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11" name="Google Shape;311;p13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3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Professor: Jorge Roberto Nogueira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Análise e Projeto de Sistemas</a:t>
            </a:r>
            <a:endParaRPr/>
          </a:p>
        </p:txBody>
      </p:sp>
      <p:sp>
        <p:nvSpPr>
          <p:cNvPr id="318" name="Google Shape;318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Análise de Requisitos e Modelo de Negócio</a:t>
            </a:r>
            <a:endParaRPr/>
          </a:p>
        </p:txBody>
      </p:sp>
      <p:sp>
        <p:nvSpPr>
          <p:cNvPr id="319" name="Google Shape;319;p14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4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Professor: Jorge Roberto Nogueira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600">
        <p14:prism dir="l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5"/>
          <p:cNvSpPr txBox="1"/>
          <p:nvPr>
            <p:ph idx="1" type="body"/>
          </p:nvPr>
        </p:nvSpPr>
        <p:spPr>
          <a:xfrm>
            <a:off x="859465" y="211056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pt-BR" sz="3200"/>
              <a:t>Levantamento de requisitos</a:t>
            </a:r>
            <a:endParaRPr b="1" sz="3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É o processo de descobrir quais são as funções que o sistema deve realizar e quais as restrições que existem sobre essas funções.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</p:txBody>
      </p:sp>
      <p:sp>
        <p:nvSpPr>
          <p:cNvPr id="326" name="Google Shape;326;p15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5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Professor: Jorge Roberto Nogueira</a:t>
            </a:r>
            <a:endParaRPr/>
          </a:p>
        </p:txBody>
      </p:sp>
      <p:pic>
        <p:nvPicPr>
          <p:cNvPr id="328" name="Google Shape;32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19953" y="1260289"/>
            <a:ext cx="1851657" cy="1227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6"/>
          <p:cNvSpPr txBox="1"/>
          <p:nvPr>
            <p:ph idx="1" type="body"/>
          </p:nvPr>
        </p:nvSpPr>
        <p:spPr>
          <a:xfrm>
            <a:off x="859465" y="211056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pt-BR" sz="3200"/>
              <a:t>Levantar requisitos não é projeto</a:t>
            </a:r>
            <a:endParaRPr b="1" sz="3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	Um sistema a ser analisado é como uma viagem a algum país desconhecido. Não é possível, em um primeiro momento, conhecer cada ponto turístico e os locais perigosos. Apenas no final da implantação do sistema  é que a equipe poderá dizer que adquiriu conhecimento sobre cada uma de suas partes. </a:t>
            </a:r>
            <a:endParaRPr/>
          </a:p>
        </p:txBody>
      </p:sp>
      <p:sp>
        <p:nvSpPr>
          <p:cNvPr id="335" name="Google Shape;335;p16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6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Professor: Jorge Roberto Nogueira</a:t>
            </a:r>
            <a:endParaRPr/>
          </a:p>
        </p:txBody>
      </p:sp>
      <p:pic>
        <p:nvPicPr>
          <p:cNvPr id="337" name="Google Shape;3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19953" y="1260289"/>
            <a:ext cx="1851657" cy="1227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7"/>
          <p:cNvSpPr txBox="1"/>
          <p:nvPr>
            <p:ph idx="1" type="body"/>
          </p:nvPr>
        </p:nvSpPr>
        <p:spPr>
          <a:xfrm>
            <a:off x="859465" y="211056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pt-BR" sz="3200"/>
              <a:t>Levantamento de requisitos</a:t>
            </a:r>
            <a:endParaRPr b="1" sz="3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Compõem</a:t>
            </a:r>
            <a:r>
              <a:rPr b="1" lang="pt-BR"/>
              <a:t> </a:t>
            </a:r>
            <a:r>
              <a:rPr lang="pt-BR"/>
              <a:t>uma parte significativa da fase de concepção dentro do UP (</a:t>
            </a:r>
            <a:r>
              <a:rPr i="1" lang="pt-BR"/>
              <a:t>Processo Unificado</a:t>
            </a:r>
            <a:r>
              <a:rPr lang="pt-BR"/>
              <a:t>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Serve para estruturar e detalhar os requisitos.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 etapa de levantamento de requisitos busca todas as informações possíveis sobre as funções que o sistema deve executar e as restrições que o sistema deve operar.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O produto dessa etapa será o documento de requisito. Principal componente do anteprojeto de software.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</p:txBody>
      </p:sp>
      <p:sp>
        <p:nvSpPr>
          <p:cNvPr id="344" name="Google Shape;344;p17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7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Professor: Jorge Roberto Nogueira</a:t>
            </a:r>
            <a:endParaRPr/>
          </a:p>
        </p:txBody>
      </p:sp>
      <p:pic>
        <p:nvPicPr>
          <p:cNvPr id="346" name="Google Shape;3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19953" y="1260289"/>
            <a:ext cx="1851657" cy="1227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/>
              <a:t>Desafios dos Requisitos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Não adianta escrever um belo documento de requisitos e depois não saber se os mesmos foram atendidos pelo projeto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O documento ou diagrama de requisito deve registrar as capacidades do sistema e as condições às quais ele deve atender.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Existem desafios para capturar essas informações:</a:t>
            </a:r>
            <a:endParaRPr sz="24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Como descobrir os requisitos</a:t>
            </a:r>
            <a:endParaRPr sz="20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Como comunicar os requisitos para as outras fases ou equipe do projeto</a:t>
            </a:r>
            <a:endParaRPr sz="20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Como lembrar dos requisitos durante o desenvolvimento e verificar se foram atendidos</a:t>
            </a:r>
            <a:endParaRPr sz="20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Como gerenciar as mudanças dos requisitos.</a:t>
            </a:r>
            <a:endParaRPr sz="2000"/>
          </a:p>
        </p:txBody>
      </p:sp>
      <p:sp>
        <p:nvSpPr>
          <p:cNvPr id="353" name="Google Shape;353;p18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8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Professor: Jorge Roberto Nogueira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/>
              <a:t>Requisitos Funcionais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Devem conter basicamente os seguintes elementos:</a:t>
            </a:r>
            <a:endParaRPr sz="24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pt-BR" sz="2000"/>
              <a:t>A descrição de uma função a ser executada pelo sistema (usualmente entrada, saída ou transformação da informação)</a:t>
            </a:r>
            <a:endParaRPr sz="20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pt-BR" sz="2000"/>
              <a:t>A origem do requisito (quem solicitou) e/ou quem vai executar a função (usuário)</a:t>
            </a:r>
            <a:endParaRPr sz="20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pt-BR" sz="2000"/>
              <a:t>Quais as informações que são passadas do sistema para o usuário e vice versa.</a:t>
            </a:r>
            <a:endParaRPr sz="20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pt-BR" sz="2000"/>
              <a:t>Quais restrições lógicas (regras de negócio) ou tecnológicas se aplicam a função.</a:t>
            </a:r>
            <a:endParaRPr sz="2000"/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360" name="Google Shape;360;p19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9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Professor: Jorge Roberto Nogueira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0"/>
          <p:cNvSpPr txBox="1"/>
          <p:nvPr>
            <p:ph idx="1" type="body"/>
          </p:nvPr>
        </p:nvSpPr>
        <p:spPr>
          <a:xfrm>
            <a:off x="838200" y="1180166"/>
            <a:ext cx="105156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/>
              <a:t>Exemplo de declaração de Requisitos (Documento de requisitos)</a:t>
            </a:r>
            <a:endParaRPr sz="2000"/>
          </a:p>
        </p:txBody>
      </p:sp>
      <p:sp>
        <p:nvSpPr>
          <p:cNvPr id="367" name="Google Shape;367;p20"/>
          <p:cNvSpPr/>
          <p:nvPr/>
        </p:nvSpPr>
        <p:spPr>
          <a:xfrm>
            <a:off x="714375" y="1695359"/>
            <a:ext cx="10687049" cy="4185761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Funcionais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	</a:t>
            </a: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Gerenciamento de Veículos Novos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1.1	O sistema permitirá aos gerentes ver o estoque atual de veículos novos.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1.2	O sistema permitirá que o gerente de veículos novos emita pedidos de novos veículos.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1.3	O sistema registrará a adição de veículos novos ao estoque quando eles forem recebidos dos  fabricantes.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	</a:t>
            </a: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Gerenciamento das Vendas de Veículos Novos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2.1	O sistema permitirá que os vendedores criem uma oferta aos clientes.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2.2	O Sistema permitirá que os vendedores saibam se uma oferta está vigorando para um veículo  específico.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2.3	O sistema permitirá que os gerentes registrem a aprovação de uma determinada oferta aos clientes.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2.4	O sistema preparará o contrato de vendas.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2.5	O sistema preparará uma ordem de serviço com base nas opções ao cliente da revenda específica.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2.6	O sistema registrará o depósito de um cliente.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2.7	O sistema registrará o pagamento de um cliente.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2.8	O sistema criará um registro da compra do veículo pelo cliente.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	</a:t>
            </a: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Gerenciamento de Veículos Usados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3.1	O sistema registrará as informações sobre a negociação de um veículo por um cliente... etc...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1"/>
          <p:cNvSpPr txBox="1"/>
          <p:nvPr>
            <p:ph idx="1" type="body"/>
          </p:nvPr>
        </p:nvSpPr>
        <p:spPr>
          <a:xfrm>
            <a:off x="838200" y="1180166"/>
            <a:ext cx="105156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000"/>
              <a:buNone/>
            </a:pPr>
            <a:r>
              <a:rPr b="1" lang="pt-BR"/>
              <a:t>Exemplo de declaração de Requisitos – Documento de Requisitos (Continuação)</a:t>
            </a:r>
            <a:endParaRPr sz="2000"/>
          </a:p>
        </p:txBody>
      </p:sp>
      <p:sp>
        <p:nvSpPr>
          <p:cNvPr id="373" name="Google Shape;373;p21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1"/>
          <p:cNvSpPr/>
          <p:nvPr/>
        </p:nvSpPr>
        <p:spPr>
          <a:xfrm>
            <a:off x="714375" y="1695359"/>
            <a:ext cx="10687049" cy="4832092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Não Funcionais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Operacional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1.1  O sistema deve ser executado em um tablete ou PC a ser usado pelo vendedor.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1.2  O sistema deve ter interface com o sistema de gerenciamento de serviços.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1.3  O sistema deve se conectar a impressoras por um meio</a:t>
            </a: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 fio.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     Desempenho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2.1  O sistema deve fornecer suporte a uma equipe de vendas com 15 vendedores.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2.2  O sistema deve ser atualizado com ofertas vigentes de  veículos  a cada 15 minutos.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     Segurança		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3.1  Nenhum vendedor pode ter acesso aos contatos de qualquer</a:t>
            </a:r>
            <a:r>
              <a:rPr b="1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outro vendedor.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3.2  Apenas o proprietário e o gerente de vendas podem aprovar as ofertas aos clientes.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3.3  O uso de cada tablete ou PC deve estar restrito ao vendedor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     Cultural e Político.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4.1  A política da companhia estabelece que todo equipamento computacional seja comprado da Dell.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4.2  As informações pessoais dos clientes são protegidas de acordo com as regras do Data Protection Act.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4.3  O sistema estará de acordo com as leis estaduais especificas para  negociações com automóveis. 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			</a:t>
            </a:r>
            <a:r>
              <a:rPr i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(fonte: Análise e Projeto de Sistemas – Allan Dennis - Editora LTC)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/>
              <a:t>Requisitos Não Funcionais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Aparecem sempre ligados a requisitos funcionais e podem ser basicamente de dois tipos: lógicos ou tecnológicos.</a:t>
            </a:r>
            <a:endParaRPr sz="20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As restrições lógicas são as regras de negócio relacionadas à função em questão.</a:t>
            </a:r>
            <a:endParaRPr sz="2000"/>
          </a:p>
          <a:p>
            <a:pPr indent="0" lvl="2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pt-BR" sz="1700"/>
              <a:t>Exemplo:</a:t>
            </a:r>
            <a:endParaRPr sz="17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✔"/>
            </a:pPr>
            <a:r>
              <a:rPr lang="pt-BR" sz="1700"/>
              <a:t>No registro de uma venda, uma série de restrições lógicas poderia ser considerada, como por exemplo:</a:t>
            </a:r>
            <a:endParaRPr sz="1700"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❑"/>
            </a:pPr>
            <a:r>
              <a:rPr lang="pt-BR" sz="1400"/>
              <a:t>Não efetuar a venda caso a operadora de cartão não autorize o pagamento ou não efetuar a venda caso a venda anterior tenha sido cancelada devido a um endereço inválido que ainda não foi corrigido.</a:t>
            </a:r>
            <a:endParaRPr sz="14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As restrições tecnológicas dizem a respeito à tecnologia para a realização da função, como por exemplo:</a:t>
            </a:r>
            <a:endParaRPr sz="20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✔"/>
            </a:pPr>
            <a:r>
              <a:rPr lang="pt-BR" sz="1700"/>
              <a:t>A interface (WEB) , o tipo de protocolo de comunicação, restrições de segurança ou tolerância a falhas, etc...	</a:t>
            </a:r>
            <a:endParaRPr sz="1700"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❑"/>
            </a:pPr>
            <a:r>
              <a:rPr lang="pt-BR" sz="1400"/>
              <a:t>A autorização  de débito  no cartão de crédito não deve levar mais do que 5 segundos.</a:t>
            </a:r>
            <a:endParaRPr sz="1400"/>
          </a:p>
        </p:txBody>
      </p:sp>
      <p:sp>
        <p:nvSpPr>
          <p:cNvPr id="381" name="Google Shape;381;p22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2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Professor: Jorge Roberto Nogueira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075" y="2005012"/>
            <a:ext cx="28575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3"/>
          <p:cNvSpPr txBox="1"/>
          <p:nvPr/>
        </p:nvSpPr>
        <p:spPr>
          <a:xfrm>
            <a:off x="1574212" y="3963471"/>
            <a:ext cx="9989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Usuários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3"/>
          <p:cNvSpPr txBox="1"/>
          <p:nvPr/>
        </p:nvSpPr>
        <p:spPr>
          <a:xfrm>
            <a:off x="3762374" y="3050319"/>
            <a:ext cx="4680448" cy="461665"/>
          </a:xfrm>
          <a:prstGeom prst="rect">
            <a:avLst/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Técnicas de Elicitação de Requisitos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0" name="Google Shape;390;p23"/>
          <p:cNvGraphicFramePr/>
          <p:nvPr/>
        </p:nvGraphicFramePr>
        <p:xfrm>
          <a:off x="1368673" y="55869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{0A886E18-4E8B-43D8-82EB-8B1C6A0CDE77}</a:tableStyleId>
              </a:tblPr>
              <a:tblGrid>
                <a:gridCol w="1893575"/>
                <a:gridCol w="1893575"/>
                <a:gridCol w="1893575"/>
                <a:gridCol w="2429550"/>
                <a:gridCol w="1357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Entrevista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Aplicação JAD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Questionário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Análise  de documentos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Observação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278" y="1386211"/>
            <a:ext cx="1383868" cy="1037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77398" y="1476535"/>
            <a:ext cx="857251" cy="857251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4"/>
          <p:cNvSpPr txBox="1"/>
          <p:nvPr/>
        </p:nvSpPr>
        <p:spPr>
          <a:xfrm>
            <a:off x="1228251" y="2424112"/>
            <a:ext cx="9989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Usuários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4"/>
          <p:cNvSpPr txBox="1"/>
          <p:nvPr/>
        </p:nvSpPr>
        <p:spPr>
          <a:xfrm>
            <a:off x="9677398" y="2336405"/>
            <a:ext cx="9278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4"/>
          <p:cNvSpPr txBox="1"/>
          <p:nvPr/>
        </p:nvSpPr>
        <p:spPr>
          <a:xfrm>
            <a:off x="3571874" y="1674328"/>
            <a:ext cx="4680448" cy="461665"/>
          </a:xfrm>
          <a:prstGeom prst="rect">
            <a:avLst/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Técnicas de Elicitação de Requisitos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1" name="Google Shape;401;p24"/>
          <p:cNvGraphicFramePr/>
          <p:nvPr/>
        </p:nvGraphicFramePr>
        <p:xfrm>
          <a:off x="1368673" y="55869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{0A886E18-4E8B-43D8-82EB-8B1C6A0CDE77}</a:tableStyleId>
              </a:tblPr>
              <a:tblGrid>
                <a:gridCol w="1893575"/>
                <a:gridCol w="1893575"/>
                <a:gridCol w="1893575"/>
                <a:gridCol w="2429550"/>
                <a:gridCol w="1357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Entrevista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4B0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Aplicação JAD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Questionário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Análise  de documentos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Observação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02" name="Google Shape;402;p24"/>
          <p:cNvSpPr txBox="1"/>
          <p:nvPr/>
        </p:nvSpPr>
        <p:spPr>
          <a:xfrm>
            <a:off x="1066800" y="2968108"/>
            <a:ext cx="9791700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Entrevista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a técnica de Elicitação (coleta) de requisitos mais comum usada. Geralmente são conduzidas de  forma personalizada (um entrevistado e um entrevistador).  Mas há casos que são realizados em grupos de usuários.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Existem cinco etapas básicas para o processo de entrevista: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Seleção do entrevistado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Planejamento das perguntas da entrevista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Preparação da entrevista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Condução da entrevista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Acompanhamento após a entrevista.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278" y="1386211"/>
            <a:ext cx="1383868" cy="1037901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5"/>
          <p:cNvSpPr txBox="1"/>
          <p:nvPr/>
        </p:nvSpPr>
        <p:spPr>
          <a:xfrm>
            <a:off x="1228251" y="2424112"/>
            <a:ext cx="9989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Usuários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5"/>
          <p:cNvSpPr txBox="1"/>
          <p:nvPr/>
        </p:nvSpPr>
        <p:spPr>
          <a:xfrm>
            <a:off x="3571874" y="1674328"/>
            <a:ext cx="4680448" cy="461665"/>
          </a:xfrm>
          <a:prstGeom prst="rect">
            <a:avLst/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Técnicas de Elicitação de Requisitos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1" name="Google Shape;411;p25"/>
          <p:cNvGraphicFramePr/>
          <p:nvPr/>
        </p:nvGraphicFramePr>
        <p:xfrm>
          <a:off x="1368673" y="55869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{0A886E18-4E8B-43D8-82EB-8B1C6A0CDE77}</a:tableStyleId>
              </a:tblPr>
              <a:tblGrid>
                <a:gridCol w="1893575"/>
                <a:gridCol w="1893575"/>
                <a:gridCol w="1893575"/>
                <a:gridCol w="2429550"/>
                <a:gridCol w="1357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Entrevista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Aplicação JAD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4B0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Questionário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Análise  de documentos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Observação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12" name="Google Shape;412;p25"/>
          <p:cNvSpPr txBox="1"/>
          <p:nvPr/>
        </p:nvSpPr>
        <p:spPr>
          <a:xfrm>
            <a:off x="1066800" y="2968108"/>
            <a:ext cx="9791700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Conjunto de Aplicação (JAD)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uma técnica de coleta de informações que permite à equipe de projeto, aos usuários e a gerência trabalharem em conjunto a fim de identificar requisitos para o sistema.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Seleção dos Participantes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Planejando a Sessão JAD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Preparação para a Sessão JAD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Condução da Sessão JAD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Acompanhamento Pós-Sessão JAD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278" y="1386211"/>
            <a:ext cx="1383868" cy="1037901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26"/>
          <p:cNvSpPr txBox="1"/>
          <p:nvPr/>
        </p:nvSpPr>
        <p:spPr>
          <a:xfrm>
            <a:off x="1228251" y="2424112"/>
            <a:ext cx="9989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Usuários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6"/>
          <p:cNvSpPr txBox="1"/>
          <p:nvPr/>
        </p:nvSpPr>
        <p:spPr>
          <a:xfrm>
            <a:off x="3571874" y="1674328"/>
            <a:ext cx="4680448" cy="461665"/>
          </a:xfrm>
          <a:prstGeom prst="rect">
            <a:avLst/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Técnicas de Elicitação de Requisitos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1" name="Google Shape;421;p26"/>
          <p:cNvGraphicFramePr/>
          <p:nvPr/>
        </p:nvGraphicFramePr>
        <p:xfrm>
          <a:off x="1368673" y="55869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{0A886E18-4E8B-43D8-82EB-8B1C6A0CDE77}</a:tableStyleId>
              </a:tblPr>
              <a:tblGrid>
                <a:gridCol w="1893575"/>
                <a:gridCol w="1893575"/>
                <a:gridCol w="1893575"/>
                <a:gridCol w="2429550"/>
                <a:gridCol w="1357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Entrevista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Aplicação JAD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Questionário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4B0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Análise  de documentos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Observação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22" name="Google Shape;422;p26"/>
          <p:cNvSpPr txBox="1"/>
          <p:nvPr/>
        </p:nvSpPr>
        <p:spPr>
          <a:xfrm>
            <a:off x="1066800" y="2968108"/>
            <a:ext cx="979170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Questionário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questionário é um conjunto de perguntas escritas para obter informações de indivíduos. Eles são usados quando há um grande numero de pessoas de quem as informações e opiniões são necessários. Hoje em dia, cada vez mais questionários estão distribuídos de forma eletrônica.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Etapas: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Seleção dos Participantes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Elaborando o questionário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Administrando o questionário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Acompanhamento do questionário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278" y="1386211"/>
            <a:ext cx="1383868" cy="1037901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27"/>
          <p:cNvSpPr txBox="1"/>
          <p:nvPr/>
        </p:nvSpPr>
        <p:spPr>
          <a:xfrm>
            <a:off x="1228251" y="2424112"/>
            <a:ext cx="9989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Usuários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7"/>
          <p:cNvSpPr txBox="1"/>
          <p:nvPr/>
        </p:nvSpPr>
        <p:spPr>
          <a:xfrm>
            <a:off x="3571874" y="1674328"/>
            <a:ext cx="4680448" cy="461665"/>
          </a:xfrm>
          <a:prstGeom prst="rect">
            <a:avLst/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Técnicas de Elicitação de Requisitos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1" name="Google Shape;431;p27"/>
          <p:cNvGraphicFramePr/>
          <p:nvPr/>
        </p:nvGraphicFramePr>
        <p:xfrm>
          <a:off x="1368673" y="55869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{0A886E18-4E8B-43D8-82EB-8B1C6A0CDE77}</a:tableStyleId>
              </a:tblPr>
              <a:tblGrid>
                <a:gridCol w="1893575"/>
                <a:gridCol w="1893575"/>
                <a:gridCol w="1893575"/>
                <a:gridCol w="2429550"/>
                <a:gridCol w="1357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Entrevista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Aplicação JAD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Questionário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Análise  de documentos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4B0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Observação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32" name="Google Shape;432;p27"/>
          <p:cNvSpPr txBox="1"/>
          <p:nvPr/>
        </p:nvSpPr>
        <p:spPr>
          <a:xfrm>
            <a:off x="1057275" y="2968108"/>
            <a:ext cx="979170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Análise de documentos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equipe de projetos usam frequentemente a análise de documentos para compreender o sistema atual existente. Em condições ideais, a equipe de projeto  que o desenvolveu produziu uma documentação que foi seguida, atualizada para todos os projetos subsequentes. Mas quase isso não é verdadeiro.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resolver esse empasse: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Utilizar a documentação disponível:  (relatórios em papel, memorandos, manuais de politicas da empresas, manuais de treinamento de usuários do sistema podem ser valiosas fontes de informações.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278" y="1386211"/>
            <a:ext cx="1383868" cy="1037901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8"/>
          <p:cNvSpPr txBox="1"/>
          <p:nvPr/>
        </p:nvSpPr>
        <p:spPr>
          <a:xfrm>
            <a:off x="1228251" y="2424112"/>
            <a:ext cx="9989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Usuários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8"/>
          <p:cNvSpPr txBox="1"/>
          <p:nvPr/>
        </p:nvSpPr>
        <p:spPr>
          <a:xfrm>
            <a:off x="3571874" y="1674328"/>
            <a:ext cx="4680448" cy="461665"/>
          </a:xfrm>
          <a:prstGeom prst="rect">
            <a:avLst/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Técnicas de Elicitação de Requisitos</a:t>
            </a:r>
            <a:endParaRPr b="1"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1" name="Google Shape;441;p28"/>
          <p:cNvGraphicFramePr/>
          <p:nvPr/>
        </p:nvGraphicFramePr>
        <p:xfrm>
          <a:off x="1368673" y="55869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{0A886E18-4E8B-43D8-82EB-8B1C6A0CDE77}</a:tableStyleId>
              </a:tblPr>
              <a:tblGrid>
                <a:gridCol w="1893575"/>
                <a:gridCol w="1893575"/>
                <a:gridCol w="1893575"/>
                <a:gridCol w="2429550"/>
                <a:gridCol w="1357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Entrevista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Aplicação JAD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Questionário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Análise  de documentos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/>
                        <a:t>Observação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4B081"/>
                    </a:solidFill>
                  </a:tcPr>
                </a:tc>
              </a:tr>
            </a:tbl>
          </a:graphicData>
        </a:graphic>
      </p:graphicFrame>
      <p:sp>
        <p:nvSpPr>
          <p:cNvPr id="442" name="Google Shape;442;p28"/>
          <p:cNvSpPr txBox="1"/>
          <p:nvPr/>
        </p:nvSpPr>
        <p:spPr>
          <a:xfrm>
            <a:off x="1066800" y="2968108"/>
            <a:ext cx="97917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Observação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Verificar atentamente processos em execução, é uma ferramenta poderosa para obter uma noção sobre o sistema existente. Ela permite ao analista ver a realidade de uma situação, em vez de escutar outras pessoas descrevê-la em entrevistas ou sessões JAD.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Geralmente a observação é usada para complementar as informações da entrevista.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 maioria dos casos, a observação dará sustentação às informações que os usuários fornecem em entrevistas.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/>
              <a:t>Requisitos Suplementares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São todo tipo de restrição tecnológica ou logica que se aplica ao sistema como um todo e não apenas a funções individuais.</a:t>
            </a:r>
            <a:endParaRPr sz="20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pt-BR" sz="2000"/>
              <a:t>Exemplo:</a:t>
            </a:r>
            <a:endParaRPr sz="2000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❑"/>
            </a:pPr>
            <a:r>
              <a:rPr lang="pt-BR"/>
              <a:t> O sistema deverá ser compatível com um banco de dados legado ou ser implementado em uma determinada linguagem de programação.</a:t>
            </a:r>
            <a:endParaRPr/>
          </a:p>
          <a:p>
            <a:pPr indent="0" lvl="2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448" name="Google Shape;448;p29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9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Professor: Jorge Roberto Nogueira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pt-BR"/>
              <a:t>Análise de Requisitos</a:t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Estrutura e detalha os requisitos para a fase de elaboração.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Desenvolve outros elementos como caso de uso, classes e interfaces.</a:t>
            </a:r>
            <a:endParaRPr/>
          </a:p>
        </p:txBody>
      </p:sp>
      <p:sp>
        <p:nvSpPr>
          <p:cNvPr id="455" name="Google Shape;455;p30"/>
          <p:cNvSpPr txBox="1"/>
          <p:nvPr>
            <p:ph idx="10" type="dt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0"/>
          <p:cNvSpPr txBox="1"/>
          <p:nvPr>
            <p:ph idx="11" type="ftr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Professor: Jorge Roberto Nogueira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1"/>
          <p:cNvSpPr txBox="1"/>
          <p:nvPr>
            <p:ph idx="11" type="ftr"/>
          </p:nvPr>
        </p:nvSpPr>
        <p:spPr>
          <a:xfrm>
            <a:off x="4442671" y="5744108"/>
            <a:ext cx="3563816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Jorge Roberto Nogueira</a:t>
            </a:r>
            <a:endParaRPr/>
          </a:p>
        </p:txBody>
      </p:sp>
      <p:sp>
        <p:nvSpPr>
          <p:cNvPr id="462" name="Google Shape;462;p31"/>
          <p:cNvSpPr/>
          <p:nvPr/>
        </p:nvSpPr>
        <p:spPr>
          <a:xfrm>
            <a:off x="988874" y="1552947"/>
            <a:ext cx="8426215" cy="50825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3" name="Google Shape;46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4297" y="1521452"/>
            <a:ext cx="9723407" cy="4700422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31"/>
          <p:cNvSpPr/>
          <p:nvPr/>
        </p:nvSpPr>
        <p:spPr>
          <a:xfrm>
            <a:off x="1397911" y="3337246"/>
            <a:ext cx="1227119" cy="36004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1"/>
          <p:cNvSpPr/>
          <p:nvPr/>
        </p:nvSpPr>
        <p:spPr>
          <a:xfrm>
            <a:off x="3034071" y="3337923"/>
            <a:ext cx="1227119" cy="36004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1"/>
          <p:cNvSpPr/>
          <p:nvPr/>
        </p:nvSpPr>
        <p:spPr>
          <a:xfrm>
            <a:off x="4752037" y="3337923"/>
            <a:ext cx="1227119" cy="36004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1"/>
          <p:cNvSpPr/>
          <p:nvPr/>
        </p:nvSpPr>
        <p:spPr>
          <a:xfrm>
            <a:off x="6224579" y="3337923"/>
            <a:ext cx="1390735" cy="36004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1"/>
          <p:cNvSpPr/>
          <p:nvPr/>
        </p:nvSpPr>
        <p:spPr>
          <a:xfrm>
            <a:off x="7778929" y="3337246"/>
            <a:ext cx="1472543" cy="36004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1"/>
          <p:cNvSpPr/>
          <p:nvPr/>
        </p:nvSpPr>
        <p:spPr>
          <a:xfrm>
            <a:off x="9419057" y="3337923"/>
            <a:ext cx="1472543" cy="36004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1"/>
          <p:cNvSpPr/>
          <p:nvPr/>
        </p:nvSpPr>
        <p:spPr>
          <a:xfrm>
            <a:off x="1275201" y="5737514"/>
            <a:ext cx="1472543" cy="36004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1"/>
          <p:cNvSpPr/>
          <p:nvPr/>
        </p:nvSpPr>
        <p:spPr>
          <a:xfrm>
            <a:off x="2952263" y="5743600"/>
            <a:ext cx="1472543" cy="36004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1"/>
          <p:cNvSpPr/>
          <p:nvPr/>
        </p:nvSpPr>
        <p:spPr>
          <a:xfrm>
            <a:off x="4629326" y="5743600"/>
            <a:ext cx="1472543" cy="36004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1"/>
          <p:cNvSpPr/>
          <p:nvPr/>
        </p:nvSpPr>
        <p:spPr>
          <a:xfrm>
            <a:off x="6224579" y="5749684"/>
            <a:ext cx="1472543" cy="36004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1"/>
          <p:cNvSpPr/>
          <p:nvPr/>
        </p:nvSpPr>
        <p:spPr>
          <a:xfrm>
            <a:off x="7778929" y="5749684"/>
            <a:ext cx="1472543" cy="36004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1"/>
          <p:cNvSpPr/>
          <p:nvPr/>
        </p:nvSpPr>
        <p:spPr>
          <a:xfrm>
            <a:off x="9500500" y="5701305"/>
            <a:ext cx="1391099" cy="508475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2015-01-01T13:48:00Z</dcterms:created>
  <dc:creator>Jorge Roberto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D6F82087BE964719BB5DC955D1540532_12</vt:lpwstr>
  </property>
  <property fmtid="{D5CDD505-2E9C-101B-9397-08002B2CF9AE}" pid="3" name="KSOProductBuildVer">
    <vt:lpwstr>1046-12.2.0.17119</vt:lpwstr>
  </property>
</Properties>
</file>