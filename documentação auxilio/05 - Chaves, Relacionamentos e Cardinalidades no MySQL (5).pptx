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7099300" cy="10234600"/>
  <p:embeddedFontLst>
    <p:embeddedFont>
      <p:font typeface="Tahom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UgqE9RnWapcFNtCKrQrsRhynn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Tahom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 txBox="1"/>
          <p:nvPr>
            <p:ph idx="12" type="sldNum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7" name="Google Shape;67;p1:notes"/>
          <p:cNvSpPr txBox="1"/>
          <p:nvPr>
            <p:ph idx="10" type="dt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 txBox="1"/>
          <p:nvPr>
            <p:ph idx="11" type="ftr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Fabrício Curvello Gomes</a:t>
            </a:r>
            <a:endParaRPr/>
          </a:p>
        </p:txBody>
      </p:sp>
      <p:sp>
        <p:nvSpPr>
          <p:cNvPr id="69" name="Google Shape;69;p1:notes"/>
          <p:cNvSpPr txBox="1"/>
          <p:nvPr>
            <p:ph idx="3" type="hdr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BD - TI - 07 - Chaves, Relacionamentos e Cardinalidades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8b3e4ffaf_0_0:notes"/>
          <p:cNvSpPr txBox="1"/>
          <p:nvPr>
            <p:ph idx="1" type="body"/>
          </p:nvPr>
        </p:nvSpPr>
        <p:spPr>
          <a:xfrm>
            <a:off x="709930" y="4861441"/>
            <a:ext cx="5679300" cy="4605600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8b3e4ffaf_0_0:notes"/>
          <p:cNvSpPr/>
          <p:nvPr>
            <p:ph idx="2" type="sldImg"/>
          </p:nvPr>
        </p:nvSpPr>
        <p:spPr>
          <a:xfrm>
            <a:off x="992188" y="768350"/>
            <a:ext cx="5115000" cy="383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992188" y="768350"/>
            <a:ext cx="5114925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:notes"/>
          <p:cNvSpPr txBox="1"/>
          <p:nvPr>
            <p:ph idx="12" type="sldNum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4" name="Google Shape;264;p23:notes"/>
          <p:cNvSpPr txBox="1"/>
          <p:nvPr>
            <p:ph idx="10" type="dt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:notes"/>
          <p:cNvSpPr txBox="1"/>
          <p:nvPr>
            <p:ph idx="11" type="ftr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Fabrício Curvello Gomes</a:t>
            </a:r>
            <a:endParaRPr/>
          </a:p>
        </p:txBody>
      </p:sp>
      <p:sp>
        <p:nvSpPr>
          <p:cNvPr id="266" name="Google Shape;266;p23:notes"/>
          <p:cNvSpPr txBox="1"/>
          <p:nvPr>
            <p:ph idx="3" type="hdr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25" spcFirstLastPara="1" rIns="99025" wrap="square" tIns="49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BD - TI - 07 - Chaves, Relacionamentos e Cardinalidades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457200" y="1916832"/>
            <a:ext cx="8229600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457200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1" name="Google Shape;31;p28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7" name="Google Shape;37;p29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8" name="Google Shape;38;p29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type="title"/>
          </p:nvPr>
        </p:nvSpPr>
        <p:spPr>
          <a:xfrm>
            <a:off x="457202" y="980728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3575050" y="980729"/>
            <a:ext cx="5111750" cy="5145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8" name="Google Shape;48;p32"/>
          <p:cNvSpPr txBox="1"/>
          <p:nvPr>
            <p:ph idx="2" type="body"/>
          </p:nvPr>
        </p:nvSpPr>
        <p:spPr>
          <a:xfrm>
            <a:off x="457202" y="2132857"/>
            <a:ext cx="3008313" cy="3993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/>
          <p:nvPr>
            <p:ph idx="2" type="pic"/>
          </p:nvPr>
        </p:nvSpPr>
        <p:spPr>
          <a:xfrm>
            <a:off x="1792288" y="1052737"/>
            <a:ext cx="5486400" cy="3674839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33"/>
          <p:cNvSpPr txBox="1"/>
          <p:nvPr>
            <p:ph idx="1" type="body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54" name="Google Shape;54;p3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 txBox="1"/>
          <p:nvPr>
            <p:ph type="title"/>
          </p:nvPr>
        </p:nvSpPr>
        <p:spPr>
          <a:xfrm>
            <a:off x="457200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" type="body"/>
          </p:nvPr>
        </p:nvSpPr>
        <p:spPr>
          <a:xfrm rot="5400000">
            <a:off x="2611351" y="50715"/>
            <a:ext cx="3921299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5"/>
          <p:cNvSpPr txBox="1"/>
          <p:nvPr>
            <p:ph type="title"/>
          </p:nvPr>
        </p:nvSpPr>
        <p:spPr>
          <a:xfrm rot="5400000">
            <a:off x="5085383" y="2524746"/>
            <a:ext cx="514543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5"/>
          <p:cNvSpPr txBox="1"/>
          <p:nvPr>
            <p:ph idx="1" type="body"/>
          </p:nvPr>
        </p:nvSpPr>
        <p:spPr>
          <a:xfrm rot="5400000">
            <a:off x="894383" y="543546"/>
            <a:ext cx="514543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2" name="Google Shape;62;p3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90872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2204865"/>
            <a:ext cx="8229600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" name="Google Shape;13;p24"/>
          <p:cNvSpPr/>
          <p:nvPr/>
        </p:nvSpPr>
        <p:spPr>
          <a:xfrm>
            <a:off x="611188" y="1600200"/>
            <a:ext cx="8075612" cy="463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4"/>
          <p:cNvSpPr/>
          <p:nvPr/>
        </p:nvSpPr>
        <p:spPr>
          <a:xfrm>
            <a:off x="611188" y="1600200"/>
            <a:ext cx="8075612" cy="463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4"/>
          <p:cNvSpPr/>
          <p:nvPr/>
        </p:nvSpPr>
        <p:spPr>
          <a:xfrm>
            <a:off x="611188" y="1600200"/>
            <a:ext cx="8075612" cy="4637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7.jpg"/><Relationship Id="rId5" Type="http://schemas.openxmlformats.org/officeDocument/2006/relationships/image" Target="../media/image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8.jpg"/><Relationship Id="rId5" Type="http://schemas.openxmlformats.org/officeDocument/2006/relationships/package" Target="../embeddings/Microsoft_Excel_Sheet1.xlsx"/><Relationship Id="rId6" Type="http://schemas.openxmlformats.org/officeDocument/2006/relationships/package" Target="../embeddings/Microsoft_Excel_Sheet1.xlsx"/><Relationship Id="rId7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Relationship Id="rId4" Type="http://schemas.openxmlformats.org/officeDocument/2006/relationships/image" Target="../media/image16.jpg"/><Relationship Id="rId5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Relationship Id="rId4" Type="http://schemas.openxmlformats.org/officeDocument/2006/relationships/image" Target="../media/image16.jpg"/><Relationship Id="rId5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"/>
          <p:cNvSpPr txBox="1"/>
          <p:nvPr/>
        </p:nvSpPr>
        <p:spPr>
          <a:xfrm>
            <a:off x="107504" y="3091607"/>
            <a:ext cx="892899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Banco de Dados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2143108" y="6215082"/>
            <a:ext cx="65373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Fabrício Curvello Gomes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4000">
        <p14:vortex dir="r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785786" y="4221088"/>
            <a:ext cx="7599394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Chaves, Relacionamentos e</a:t>
            </a:r>
            <a:endParaRPr/>
          </a:p>
          <a:p>
            <a:pPr indent="0" lvl="0" marL="0" marR="0" rtl="0" algn="ctr">
              <a:spcBef>
                <a:spcPts val="220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Cardinalidades no MySQL</a:t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1547664" y="2420888"/>
            <a:ext cx="1224136" cy="54620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860470" y="2276872"/>
            <a:ext cx="1503618" cy="792088"/>
          </a:xfrm>
          <a:prstGeom prst="flowChartDecision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2"/>
          <p:cNvCxnSpPr>
            <a:stCxn id="79" idx="1"/>
            <a:endCxn id="78" idx="3"/>
          </p:cNvCxnSpPr>
          <p:nvPr/>
        </p:nvCxnSpPr>
        <p:spPr>
          <a:xfrm flipH="1">
            <a:off x="2771770" y="2672916"/>
            <a:ext cx="1088700" cy="210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2"/>
          <p:cNvSpPr txBox="1"/>
          <p:nvPr/>
        </p:nvSpPr>
        <p:spPr>
          <a:xfrm>
            <a:off x="2771800" y="2420888"/>
            <a:ext cx="48249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(0,1)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6444208" y="2420888"/>
            <a:ext cx="1224685" cy="52501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2"/>
          <p:cNvCxnSpPr>
            <a:stCxn id="82" idx="1"/>
            <a:endCxn id="79" idx="3"/>
          </p:cNvCxnSpPr>
          <p:nvPr/>
        </p:nvCxnSpPr>
        <p:spPr>
          <a:xfrm rot="10800000">
            <a:off x="5364208" y="2672897"/>
            <a:ext cx="1080000" cy="10500"/>
          </a:xfrm>
          <a:prstGeom prst="straightConnector1">
            <a:avLst/>
          </a:prstGeom>
          <a:noFill/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4" name="Google Shape;84;p2"/>
          <p:cNvSpPr txBox="1"/>
          <p:nvPr/>
        </p:nvSpPr>
        <p:spPr>
          <a:xfrm>
            <a:off x="6012160" y="2420888"/>
            <a:ext cx="48249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(1,N)</a:t>
            </a:r>
            <a:endParaRPr/>
          </a:p>
        </p:txBody>
      </p:sp>
      <p:cxnSp>
        <p:nvCxnSpPr>
          <p:cNvPr id="85" name="Google Shape;85;p2"/>
          <p:cNvCxnSpPr>
            <a:endCxn id="86" idx="4"/>
          </p:cNvCxnSpPr>
          <p:nvPr/>
        </p:nvCxnSpPr>
        <p:spPr>
          <a:xfrm rot="10800000">
            <a:off x="1835126" y="2203724"/>
            <a:ext cx="600" cy="2172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6" name="Google Shape;86;p2"/>
          <p:cNvSpPr/>
          <p:nvPr/>
        </p:nvSpPr>
        <p:spPr>
          <a:xfrm>
            <a:off x="1763688" y="2060848"/>
            <a:ext cx="142876" cy="142876"/>
          </a:xfrm>
          <a:prstGeom prst="ellipse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 txBox="1"/>
          <p:nvPr>
            <p:ph type="title"/>
          </p:nvPr>
        </p:nvSpPr>
        <p:spPr>
          <a:xfrm>
            <a:off x="25152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Chaves</a:t>
            </a:r>
            <a:endParaRPr/>
          </a:p>
        </p:txBody>
      </p:sp>
      <p:sp>
        <p:nvSpPr>
          <p:cNvPr id="92" name="Google Shape;92;p3"/>
          <p:cNvSpPr txBox="1"/>
          <p:nvPr>
            <p:ph idx="1" type="body"/>
          </p:nvPr>
        </p:nvSpPr>
        <p:spPr>
          <a:xfrm>
            <a:off x="251520" y="1700808"/>
            <a:ext cx="8640960" cy="4464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Em um banco de dados, podemos trabalhar com chaves, que podem ser: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pt-BR"/>
              <a:t> </a:t>
            </a:r>
            <a:r>
              <a:rPr b="1" lang="pt-BR"/>
              <a:t>Chave Primária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pt-BR"/>
              <a:t> Chave Estrangeira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b="1" sz="800"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b="1" lang="pt-BR"/>
              <a:t> Chave Alternativa </a:t>
            </a:r>
            <a:r>
              <a:rPr lang="pt-BR"/>
              <a:t>(que também pode ser chamada de </a:t>
            </a:r>
            <a:r>
              <a:rPr b="1" lang="pt-BR"/>
              <a:t>Chave Candidata</a:t>
            </a:r>
            <a:r>
              <a:rPr lang="pt-BR"/>
              <a:t>)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Já vimos estes conceitos em </a:t>
            </a:r>
            <a:r>
              <a:rPr b="1" lang="pt-BR"/>
              <a:t>Modelagem de Banco de Dados</a:t>
            </a:r>
            <a:r>
              <a:rPr lang="pt-BR"/>
              <a:t>. Caso queira relembrar, consulte o arquivo “</a:t>
            </a:r>
            <a:r>
              <a:rPr b="1" i="1" lang="pt-BR"/>
              <a:t>BD – TI – 03 – Abordagem Relacional</a:t>
            </a:r>
            <a:r>
              <a:rPr lang="pt-BR"/>
              <a:t>”.</a:t>
            </a:r>
            <a:endParaRPr/>
          </a:p>
        </p:txBody>
      </p:sp>
      <p:sp>
        <p:nvSpPr>
          <p:cNvPr id="93" name="Google Shape;93;p3"/>
          <p:cNvSpPr txBox="1"/>
          <p:nvPr>
            <p:ph idx="12" type="sldNum"/>
          </p:nvPr>
        </p:nvSpPr>
        <p:spPr>
          <a:xfrm>
            <a:off x="6758880" y="63371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Chave Primária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5895" y="2329071"/>
            <a:ext cx="1368153" cy="1206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ve Alternativa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4208" y="2348880"/>
            <a:ext cx="1152128" cy="11521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ve Estrangeira.png" id="96" name="Google Shape;9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1432" y="2348880"/>
            <a:ext cx="1186752" cy="1186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25152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Chave Primária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251520" y="2348880"/>
            <a:ext cx="8640960" cy="273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No </a:t>
            </a:r>
            <a:r>
              <a:rPr b="1" lang="pt-BR"/>
              <a:t>MySQL</a:t>
            </a:r>
            <a:r>
              <a:rPr lang="pt-BR"/>
              <a:t>, já estamos trabalhando com vários exercícios contendo tabelas com chaves primárias.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A cláusula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r>
              <a:rPr lang="pt-BR"/>
              <a:t> já foi utilizada diversas vezes, sempre que foi criada uma nova tabela. Este assunto já está explicado perfeitamente nos arquivos anteriores.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Qualquer dúvida, reveja as tabelas que foram criadas desde o arquivo “</a:t>
            </a:r>
            <a:r>
              <a:rPr b="1" i="1" lang="pt-BR"/>
              <a:t>BD - TI - 05 - Criando um Banco de Dados no MySQL</a:t>
            </a:r>
            <a:r>
              <a:rPr lang="pt-BR"/>
              <a:t>”.</a:t>
            </a:r>
            <a:endParaRPr/>
          </a:p>
        </p:txBody>
      </p:sp>
      <p:sp>
        <p:nvSpPr>
          <p:cNvPr id="104" name="Google Shape;104;p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Chave Primária.png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0296" y="908720"/>
            <a:ext cx="937432" cy="826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25152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Chave Estrangeira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251520" y="2348880"/>
            <a:ext cx="8640960" cy="36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No </a:t>
            </a:r>
            <a:r>
              <a:rPr b="1" lang="pt-BR"/>
              <a:t>MySQL</a:t>
            </a:r>
            <a:r>
              <a:rPr lang="pt-BR"/>
              <a:t>, ainda não trabalhamos com Chave Estrangeira.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A cláusula que faz referência à uma chave estrangeira é 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FOREIGN KEY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Veremos mais adiante como se trabalha no </a:t>
            </a:r>
            <a:r>
              <a:rPr b="1" lang="pt-BR"/>
              <a:t>MySQL</a:t>
            </a:r>
            <a:r>
              <a:rPr lang="pt-BR"/>
              <a:t> com as chaves estrangeiras.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Vamos, antes disso, concluir toda esta teoria conceitual.</a:t>
            </a:r>
            <a:endParaRPr/>
          </a:p>
        </p:txBody>
      </p:sp>
      <p:sp>
        <p:nvSpPr>
          <p:cNvPr id="113" name="Google Shape;113;p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Chave Estrangeira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0336" y="908720"/>
            <a:ext cx="864096" cy="86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230832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Chave Alternativa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251520" y="2348880"/>
            <a:ext cx="8640960" cy="36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Também não estudamos ainda no </a:t>
            </a:r>
            <a:r>
              <a:rPr b="1" lang="pt-BR"/>
              <a:t>MySQL</a:t>
            </a:r>
            <a:r>
              <a:rPr lang="pt-BR"/>
              <a:t> como se trabalha com as chaves alternativas.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A chave alternativa também pode ser chamada de </a:t>
            </a:r>
            <a:r>
              <a:rPr b="1" lang="pt-BR"/>
              <a:t>chave candidata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Para se criar uma chave candidata no </a:t>
            </a:r>
            <a:r>
              <a:rPr b="1" lang="pt-BR"/>
              <a:t>MySQL</a:t>
            </a:r>
            <a:r>
              <a:rPr lang="pt-BR"/>
              <a:t>, utiliza-se a cláusula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UNIQUE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Conforme dito anteriormente, veremos após esta etapa conceitual, como se trabalha no </a:t>
            </a:r>
            <a:r>
              <a:rPr b="1" lang="pt-BR"/>
              <a:t>MySQL</a:t>
            </a:r>
            <a:r>
              <a:rPr lang="pt-BR"/>
              <a:t> com as chaves alternativas.</a:t>
            </a:r>
            <a:endParaRPr/>
          </a:p>
        </p:txBody>
      </p:sp>
      <p:sp>
        <p:nvSpPr>
          <p:cNvPr id="122" name="Google Shape;122;p6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Chave Alternativa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1656" y="874096"/>
            <a:ext cx="898720" cy="89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25152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Cardinalidades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251520" y="1772816"/>
            <a:ext cx="8640960" cy="417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Conforme também vimos na modelagem de BD, as </a:t>
            </a:r>
            <a:r>
              <a:rPr b="1" lang="pt-BR"/>
              <a:t>cardinalidades máximas</a:t>
            </a:r>
            <a:r>
              <a:rPr lang="pt-BR"/>
              <a:t> entre os relacionamentos podem ser: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pt-BR"/>
              <a:t> Relacionamento de 1 para 1 – (1:1)</a:t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pt-BR"/>
              <a:t> Relacionamento de 1 para N (ou de N para 1) – (1:N)</a:t>
            </a:r>
            <a:endParaRPr/>
          </a:p>
          <a:p>
            <a:pPr indent="-1524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pt-BR"/>
              <a:t> Relacionamento de N para N – (N:N)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As cardinalidades serão importantíssimas no momento de criação de relacionamentos no </a:t>
            </a:r>
            <a:r>
              <a:rPr b="1" lang="pt-BR"/>
              <a:t>MySQL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Caso tenha esquecido, considere o fato de dar uma revisada no arquivo “</a:t>
            </a:r>
            <a:r>
              <a:rPr b="1" i="1" lang="pt-BR"/>
              <a:t>BD - TI - 02 - Abordagem Entidade-Relacionamento</a:t>
            </a:r>
            <a:r>
              <a:rPr lang="pt-BR"/>
              <a:t>”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25152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Até aqui...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251520" y="2348880"/>
            <a:ext cx="8640960" cy="36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Percebe-se que a modelagem de BD é fundamental no processo de elaboração de projetos de BD.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Toda a parte conceitual necessária à criação dos modelos será utilizada no momento de criação das tabelas e seus relacionamentos dentro do MySQL.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Vamos estudar como tudo acontece, com exemplos passo a passo, conforme estamos fazendo desde que entramos no estudo do MySQL.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25152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Novo BD no MySQL para Treino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251520" y="2420888"/>
            <a:ext cx="8640960" cy="345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Vamos criar e ativar um novo banco de dados, chamado ESCOLA: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CREATE DATABASE escola;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USE escola;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No BD escola, serão criadas duas tabelas para demonstrar o uso de chaves, sendo a tabela de </a:t>
            </a:r>
            <a:r>
              <a:rPr b="1" lang="pt-BR"/>
              <a:t>cadastro de professores (cadpro) </a:t>
            </a:r>
            <a:r>
              <a:rPr lang="pt-BR"/>
              <a:t>e a tabela de </a:t>
            </a:r>
            <a:r>
              <a:rPr b="1" lang="pt-BR"/>
              <a:t>cadastro de disciplinas (caddis)</a:t>
            </a:r>
            <a:r>
              <a:rPr lang="pt-BR"/>
              <a:t>. As estruturas estão demonstradas a seguir: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230832" y="908720"/>
            <a:ext cx="8229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Novo BD para Treino (Cont.)</a:t>
            </a:r>
            <a:endParaRPr/>
          </a:p>
        </p:txBody>
      </p:sp>
      <p:sp>
        <p:nvSpPr>
          <p:cNvPr id="154" name="Google Shape;154;p1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5" name="Google Shape;1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/>
          <p:cNvPicPr preferRelativeResize="0"/>
          <p:nvPr/>
        </p:nvPicPr>
        <p:blipFill rotWithShape="1">
          <a:blip r:embed="rId4">
            <a:alphaModFix/>
          </a:blip>
          <a:srcRect b="-583" l="17829" r="344" t="59419"/>
          <a:stretch/>
        </p:blipFill>
        <p:spPr>
          <a:xfrm>
            <a:off x="189602" y="2340015"/>
            <a:ext cx="8846894" cy="1324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608" y="4311618"/>
            <a:ext cx="6869226" cy="1485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 txBox="1"/>
          <p:nvPr/>
        </p:nvSpPr>
        <p:spPr>
          <a:xfrm>
            <a:off x="251520" y="1700808"/>
            <a:ext cx="61847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Eis a modelagem: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179512" y="908720"/>
            <a:ext cx="8229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Novo BD para Treino (Cont.)</a:t>
            </a:r>
            <a:endParaRPr/>
          </a:p>
        </p:txBody>
      </p:sp>
      <p:sp>
        <p:nvSpPr>
          <p:cNvPr id="164" name="Google Shape;164;p1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6" name="Google Shape;166;p11"/>
          <p:cNvGraphicFramePr/>
          <p:nvPr/>
        </p:nvGraphicFramePr>
        <p:xfrm>
          <a:off x="437040" y="1776413"/>
          <a:ext cx="8415419" cy="3956843"/>
        </p:xfrm>
        <a:graphic>
          <a:graphicData uri="http://schemas.openxmlformats.org/presentationml/2006/ole">
            <mc:AlternateContent>
              <mc:Choice Requires="v">
                <p:oleObj r:id="rId5" imgH="3956843" imgW="8415419" progId="Excel.Sheet.12" spid="_x0000_s1">
                  <p:embed/>
                </p:oleObj>
              </mc:Choice>
              <mc:Fallback>
                <p:oleObj r:id="rId6" imgH="3956843" imgW="8415419" progId="Excel.Sheet.12">
                  <p:embed/>
                  <p:pic>
                    <p:nvPicPr>
                      <p:cNvPr id="166" name="Google Shape;166;p1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37040" y="1776413"/>
                        <a:ext cx="8415419" cy="39568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230832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Novo BD para Treino (Cont.)</a:t>
            </a:r>
            <a:endParaRPr/>
          </a:p>
        </p:txBody>
      </p:sp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251520" y="1988840"/>
            <a:ext cx="8640960" cy="3456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Criando primeiramente só as tabelas: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CREATE TABLE cadpro (CODPRO INT(3) NOT NULL  AUTO_INCREMENT PRIMARY KEY, NOMEPRO VARCHAR(40) NOT NULL, CPF CHAR(11) NOT NULL UNIQUE);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CREATE TABLE caddis (CODDIS CHAR(6) NOT NULL PRIMARY KEY, NOMEDIS VARCHAR(40) NOT NULL, CODPRO INTEGER(3));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4" name="Google Shape;1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/>
          <p:nvPr/>
        </p:nvSpPr>
        <p:spPr>
          <a:xfrm>
            <a:off x="-180528" y="0"/>
            <a:ext cx="9324528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 txBox="1"/>
          <p:nvPr>
            <p:ph type="title"/>
          </p:nvPr>
        </p:nvSpPr>
        <p:spPr>
          <a:xfrm>
            <a:off x="35496" y="-27384"/>
            <a:ext cx="8568952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Preparação para o Relacionamento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107504" y="620688"/>
            <a:ext cx="8712968" cy="295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Após a criação das tabelas </a:t>
            </a:r>
            <a:r>
              <a:rPr b="1" lang="pt-BR" sz="2000"/>
              <a:t>cadpro</a:t>
            </a:r>
            <a:r>
              <a:rPr lang="pt-BR" sz="2000"/>
              <a:t> e </a:t>
            </a:r>
            <a:r>
              <a:rPr b="1" lang="pt-BR" sz="2000"/>
              <a:t>caddis</a:t>
            </a:r>
            <a:r>
              <a:rPr lang="pt-BR" sz="2000"/>
              <a:t>, é necessário preparar o relacionamento propriamente dito que existirá entre estas tabelas.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É preciso definir uma restrição de </a:t>
            </a:r>
            <a:r>
              <a:rPr b="1" lang="pt-BR" sz="2000"/>
              <a:t>chave estrangeira</a:t>
            </a:r>
            <a:r>
              <a:rPr lang="pt-BR" sz="2000"/>
              <a:t> na tabela </a:t>
            </a:r>
            <a:r>
              <a:rPr b="1" lang="pt-BR" sz="2000"/>
              <a:t>caddis</a:t>
            </a:r>
            <a:r>
              <a:rPr lang="pt-BR" sz="2000"/>
              <a:t>, que indique seu vínculo de relação entre o campo CODPRO da tabela </a:t>
            </a:r>
            <a:r>
              <a:rPr b="1" lang="pt-BR" sz="2000"/>
              <a:t>caddis</a:t>
            </a:r>
            <a:r>
              <a:rPr lang="pt-BR" sz="2000"/>
              <a:t> e o campo CODPRO da tabela </a:t>
            </a:r>
            <a:r>
              <a:rPr b="1" lang="pt-BR" sz="2000"/>
              <a:t>cadpro</a:t>
            </a:r>
            <a:r>
              <a:rPr lang="pt-BR" sz="2000"/>
              <a:t>. É necessário fazer uma pequena alteração na estrutura da tabela </a:t>
            </a:r>
            <a:r>
              <a:rPr b="1" lang="pt-BR" sz="2000"/>
              <a:t>caddis</a:t>
            </a:r>
            <a:r>
              <a:rPr lang="pt-BR" sz="2000"/>
              <a:t> com a instrução: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ALTER TABLE caddis ADD CONSTRAINT fkCODPRO FOREIGN KEY (CODPRO) REFERENCES cadpro (CODPRO)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ON UPDATE RESTRICT ON DELETE RESTRICT;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</p:txBody>
      </p:sp>
      <p:sp>
        <p:nvSpPr>
          <p:cNvPr id="182" name="Google Shape;182;p13"/>
          <p:cNvSpPr txBox="1"/>
          <p:nvPr>
            <p:ph idx="12" type="sldNum"/>
          </p:nvPr>
        </p:nvSpPr>
        <p:spPr>
          <a:xfrm>
            <a:off x="6553200" y="6409133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179512" y="3717032"/>
            <a:ext cx="8640960" cy="266429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Observe a definição, após o comando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caddis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de uma restrição (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 CONSTRAINT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de nome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fkCODPRO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como sendo a </a:t>
            </a:r>
            <a:r>
              <a:rPr i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chave estrangeira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do campo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definido como referência (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REFERENCES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direta ao campo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O comando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CONSTRAINT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 o responsável por criar de forma explícita o relacionamento do campo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caddis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o campo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Também é estabelecido por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 UPDATE RESTRICT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não pode ser alterado o campo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tenha um vínculo direto com algum registro da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caddis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pois se isso for permitido, pode gerar erros graves de integridade entre os dados das tabelas vinculadas. Já </a:t>
            </a:r>
            <a:r>
              <a:rPr b="1" lang="pt-BR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 DELETE RESTRICT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estabelece que 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não pode ter nenhum registro apagado, se existir para esse registro um vínculo direto com algum registro da tabela </a:t>
            </a:r>
            <a:r>
              <a:rPr b="1"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cadpro</a:t>
            </a: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  <p:pic>
        <p:nvPicPr>
          <p:cNvPr id="184" name="Google Shape;1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b3e4ffaf_0_0"/>
          <p:cNvSpPr/>
          <p:nvPr/>
        </p:nvSpPr>
        <p:spPr>
          <a:xfrm>
            <a:off x="-180528" y="0"/>
            <a:ext cx="9324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f8b3e4ffaf_0_0"/>
          <p:cNvSpPr txBox="1"/>
          <p:nvPr>
            <p:ph type="title"/>
          </p:nvPr>
        </p:nvSpPr>
        <p:spPr>
          <a:xfrm>
            <a:off x="35496" y="-27384"/>
            <a:ext cx="8568900" cy="7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Preparação para o Relacionamento</a:t>
            </a:r>
            <a:endParaRPr/>
          </a:p>
        </p:txBody>
      </p:sp>
      <p:sp>
        <p:nvSpPr>
          <p:cNvPr id="191" name="Google Shape;191;g3f8b3e4ffaf_0_0"/>
          <p:cNvSpPr txBox="1"/>
          <p:nvPr>
            <p:ph idx="1" type="body"/>
          </p:nvPr>
        </p:nvSpPr>
        <p:spPr>
          <a:xfrm>
            <a:off x="107504" y="620688"/>
            <a:ext cx="87129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ALTER TABLE caddis ADD CONSTRAINT fkCODPRO FOREIGN KEY (CODPRO) REFERENCES cadpro (CODPRO)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ON UPDATE RESTRICT ON DELETE RESTRICT;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</p:txBody>
      </p:sp>
      <p:sp>
        <p:nvSpPr>
          <p:cNvPr id="192" name="Google Shape;192;g3f8b3e4ffaf_0_0"/>
          <p:cNvSpPr txBox="1"/>
          <p:nvPr>
            <p:ph idx="12" type="sldNum"/>
          </p:nvPr>
        </p:nvSpPr>
        <p:spPr>
          <a:xfrm>
            <a:off x="6553200" y="6409133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3" name="Google Shape;193;g3f8b3e4ffaf_0_0"/>
          <p:cNvSpPr/>
          <p:nvPr/>
        </p:nvSpPr>
        <p:spPr>
          <a:xfrm>
            <a:off x="179512" y="3717032"/>
            <a:ext cx="8640900" cy="26643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"Altere a tabela caddis, adicionando uma restrição chamada fkCODPRO, onde a coluna CODPRO é uma chave estrangeira que faz referência à coluna CODPRO da tabela cadpro. Não permita atualizar nem excluir o CODPRO da tabela cadpro enquanto ele estiver sendo utilizado pela tabela caddis."</a:t>
            </a:r>
            <a:r>
              <a:rPr lang="pt-BR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194" name="Google Shape;194;g3f8b3e4ffa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 txBox="1"/>
          <p:nvPr>
            <p:ph type="title"/>
          </p:nvPr>
        </p:nvSpPr>
        <p:spPr>
          <a:xfrm>
            <a:off x="230832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Novo BD para Treino (Cont.)</a:t>
            </a:r>
            <a:endParaRPr/>
          </a:p>
        </p:txBody>
      </p:sp>
      <p:sp>
        <p:nvSpPr>
          <p:cNvPr id="200" name="Google Shape;200;p14"/>
          <p:cNvSpPr txBox="1"/>
          <p:nvPr>
            <p:ph idx="1" type="body"/>
          </p:nvPr>
        </p:nvSpPr>
        <p:spPr>
          <a:xfrm>
            <a:off x="251520" y="1988840"/>
            <a:ext cx="8640960" cy="417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Calibri"/>
              <a:buNone/>
            </a:pPr>
            <a:r>
              <a:rPr b="1" lang="pt-BR">
                <a:solidFill>
                  <a:srgbClr val="FF0000"/>
                </a:solidFill>
              </a:rPr>
              <a:t>OBSERVAÇÃO: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A tabela </a:t>
            </a:r>
            <a:r>
              <a:rPr b="1" lang="pt-BR"/>
              <a:t>caddis</a:t>
            </a:r>
            <a:r>
              <a:rPr lang="pt-BR"/>
              <a:t> poderia ser criada já contendo com o relacionamento que foi exemplificado anteriormente. O comando seria: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pt-BR" sz="2200">
                <a:latin typeface="Courier New"/>
                <a:ea typeface="Courier New"/>
                <a:cs typeface="Courier New"/>
                <a:sym typeface="Courier New"/>
              </a:rPr>
              <a:t>CREATE TABLE caddis (CODDIS CHAR(6) NOT NULL PRIMARY KEY, NOMEDIS VARCHAR(40) NOT NULL, CODPRO INTEGER(3), CONSTRAINT fkCODPRO FOREIGN KEY(CODPRO) REFERENCES cadpro(CODPRO) ON UPDATE RESTRICT ON DELETE RESTRICT);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2" name="Google Shape;2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5"/>
          <p:cNvSpPr txBox="1"/>
          <p:nvPr>
            <p:ph type="title"/>
          </p:nvPr>
        </p:nvSpPr>
        <p:spPr>
          <a:xfrm>
            <a:off x="251520" y="43979"/>
            <a:ext cx="8229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Testando o Relacionamento</a:t>
            </a:r>
            <a:endParaRPr/>
          </a:p>
        </p:txBody>
      </p:sp>
      <p:sp>
        <p:nvSpPr>
          <p:cNvPr id="209" name="Google Shape;209;p15"/>
          <p:cNvSpPr txBox="1"/>
          <p:nvPr>
            <p:ph idx="1" type="body"/>
          </p:nvPr>
        </p:nvSpPr>
        <p:spPr>
          <a:xfrm>
            <a:off x="251520" y="692696"/>
            <a:ext cx="864096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Para demonstrar o uso de relacionamento com chave primária e chave estrangeira, será necessário popular as tabelas </a:t>
            </a:r>
            <a:r>
              <a:rPr b="1" lang="pt-BR" sz="2000"/>
              <a:t>cadpro</a:t>
            </a:r>
            <a:r>
              <a:rPr lang="pt-BR" sz="2000"/>
              <a:t> e </a:t>
            </a:r>
            <a:r>
              <a:rPr b="1" lang="pt-BR" sz="2000"/>
              <a:t>caddis</a:t>
            </a:r>
            <a:r>
              <a:rPr lang="pt-BR" sz="2000"/>
              <a:t> com dados compatíveis com suas estruturas.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Vamos inserir 3 registros na tabela </a:t>
            </a:r>
            <a:r>
              <a:rPr b="1" lang="pt-BR" sz="2000"/>
              <a:t>cadpro</a:t>
            </a:r>
            <a:r>
              <a:rPr lang="pt-BR" sz="2000"/>
              <a:t>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cadpro VALUES (</a:t>
            </a:r>
            <a:r>
              <a:rPr b="1" lang="pt-BR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, 'SILVANA', '11122233399');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cadpro VALUES (</a:t>
            </a:r>
            <a:r>
              <a:rPr b="1" lang="pt-BR" sz="18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110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, 'ROBERTO', '11122244488');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cadpro VALUES (</a:t>
            </a:r>
            <a:r>
              <a:rPr b="1" lang="pt-BR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, 'RENATO', '11122244477');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800"/>
              <a:t>Vamos inserir 6 registros na tabela </a:t>
            </a:r>
            <a:r>
              <a:rPr b="1" lang="pt-BR" sz="1800"/>
              <a:t>caddis</a:t>
            </a:r>
            <a:r>
              <a:rPr lang="pt-BR" sz="1800"/>
              <a:t>, sendo 2 por professor cadastrado em </a:t>
            </a:r>
            <a:r>
              <a:rPr b="1" lang="pt-BR" sz="1800"/>
              <a:t>cadpro</a:t>
            </a:r>
            <a:r>
              <a:rPr lang="pt-BR" sz="1800"/>
              <a:t>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caddis VALUES ('CG-100', 'MATEMATICA', </a:t>
            </a:r>
            <a:r>
              <a:rPr b="1" lang="pt-BR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caddis VALUES ('CG-110', 'FISICA', </a:t>
            </a:r>
            <a:r>
              <a:rPr b="1" lang="pt-BR" sz="18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caddis VALUES ('CG-200', 'PORTUGUES', </a:t>
            </a:r>
            <a:r>
              <a:rPr b="1" lang="pt-BR" sz="18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110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caddis VALUES ('CG-300', 'FILOSOFIA', </a:t>
            </a:r>
            <a:r>
              <a:rPr b="1" lang="pt-BR" sz="18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110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caddis VALUES ('TI-100', 'ALGORITMOS', </a:t>
            </a:r>
            <a:r>
              <a:rPr b="1" lang="pt-BR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caddis VALUES ('TI-200', 'BD', </a:t>
            </a:r>
            <a:r>
              <a:rPr b="1" lang="pt-BR" sz="1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120</a:t>
            </a: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800"/>
              <a:t>Agora visualize o conteúdo das duas tabelas.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0" name="Google Shape;210;p15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1" name="Google Shape;2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3" st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3" st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3" st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end="24" st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4" st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>
                                            <p:txEl>
                                              <p:pRg end="24" st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 txBox="1"/>
          <p:nvPr>
            <p:ph type="title"/>
          </p:nvPr>
        </p:nvSpPr>
        <p:spPr>
          <a:xfrm>
            <a:off x="179512" y="908720"/>
            <a:ext cx="8229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Testando o Relacionamento (Cont.)</a:t>
            </a:r>
            <a:endParaRPr/>
          </a:p>
        </p:txBody>
      </p:sp>
      <p:sp>
        <p:nvSpPr>
          <p:cNvPr id="217" name="Google Shape;217;p16"/>
          <p:cNvSpPr txBox="1"/>
          <p:nvPr>
            <p:ph idx="1" type="body"/>
          </p:nvPr>
        </p:nvSpPr>
        <p:spPr>
          <a:xfrm>
            <a:off x="251520" y="1556792"/>
            <a:ext cx="8640960" cy="4536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Agora tente inserir os próximos 3 registros e observe bem os motivos de dar erro nestas inserções: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cadpro VALUES (120, 'CARLOS', '11122277744');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cadpro VALUES (300, 'JULIA', '11122244488');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lang="pt-BR" sz="1800">
                <a:latin typeface="Courier New"/>
                <a:ea typeface="Courier New"/>
                <a:cs typeface="Courier New"/>
                <a:sym typeface="Courier New"/>
              </a:rPr>
              <a:t>INSERT INTO caddis VALUES ('CG-400', 'BIOLOGIA', 380);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No primeiro exemplo existe um erro de restrição por duplicidade de dados, por conta do </a:t>
            </a: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CODPRO</a:t>
            </a:r>
            <a:r>
              <a:rPr lang="pt-BR" sz="2000"/>
              <a:t> 120 já existir cadastrado na tabela </a:t>
            </a:r>
            <a:r>
              <a:rPr b="1" lang="pt-BR" sz="2000"/>
              <a:t>cadpro</a:t>
            </a:r>
            <a:r>
              <a:rPr lang="pt-BR" sz="2000"/>
              <a:t>. </a:t>
            </a: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CODPRO</a:t>
            </a:r>
            <a:r>
              <a:rPr lang="pt-BR" sz="2000"/>
              <a:t> é chave primária.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No segundo exemplo ocorreu um erro no campo </a:t>
            </a: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CPF</a:t>
            </a:r>
            <a:r>
              <a:rPr lang="pt-BR" sz="2000"/>
              <a:t>, pois já existe na tabela </a:t>
            </a:r>
            <a:r>
              <a:rPr b="1" lang="pt-BR" sz="2000"/>
              <a:t>cadpro</a:t>
            </a:r>
            <a:r>
              <a:rPr lang="pt-BR" sz="2000"/>
              <a:t> um campo </a:t>
            </a: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CPF</a:t>
            </a:r>
            <a:r>
              <a:rPr lang="pt-BR" sz="2000"/>
              <a:t> idêntico ao que se tentou inserir agora. O campo </a:t>
            </a:r>
            <a:r>
              <a:rPr lang="pt-BR" sz="2000">
                <a:latin typeface="Courier New"/>
                <a:ea typeface="Courier New"/>
                <a:cs typeface="Courier New"/>
                <a:sym typeface="Courier New"/>
              </a:rPr>
              <a:t>CPF</a:t>
            </a:r>
            <a:r>
              <a:rPr lang="pt-BR" sz="2000"/>
              <a:t> é chave alternativa.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No terceiro exemplo ocorreu erro devido ao fato de não existir nenhum professor com código 380. Restrição aplicada pela chave estrangeira.</a:t>
            </a:r>
            <a:endParaRPr/>
          </a:p>
        </p:txBody>
      </p:sp>
      <p:sp>
        <p:nvSpPr>
          <p:cNvPr id="218" name="Google Shape;218;p16"/>
          <p:cNvSpPr txBox="1"/>
          <p:nvPr>
            <p:ph idx="12" type="sldNum"/>
          </p:nvPr>
        </p:nvSpPr>
        <p:spPr>
          <a:xfrm>
            <a:off x="6902896" y="6409133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19" name="Google Shape;2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6514653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9"/>
          <p:cNvSpPr txBox="1"/>
          <p:nvPr>
            <p:ph type="title"/>
          </p:nvPr>
        </p:nvSpPr>
        <p:spPr>
          <a:xfrm>
            <a:off x="251520" y="188640"/>
            <a:ext cx="8229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Cardinalidades no MySQL</a:t>
            </a:r>
            <a:endParaRPr/>
          </a:p>
        </p:txBody>
      </p:sp>
      <p:sp>
        <p:nvSpPr>
          <p:cNvPr id="226" name="Google Shape;226;p19"/>
          <p:cNvSpPr txBox="1"/>
          <p:nvPr>
            <p:ph idx="1" type="body"/>
          </p:nvPr>
        </p:nvSpPr>
        <p:spPr>
          <a:xfrm>
            <a:off x="251520" y="1052736"/>
            <a:ext cx="8640960" cy="5539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Já percebemos que as cardinalidades </a:t>
            </a:r>
            <a:r>
              <a:rPr lang="pt-BR" u="sng"/>
              <a:t>máximas</a:t>
            </a:r>
            <a:r>
              <a:rPr lang="pt-BR"/>
              <a:t> influenciam diretamente na definição das chaves estrangeiras e relacionamentos.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As cardinalidades </a:t>
            </a:r>
            <a:r>
              <a:rPr lang="pt-BR" u="sng"/>
              <a:t>mínimas</a:t>
            </a:r>
            <a:r>
              <a:rPr lang="pt-BR"/>
              <a:t> vão influenciar se estas chaves estrangeiras vão receber ou não o parâmetro </a:t>
            </a:r>
            <a:r>
              <a:rPr b="1" i="1" lang="pt-BR"/>
              <a:t>not null </a:t>
            </a:r>
            <a:r>
              <a:rPr lang="pt-BR"/>
              <a:t>em suas definições.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Quando a cardinalidade mínima é 1, entende-se que o relacionamento é obrigatório, e por conta disso, a chave estrangeira deste relacionamento precisa ter o parâmetro </a:t>
            </a:r>
            <a:r>
              <a:rPr b="1" i="1" lang="pt-BR"/>
              <a:t>not null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Quando a cardinalidade mínima é 0, o relacionamento não é obrigatório, então  a chave estrangeira deste relacionamento não poderá receber o parâmetro </a:t>
            </a:r>
            <a:r>
              <a:rPr b="1" i="1" lang="pt-BR"/>
              <a:t>not null</a:t>
            </a:r>
            <a:r>
              <a:rPr lang="pt-BR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7" name="Google Shape;227;p19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8" name="Google Shape;22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602" y="6442645"/>
            <a:ext cx="285921" cy="298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 txBox="1"/>
          <p:nvPr>
            <p:ph type="title"/>
          </p:nvPr>
        </p:nvSpPr>
        <p:spPr>
          <a:xfrm>
            <a:off x="251520" y="188640"/>
            <a:ext cx="8229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Cardinalidades no MySQL (Cont.)</a:t>
            </a:r>
            <a:endParaRPr/>
          </a:p>
        </p:txBody>
      </p:sp>
      <p:sp>
        <p:nvSpPr>
          <p:cNvPr id="235" name="Google Shape;235;p20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6514653"/>
            <a:ext cx="285921" cy="298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672" y="2400330"/>
            <a:ext cx="5760640" cy="1370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 rotWithShape="1">
          <a:blip r:embed="rId5">
            <a:alphaModFix/>
          </a:blip>
          <a:srcRect b="0" l="10675" r="429" t="0"/>
          <a:stretch/>
        </p:blipFill>
        <p:spPr>
          <a:xfrm>
            <a:off x="611560" y="1196752"/>
            <a:ext cx="7920880" cy="1189019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251520" y="3717032"/>
            <a:ext cx="8640960" cy="2442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Interpretando as cardinalidades, entende-se que: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empregado está alocado em no mínimo 1 e no máximo 1 mesa.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•"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mesa está alocada para no mínimo 0 empregados e no máximo 1 empregado.</a:t>
            </a:r>
            <a:endParaRPr/>
          </a:p>
          <a:p>
            <a:pPr indent="-2921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a chave estrangeira está na tabela Empregado, e todo empregado precisa ter no mínimo 1 mesa (cardinalidade mínima 1), então esta chave estrangeira precisa ter o parâmetro </a:t>
            </a:r>
            <a:r>
              <a:rPr b="1"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pois seu preenchimento é obrigatório.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>
            <p:ph idx="1" type="body"/>
          </p:nvPr>
        </p:nvSpPr>
        <p:spPr>
          <a:xfrm>
            <a:off x="251520" y="908720"/>
            <a:ext cx="8640960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Observe novamente esta modelagem: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1"/>
          <p:cNvSpPr txBox="1"/>
          <p:nvPr>
            <p:ph type="title"/>
          </p:nvPr>
        </p:nvSpPr>
        <p:spPr>
          <a:xfrm>
            <a:off x="251520" y="188640"/>
            <a:ext cx="8229600" cy="720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Cardinalidades no MySQL (Cont.)</a:t>
            </a:r>
            <a:endParaRPr/>
          </a:p>
        </p:txBody>
      </p:sp>
      <p:sp>
        <p:nvSpPr>
          <p:cNvPr id="247" name="Google Shape;247;p21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6514653"/>
            <a:ext cx="285921" cy="298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672" y="3354222"/>
            <a:ext cx="5760640" cy="1370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5">
            <a:alphaModFix/>
          </a:blip>
          <a:srcRect b="0" l="10675" r="429" t="0"/>
          <a:stretch/>
        </p:blipFill>
        <p:spPr>
          <a:xfrm>
            <a:off x="611560" y="2095965"/>
            <a:ext cx="7920880" cy="1189019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251520" y="4797152"/>
            <a:ext cx="8640960" cy="1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None/>
            </a:pPr>
            <a:r>
              <a:rPr lang="pt-BR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empregado (MATRICULA INT(5) NOT NULL PRIMARY KEY, NOME VARCHAR(50) NOT NULL, CODMESA INT(4) </a:t>
            </a:r>
            <a:r>
              <a:rPr b="1" lang="pt-BR" sz="2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pt-BR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CONSTRAINT fkCODMESA FOREIGN KEY(CODMESA) REFERENCES mesa(CODMESA) ON UPDATE RESTRICT ON DELETE RESTRICT);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 txBox="1"/>
          <p:nvPr>
            <p:ph idx="1" type="body"/>
          </p:nvPr>
        </p:nvSpPr>
        <p:spPr>
          <a:xfrm>
            <a:off x="251520" y="908720"/>
            <a:ext cx="8640960" cy="1224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/>
              <a:t>Código de criação da tabela </a:t>
            </a:r>
            <a:r>
              <a:rPr i="1" lang="pt-BR"/>
              <a:t>Empregado</a:t>
            </a:r>
            <a:r>
              <a:rPr lang="pt-BR"/>
              <a:t> (A tabela </a:t>
            </a:r>
            <a:r>
              <a:rPr i="1" lang="pt-BR"/>
              <a:t>Mesa</a:t>
            </a:r>
            <a:r>
              <a:rPr lang="pt-BR"/>
              <a:t> precisa ser criada antes da tabela </a:t>
            </a:r>
            <a:r>
              <a:rPr i="1" lang="pt-BR"/>
              <a:t>Empregado</a:t>
            </a:r>
            <a:r>
              <a:rPr lang="pt-BR"/>
              <a:t>, pois a chave estrangeira em </a:t>
            </a:r>
            <a:r>
              <a:rPr i="1" lang="pt-BR"/>
              <a:t>Empregado</a:t>
            </a:r>
            <a:r>
              <a:rPr lang="pt-BR"/>
              <a:t> está relacionada à </a:t>
            </a:r>
            <a:r>
              <a:rPr i="1" lang="pt-BR"/>
              <a:t>Mesa</a:t>
            </a:r>
            <a:r>
              <a:rPr lang="pt-BR"/>
              <a:t>):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25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457200" y="1844824"/>
            <a:ext cx="8229600" cy="1143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Dúvidas?</a:t>
            </a:r>
            <a:endParaRPr/>
          </a:p>
        </p:txBody>
      </p:sp>
      <p:sp>
        <p:nvSpPr>
          <p:cNvPr id="258" name="Google Shape;258;p22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848" y="309178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type="title"/>
          </p:nvPr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Bibliografia</a:t>
            </a:r>
            <a:endParaRPr/>
          </a:p>
        </p:txBody>
      </p:sp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1785918" y="2143116"/>
            <a:ext cx="6800840" cy="4071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MySQL 5.1 Interativo (3ª Edição)</a:t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   José Augusto N.G. Manzano</a:t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/>
              <a:t>      Ed. Érica</a:t>
            </a:r>
            <a:endParaRPr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sz="2000"/>
          </a:p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6553200" y="6245225"/>
            <a:ext cx="2133600" cy="476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MySQL 5.1 Interativo.jpg" id="271" name="Google Shape;2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787" y="2204864"/>
            <a:ext cx="785817" cy="110996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4000">
        <p14:vortex dir="r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IRJAN1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2008-06-20T13:44:32Z</dcterms:created>
  <dc:creator>Fabrício Curvello Gomes</dc:creator>
</cp:coreProperties>
</file>