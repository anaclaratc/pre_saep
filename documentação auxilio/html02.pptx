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2" roundtripDataSignature="AMtx7mi+lp+swtOoSEtduni6WbTsCk7t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250"/>
                                  </p:stCondLst>
                                  <p:childTnLst>
                                    <p:set>
                                      <p:cBhvr>
                                        <p:cTn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27" name="Shape 27"/>
        <p:cNvGrpSpPr/>
        <p:nvPr/>
      </p:nvGrpSpPr>
      <p:grpSpPr>
        <a:xfrm>
          <a:off x="0" y="0"/>
          <a:ext cx="0" cy="0"/>
          <a:chOff x="0" y="0"/>
          <a:chExt cx="0" cy="0"/>
        </a:xfrm>
      </p:grpSpPr>
      <p:sp>
        <p:nvSpPr>
          <p:cNvPr id="28" name="Google Shape;2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4" name="Shape 34"/>
        <p:cNvGrpSpPr/>
        <p:nvPr/>
      </p:nvGrpSpPr>
      <p:grpSpPr>
        <a:xfrm>
          <a:off x="0" y="0"/>
          <a:ext cx="0" cy="0"/>
          <a:chOff x="0" y="0"/>
          <a:chExt cx="0" cy="0"/>
        </a:xfrm>
      </p:grpSpPr>
      <p:sp>
        <p:nvSpPr>
          <p:cNvPr id="35" name="Google Shape;35;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6"/>
          <p:cNvSpPr/>
          <p:nvPr>
            <p:ph idx="2" type="pic"/>
          </p:nvPr>
        </p:nvSpPr>
        <p:spPr>
          <a:xfrm>
            <a:off x="5183188" y="987425"/>
            <a:ext cx="6172200" cy="4873625"/>
          </a:xfrm>
          <a:prstGeom prst="rect">
            <a:avLst/>
          </a:prstGeom>
          <a:noFill/>
          <a:ln>
            <a:noFill/>
          </a:ln>
        </p:spPr>
      </p:sp>
      <p:sp>
        <p:nvSpPr>
          <p:cNvPr id="68" name="Google Shape;68;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3994211" y="1748591"/>
            <a:ext cx="7772400" cy="174643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pt-BR">
                <a:solidFill>
                  <a:schemeClr val="lt1"/>
                </a:solidFill>
              </a:rPr>
              <a:t>Desenvolvimento de Frontend</a:t>
            </a:r>
            <a:endParaRPr>
              <a:solidFill>
                <a:schemeClr val="lt1"/>
              </a:solidFill>
            </a:endParaRPr>
          </a:p>
        </p:txBody>
      </p:sp>
      <p:sp>
        <p:nvSpPr>
          <p:cNvPr id="89" name="Google Shape;89;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lt1"/>
              </a:solidFill>
            </a:endParaRPr>
          </a:p>
        </p:txBody>
      </p:sp>
      <p:sp>
        <p:nvSpPr>
          <p:cNvPr id="90" name="Google Shape;90;p1"/>
          <p:cNvSpPr txBox="1"/>
          <p:nvPr/>
        </p:nvSpPr>
        <p:spPr>
          <a:xfrm>
            <a:off x="9139328" y="3741939"/>
            <a:ext cx="2082048"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1800" u="none" cap="none" strike="noStrike">
                <a:solidFill>
                  <a:schemeClr val="lt1"/>
                </a:solidFill>
                <a:latin typeface="Calibri"/>
                <a:ea typeface="Calibri"/>
                <a:cs typeface="Calibri"/>
                <a:sym typeface="Calibri"/>
              </a:rPr>
              <a:t> Joice Caroline</a:t>
            </a:r>
            <a:endParaRPr b="1" sz="1800">
              <a:solidFill>
                <a:schemeClr val="lt1"/>
              </a:solidFill>
              <a:latin typeface="Calibri"/>
              <a:ea typeface="Calibri"/>
              <a:cs typeface="Calibri"/>
              <a:sym typeface="Calibri"/>
            </a:endParaRPr>
          </a:p>
        </p:txBody>
      </p:sp>
      <p:pic>
        <p:nvPicPr>
          <p:cNvPr id="91" name="Google Shape;91;p1"/>
          <p:cNvPicPr preferRelativeResize="0"/>
          <p:nvPr/>
        </p:nvPicPr>
        <p:blipFill rotWithShape="1">
          <a:blip r:embed="rId4">
            <a:alphaModFix/>
          </a:blip>
          <a:srcRect b="0" l="0" r="0" t="0"/>
          <a:stretch/>
        </p:blipFill>
        <p:spPr>
          <a:xfrm>
            <a:off x="838200" y="1192577"/>
            <a:ext cx="2984558" cy="2302448"/>
          </a:xfrm>
          <a:prstGeom prst="rect">
            <a:avLst/>
          </a:prstGeom>
          <a:noFill/>
          <a:ln>
            <a:noFill/>
          </a:ln>
        </p:spPr>
      </p:pic>
      <p:pic>
        <p:nvPicPr>
          <p:cNvPr descr="LOGO_SENAI_BRANCO.png" id="92" name="Google Shape;92;p1"/>
          <p:cNvPicPr preferRelativeResize="0"/>
          <p:nvPr/>
        </p:nvPicPr>
        <p:blipFill rotWithShape="1">
          <a:blip r:embed="rId5">
            <a:alphaModFix/>
          </a:blip>
          <a:srcRect b="0" l="0" r="0" t="0"/>
          <a:stretch/>
        </p:blipFill>
        <p:spPr>
          <a:xfrm>
            <a:off x="9711936" y="5594033"/>
            <a:ext cx="1592128" cy="6908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98" name="Google Shape;98;p2"/>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99" name="Google Shape;9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pt-BR"/>
              <a:t>Frontend</a:t>
            </a:r>
            <a:endParaRPr/>
          </a:p>
        </p:txBody>
      </p:sp>
      <p:sp>
        <p:nvSpPr>
          <p:cNvPr id="100" name="Google Shape;100;p2"/>
          <p:cNvSpPr txBox="1"/>
          <p:nvPr>
            <p:ph idx="1" type="body"/>
          </p:nvPr>
        </p:nvSpPr>
        <p:spPr>
          <a:xfrm>
            <a:off x="838200" y="1825625"/>
            <a:ext cx="9522041" cy="246807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pt-BR"/>
              <a:t>Instrutor: Joice Caroline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pt-BR"/>
              <a:t>joice.pinto@docente.senai.br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101" name="Google Shape;101;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08" name="Google Shape;108;p3"/>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09" name="Google Shape;109;p3"/>
          <p:cNvSpPr txBox="1"/>
          <p:nvPr>
            <p:ph idx="1" type="body"/>
          </p:nvPr>
        </p:nvSpPr>
        <p:spPr>
          <a:xfrm>
            <a:off x="469265" y="1795780"/>
            <a:ext cx="9890760" cy="351155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None/>
            </a:pPr>
            <a:r>
              <a:rPr b="1" lang="pt-BR"/>
              <a:t>Lista é um importante recurso de HTML, pois permite criarmos tópicos de textos para uma melhor exemplificação de um determinado assunto. São recursos extremamente usados, inclusive quando nem imaginamos que ele está sendo usada, como no caso de menus. Hoje, boa parte dos menus em HTML é feito com listas. Há três tipos de listas:</a:t>
            </a:r>
            <a:endParaRPr b="1"/>
          </a:p>
          <a:p>
            <a:pPr indent="0" lvl="0" marL="0" rtl="0" algn="l">
              <a:lnSpc>
                <a:spcPct val="90000"/>
              </a:lnSpc>
              <a:spcBef>
                <a:spcPts val="1000"/>
              </a:spcBef>
              <a:spcAft>
                <a:spcPts val="0"/>
              </a:spcAft>
              <a:buClr>
                <a:schemeClr val="dk1"/>
              </a:buClr>
              <a:buSzPct val="100000"/>
              <a:buNone/>
            </a:pPr>
            <a:r>
              <a:rPr b="1" lang="pt-BR"/>
              <a:t>• Não ordenada</a:t>
            </a:r>
            <a:endParaRPr b="1"/>
          </a:p>
          <a:p>
            <a:pPr indent="0" lvl="0" marL="0" rtl="0" algn="l">
              <a:lnSpc>
                <a:spcPct val="90000"/>
              </a:lnSpc>
              <a:spcBef>
                <a:spcPts val="1000"/>
              </a:spcBef>
              <a:spcAft>
                <a:spcPts val="0"/>
              </a:spcAft>
              <a:buClr>
                <a:schemeClr val="dk1"/>
              </a:buClr>
              <a:buSzPct val="100000"/>
              <a:buNone/>
            </a:pPr>
            <a:r>
              <a:rPr b="1" lang="pt-BR"/>
              <a:t>• Ordenada ou numerada</a:t>
            </a:r>
            <a:endParaRPr b="1"/>
          </a:p>
          <a:p>
            <a:pPr indent="0" lvl="0" marL="0" rtl="0" algn="l">
              <a:lnSpc>
                <a:spcPct val="90000"/>
              </a:lnSpc>
              <a:spcBef>
                <a:spcPts val="1000"/>
              </a:spcBef>
              <a:spcAft>
                <a:spcPts val="0"/>
              </a:spcAft>
              <a:buClr>
                <a:schemeClr val="dk1"/>
              </a:buClr>
              <a:buSzPct val="100000"/>
              <a:buNone/>
            </a:pPr>
            <a:r>
              <a:rPr b="1" lang="pt-BR"/>
              <a:t>• De definição - usada para fazer comentários sobre os itens expostos</a:t>
            </a:r>
            <a:endParaRPr b="1"/>
          </a:p>
        </p:txBody>
      </p:sp>
      <p:sp>
        <p:nvSpPr>
          <p:cNvPr id="110" name="Google Shape;11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11" name="Google Shape;11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12" name="Google Shape;112;p3"/>
          <p:cNvSpPr txBox="1"/>
          <p:nvPr/>
        </p:nvSpPr>
        <p:spPr>
          <a:xfrm>
            <a:off x="798830" y="491490"/>
            <a:ext cx="7811770" cy="768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400">
                <a:solidFill>
                  <a:schemeClr val="dk1"/>
                </a:solidFill>
                <a:latin typeface="Calibri"/>
                <a:ea typeface="Calibri"/>
                <a:cs typeface="Calibri"/>
                <a:sym typeface="Calibri"/>
              </a:rPr>
              <a:t>HTML  LISTAS </a:t>
            </a:r>
            <a:endParaRPr b="1"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18" name="Google Shape;118;p4"/>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19" name="Google Shape;119;p4"/>
          <p:cNvSpPr txBox="1"/>
          <p:nvPr>
            <p:ph idx="1" type="body"/>
          </p:nvPr>
        </p:nvSpPr>
        <p:spPr>
          <a:xfrm>
            <a:off x="469265" y="1795780"/>
            <a:ext cx="9890760" cy="35115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pt-BR"/>
              <a:t>Listas não ordenadas</a:t>
            </a:r>
            <a:endParaRPr b="1"/>
          </a:p>
          <a:p>
            <a:pPr indent="0" lvl="0" marL="0" rtl="0" algn="l">
              <a:lnSpc>
                <a:spcPct val="90000"/>
              </a:lnSpc>
              <a:spcBef>
                <a:spcPts val="1000"/>
              </a:spcBef>
              <a:spcAft>
                <a:spcPts val="0"/>
              </a:spcAft>
              <a:buClr>
                <a:schemeClr val="dk1"/>
              </a:buClr>
              <a:buSzPts val="2800"/>
              <a:buNone/>
            </a:pPr>
            <a:r>
              <a:rPr b="1" lang="pt-BR"/>
              <a:t>• As listas não numeradas são usadas para listar itens, sem se </a:t>
            </a:r>
            <a:endParaRPr b="1"/>
          </a:p>
          <a:p>
            <a:pPr indent="0" lvl="0" marL="0" rtl="0" algn="l">
              <a:lnSpc>
                <a:spcPct val="90000"/>
              </a:lnSpc>
              <a:spcBef>
                <a:spcPts val="1000"/>
              </a:spcBef>
              <a:spcAft>
                <a:spcPts val="0"/>
              </a:spcAft>
              <a:buClr>
                <a:schemeClr val="dk1"/>
              </a:buClr>
              <a:buSzPts val="2800"/>
              <a:buNone/>
            </a:pPr>
            <a:r>
              <a:rPr b="1" lang="pt-BR"/>
              <a:t>preocupar com sua sequência. Chamamos de lista de </a:t>
            </a:r>
            <a:endParaRPr b="1"/>
          </a:p>
          <a:p>
            <a:pPr indent="0" lvl="0" marL="0" rtl="0" algn="l">
              <a:lnSpc>
                <a:spcPct val="90000"/>
              </a:lnSpc>
              <a:spcBef>
                <a:spcPts val="1000"/>
              </a:spcBef>
              <a:spcAft>
                <a:spcPts val="0"/>
              </a:spcAft>
              <a:buClr>
                <a:schemeClr val="dk1"/>
              </a:buClr>
              <a:buSzPts val="2800"/>
              <a:buNone/>
            </a:pPr>
            <a:r>
              <a:rPr b="1" lang="pt-BR"/>
              <a:t>marcadores apenas.</a:t>
            </a:r>
            <a:endParaRPr b="1"/>
          </a:p>
          <a:p>
            <a:pPr indent="0" lvl="0" marL="0" rtl="0" algn="l">
              <a:lnSpc>
                <a:spcPct val="90000"/>
              </a:lnSpc>
              <a:spcBef>
                <a:spcPts val="1000"/>
              </a:spcBef>
              <a:spcAft>
                <a:spcPts val="0"/>
              </a:spcAft>
              <a:buClr>
                <a:schemeClr val="dk1"/>
              </a:buClr>
              <a:buSzPts val="2800"/>
              <a:buNone/>
            </a:pPr>
            <a:r>
              <a:rPr b="1" lang="pt-BR"/>
              <a:t>• As tags usadas para criar uma lista não ordenada são &lt;ul&gt; e </a:t>
            </a:r>
            <a:endParaRPr b="1"/>
          </a:p>
          <a:p>
            <a:pPr indent="0" lvl="0" marL="0" rtl="0" algn="l">
              <a:lnSpc>
                <a:spcPct val="90000"/>
              </a:lnSpc>
              <a:spcBef>
                <a:spcPts val="1000"/>
              </a:spcBef>
              <a:spcAft>
                <a:spcPts val="0"/>
              </a:spcAft>
              <a:buClr>
                <a:schemeClr val="dk1"/>
              </a:buClr>
              <a:buSzPts val="2800"/>
              <a:buNone/>
            </a:pPr>
            <a:r>
              <a:rPr b="1" lang="pt-BR"/>
              <a:t>&lt;li&gt;. A tag &lt;ul&gt; é usada para definir a lista e a tag &lt;li&gt; é usada para cada item da lista.</a:t>
            </a:r>
            <a:endParaRPr b="1"/>
          </a:p>
        </p:txBody>
      </p:sp>
      <p:sp>
        <p:nvSpPr>
          <p:cNvPr id="120" name="Google Shape;12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21" name="Google Shape;12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22" name="Google Shape;122;p4"/>
          <p:cNvSpPr txBox="1"/>
          <p:nvPr/>
        </p:nvSpPr>
        <p:spPr>
          <a:xfrm>
            <a:off x="798830" y="491490"/>
            <a:ext cx="7811770" cy="768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400">
                <a:solidFill>
                  <a:schemeClr val="dk1"/>
                </a:solidFill>
                <a:latin typeface="Calibri"/>
                <a:ea typeface="Calibri"/>
                <a:cs typeface="Calibri"/>
                <a:sym typeface="Calibri"/>
              </a:rPr>
              <a:t>HTML  LISTAS </a:t>
            </a:r>
            <a:endParaRPr b="1"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28" name="Google Shape;128;p5"/>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29" name="Google Shape;1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30" name="Google Shape;13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pic>
        <p:nvPicPr>
          <p:cNvPr id="131" name="Google Shape;131;p5"/>
          <p:cNvPicPr preferRelativeResize="0"/>
          <p:nvPr>
            <p:ph idx="1" type="body"/>
          </p:nvPr>
        </p:nvPicPr>
        <p:blipFill rotWithShape="1">
          <a:blip r:embed="rId4">
            <a:alphaModFix/>
          </a:blip>
          <a:srcRect b="0" l="0" r="0" t="0"/>
          <a:stretch/>
        </p:blipFill>
        <p:spPr>
          <a:xfrm>
            <a:off x="1575435" y="2169160"/>
            <a:ext cx="7914640" cy="3430905"/>
          </a:xfrm>
          <a:prstGeom prst="rect">
            <a:avLst/>
          </a:prstGeom>
          <a:noFill/>
          <a:ln>
            <a:noFill/>
          </a:ln>
        </p:spPr>
      </p:pic>
      <p:sp>
        <p:nvSpPr>
          <p:cNvPr id="132" name="Google Shape;13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pt-BR" sz="6000"/>
              <a:t>HTML LISTAS </a:t>
            </a:r>
            <a:endParaRPr b="1" sz="6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38" name="Google Shape;138;p6"/>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39" name="Google Shape;139;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40" name="Google Shape;1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41" name="Google Shape;141;p6"/>
          <p:cNvSpPr txBox="1"/>
          <p:nvPr>
            <p:ph type="title"/>
          </p:nvPr>
        </p:nvSpPr>
        <p:spPr>
          <a:xfrm>
            <a:off x="838200" y="365125"/>
            <a:ext cx="9424035" cy="13258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pt-BR" sz="6000"/>
              <a:t>HTML LISTAS </a:t>
            </a:r>
            <a:endParaRPr b="1" sz="6000"/>
          </a:p>
        </p:txBody>
      </p:sp>
      <p:sp>
        <p:nvSpPr>
          <p:cNvPr id="142" name="Google Shape;142;p6"/>
          <p:cNvSpPr txBox="1"/>
          <p:nvPr>
            <p:ph idx="1" type="body"/>
          </p:nvPr>
        </p:nvSpPr>
        <p:spPr>
          <a:xfrm>
            <a:off x="644525" y="2407285"/>
            <a:ext cx="9323705" cy="353187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pt-BR"/>
              <a:t>• </a:t>
            </a:r>
            <a:r>
              <a:rPr b="1" lang="pt-BR"/>
              <a:t>As listas ordenadas ou numeradas </a:t>
            </a:r>
            <a:r>
              <a:rPr lang="pt-BR"/>
              <a:t>são usadas para indicar alguma sequência ou numeração. As tags usadas para criar uma lista ordenada são &lt;ol&gt; e &lt;li&gt;. </a:t>
            </a:r>
            <a:endParaRPr/>
          </a:p>
          <a:p>
            <a:pPr indent="0" lvl="0" marL="0" rtl="0" algn="l">
              <a:lnSpc>
                <a:spcPct val="90000"/>
              </a:lnSpc>
              <a:spcBef>
                <a:spcPts val="1000"/>
              </a:spcBef>
              <a:spcAft>
                <a:spcPts val="0"/>
              </a:spcAft>
              <a:buClr>
                <a:schemeClr val="dk1"/>
              </a:buClr>
              <a:buSzPts val="2800"/>
              <a:buNone/>
            </a:pPr>
            <a:r>
              <a:rPr lang="pt-BR"/>
              <a:t>A tag &lt;ol&gt; é usada para definir a lista e a tag &lt;li&gt; é usada para cada item da lista.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48" name="Google Shape;148;p7"/>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49" name="Google Shape;14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50" name="Google Shape;1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51" name="Google Shape;151;p7"/>
          <p:cNvSpPr txBox="1"/>
          <p:nvPr>
            <p:ph type="title"/>
          </p:nvPr>
        </p:nvSpPr>
        <p:spPr>
          <a:xfrm>
            <a:off x="838200" y="320675"/>
            <a:ext cx="9217660" cy="137033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pt-BR" sz="6000"/>
              <a:t>HTML LISTAS </a:t>
            </a:r>
            <a:endParaRPr b="1" sz="6000"/>
          </a:p>
        </p:txBody>
      </p:sp>
      <p:pic>
        <p:nvPicPr>
          <p:cNvPr id="152" name="Google Shape;152;p7"/>
          <p:cNvPicPr preferRelativeResize="0"/>
          <p:nvPr>
            <p:ph idx="1" type="body"/>
          </p:nvPr>
        </p:nvPicPr>
        <p:blipFill rotWithShape="1">
          <a:blip r:embed="rId4">
            <a:alphaModFix/>
          </a:blip>
          <a:srcRect b="0" l="0" r="0" t="0"/>
          <a:stretch/>
        </p:blipFill>
        <p:spPr>
          <a:xfrm>
            <a:off x="2313940" y="1761490"/>
            <a:ext cx="6647180" cy="38392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58" name="Google Shape;158;p8"/>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59" name="Google Shape;159;p8"/>
          <p:cNvSpPr txBox="1"/>
          <p:nvPr>
            <p:ph idx="1" type="body"/>
          </p:nvPr>
        </p:nvSpPr>
        <p:spPr>
          <a:xfrm>
            <a:off x="732790" y="1709420"/>
            <a:ext cx="9221470" cy="464693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pt-BR"/>
              <a:t>Listas de definição</a:t>
            </a:r>
            <a:endParaRPr b="1"/>
          </a:p>
          <a:p>
            <a:pPr indent="0" lvl="0" marL="0" rtl="0" algn="l">
              <a:lnSpc>
                <a:spcPct val="90000"/>
              </a:lnSpc>
              <a:spcBef>
                <a:spcPts val="1000"/>
              </a:spcBef>
              <a:spcAft>
                <a:spcPts val="0"/>
              </a:spcAft>
              <a:buClr>
                <a:schemeClr val="dk1"/>
              </a:buClr>
              <a:buSzPts val="2800"/>
              <a:buNone/>
            </a:pPr>
            <a:r>
              <a:rPr b="1" lang="pt-BR"/>
              <a:t>• Listas de definição são usadas em assuntos onde há um termo a em sequência a sua definição, estilo perguntas e respostas.</a:t>
            </a:r>
            <a:endParaRPr b="1"/>
          </a:p>
          <a:p>
            <a:pPr indent="0" lvl="0" marL="0" rtl="0" algn="l">
              <a:lnSpc>
                <a:spcPct val="90000"/>
              </a:lnSpc>
              <a:spcBef>
                <a:spcPts val="1000"/>
              </a:spcBef>
              <a:spcAft>
                <a:spcPts val="0"/>
              </a:spcAft>
              <a:buClr>
                <a:schemeClr val="dk1"/>
              </a:buClr>
              <a:buSzPts val="2800"/>
              <a:buNone/>
            </a:pPr>
            <a:r>
              <a:rPr b="1" lang="pt-BR"/>
              <a:t>• As tags usadas são &lt;dl&gt;, &lt;dt&gt; e &lt;dd&gt;.</a:t>
            </a:r>
            <a:endParaRPr b="1"/>
          </a:p>
          <a:p>
            <a:pPr indent="0" lvl="0" marL="0" rtl="0" algn="l">
              <a:lnSpc>
                <a:spcPct val="90000"/>
              </a:lnSpc>
              <a:spcBef>
                <a:spcPts val="1000"/>
              </a:spcBef>
              <a:spcAft>
                <a:spcPts val="0"/>
              </a:spcAft>
              <a:buClr>
                <a:schemeClr val="dk1"/>
              </a:buClr>
              <a:buSzPts val="2800"/>
              <a:buNone/>
            </a:pPr>
            <a:r>
              <a:rPr b="1" lang="pt-BR"/>
              <a:t>• &lt;dl&gt; definition list - cria a lista de definição</a:t>
            </a:r>
            <a:endParaRPr b="1"/>
          </a:p>
          <a:p>
            <a:pPr indent="0" lvl="0" marL="0" rtl="0" algn="l">
              <a:lnSpc>
                <a:spcPct val="90000"/>
              </a:lnSpc>
              <a:spcBef>
                <a:spcPts val="1000"/>
              </a:spcBef>
              <a:spcAft>
                <a:spcPts val="0"/>
              </a:spcAft>
              <a:buClr>
                <a:schemeClr val="dk1"/>
              </a:buClr>
              <a:buSzPts val="2800"/>
              <a:buNone/>
            </a:pPr>
            <a:r>
              <a:rPr b="1" lang="pt-BR"/>
              <a:t>• &lt;dt&gt; definition term - onde o termo é proposto</a:t>
            </a:r>
            <a:endParaRPr b="1"/>
          </a:p>
          <a:p>
            <a:pPr indent="0" lvl="0" marL="0" rtl="0" algn="l">
              <a:lnSpc>
                <a:spcPct val="90000"/>
              </a:lnSpc>
              <a:spcBef>
                <a:spcPts val="1000"/>
              </a:spcBef>
              <a:spcAft>
                <a:spcPts val="0"/>
              </a:spcAft>
              <a:buClr>
                <a:schemeClr val="dk1"/>
              </a:buClr>
              <a:buSzPts val="2800"/>
              <a:buNone/>
            </a:pPr>
            <a:r>
              <a:rPr b="1" lang="pt-BR"/>
              <a:t>• &lt;dd&gt; definition definition - onde o termo é definido</a:t>
            </a:r>
            <a:endParaRPr b="1"/>
          </a:p>
        </p:txBody>
      </p:sp>
      <p:sp>
        <p:nvSpPr>
          <p:cNvPr id="160" name="Google Shape;16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61" name="Google Shape;16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62" name="Google Shape;162;p8"/>
          <p:cNvSpPr txBox="1"/>
          <p:nvPr>
            <p:ph type="title"/>
          </p:nvPr>
        </p:nvSpPr>
        <p:spPr>
          <a:xfrm>
            <a:off x="838200" y="365125"/>
            <a:ext cx="9424035" cy="13258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pt-BR" sz="6000"/>
              <a:t>HTML LISTAS </a:t>
            </a:r>
            <a:endParaRPr b="1" sz="6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5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68" name="Google Shape;168;p9"/>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69" name="Google Shape;1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70" name="Google Shape;17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pic>
        <p:nvPicPr>
          <p:cNvPr id="171" name="Google Shape;171;p9"/>
          <p:cNvPicPr preferRelativeResize="0"/>
          <p:nvPr>
            <p:ph idx="1" type="body"/>
          </p:nvPr>
        </p:nvPicPr>
        <p:blipFill rotWithShape="1">
          <a:blip r:embed="rId4">
            <a:alphaModFix/>
          </a:blip>
          <a:srcRect b="0" l="0" r="0" t="0"/>
          <a:stretch/>
        </p:blipFill>
        <p:spPr>
          <a:xfrm>
            <a:off x="1122680" y="2177415"/>
            <a:ext cx="9226550" cy="3086100"/>
          </a:xfrm>
          <a:prstGeom prst="rect">
            <a:avLst/>
          </a:prstGeom>
          <a:noFill/>
          <a:ln>
            <a:noFill/>
          </a:ln>
        </p:spPr>
      </p:pic>
      <p:sp>
        <p:nvSpPr>
          <p:cNvPr id="172" name="Google Shape;172;p9"/>
          <p:cNvSpPr txBox="1"/>
          <p:nvPr>
            <p:ph type="title"/>
          </p:nvPr>
        </p:nvSpPr>
        <p:spPr>
          <a:xfrm>
            <a:off x="838200" y="365125"/>
            <a:ext cx="9424035" cy="13258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pt-BR" sz="6000"/>
              <a:t>HTML LISTAS </a:t>
            </a:r>
            <a:endParaRPr b="1" sz="6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78" name="Google Shape;178;p10"/>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79" name="Google Shape;17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80" name="Google Shape;18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81" name="Google Shape;181;p10"/>
          <p:cNvSpPr txBox="1"/>
          <p:nvPr>
            <p:ph idx="1" type="body"/>
          </p:nvPr>
        </p:nvSpPr>
        <p:spPr>
          <a:xfrm>
            <a:off x="330835" y="1677670"/>
            <a:ext cx="9770745" cy="43662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pt-BR"/>
              <a:t>Uma tarefa muito comum em HTML é estruturar os dados tabulares, e há vários elementos e atributos próprios para essa finalidade. Em conjunto com a linguagem CSS para estilização, o HTML torna fácil a exibição de tabelas com informação na Web, tais como o seu plano de lições escolares, o horário na sua dispiscina local, ou estatísticas sobre os seus dinossauros favoritos ou seu time de futebol favorito. </a:t>
            </a:r>
            <a:endParaRPr/>
          </a:p>
          <a:p>
            <a:pPr indent="0" lvl="0" marL="0" rtl="0" algn="l">
              <a:lnSpc>
                <a:spcPct val="90000"/>
              </a:lnSpc>
              <a:spcBef>
                <a:spcPts val="1000"/>
              </a:spcBef>
              <a:spcAft>
                <a:spcPts val="0"/>
              </a:spcAft>
              <a:buClr>
                <a:schemeClr val="dk1"/>
              </a:buClr>
              <a:buSzPts val="2800"/>
              <a:buNone/>
            </a:pPr>
            <a:r>
              <a:rPr lang="pt-BR"/>
              <a:t>Este módulo te guia por tudo que você precisa saber sobre a estruturação de dados tabulares utilizando o HTML.</a:t>
            </a:r>
            <a:endParaRPr/>
          </a:p>
        </p:txBody>
      </p:sp>
      <p:sp>
        <p:nvSpPr>
          <p:cNvPr id="182" name="Google Shape;182;p10"/>
          <p:cNvSpPr txBox="1"/>
          <p:nvPr/>
        </p:nvSpPr>
        <p:spPr>
          <a:xfrm>
            <a:off x="564515" y="446405"/>
            <a:ext cx="8885555" cy="829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800">
                <a:solidFill>
                  <a:schemeClr val="dk1"/>
                </a:solidFill>
                <a:latin typeface="Calibri"/>
                <a:ea typeface="Calibri"/>
                <a:cs typeface="Calibri"/>
                <a:sym typeface="Calibri"/>
              </a:rPr>
              <a:t>Tabelas</a:t>
            </a:r>
            <a:r>
              <a:rPr lang="pt-BR"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88" name="Google Shape;188;p11"/>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89" name="Google Shape;18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90" name="Google Shape;19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191" name="Google Shape;191;p11"/>
          <p:cNvSpPr txBox="1"/>
          <p:nvPr>
            <p:ph idx="1" type="body"/>
          </p:nvPr>
        </p:nvSpPr>
        <p:spPr>
          <a:xfrm>
            <a:off x="464185" y="1276985"/>
            <a:ext cx="9637395" cy="479615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pt-BR" sz="2000"/>
              <a:t>Tag table</a:t>
            </a:r>
            <a:endParaRPr sz="2000"/>
          </a:p>
          <a:p>
            <a:pPr indent="0" lvl="0" marL="0" rtl="0" algn="l">
              <a:lnSpc>
                <a:spcPct val="90000"/>
              </a:lnSpc>
              <a:spcBef>
                <a:spcPts val="1000"/>
              </a:spcBef>
              <a:spcAft>
                <a:spcPts val="0"/>
              </a:spcAft>
              <a:buClr>
                <a:schemeClr val="dk1"/>
              </a:buClr>
              <a:buSzPts val="2000"/>
              <a:buNone/>
            </a:pPr>
            <a:r>
              <a:rPr lang="pt-BR" sz="2000"/>
              <a:t>• Uma tabela em HTML consiste em células de tabela dentro de linhas e </a:t>
            </a:r>
            <a:endParaRPr sz="2000"/>
          </a:p>
          <a:p>
            <a:pPr indent="0" lvl="0" marL="0" rtl="0" algn="l">
              <a:lnSpc>
                <a:spcPct val="90000"/>
              </a:lnSpc>
              <a:spcBef>
                <a:spcPts val="1000"/>
              </a:spcBef>
              <a:spcAft>
                <a:spcPts val="0"/>
              </a:spcAft>
              <a:buClr>
                <a:schemeClr val="dk1"/>
              </a:buClr>
              <a:buSzPts val="2000"/>
              <a:buNone/>
            </a:pPr>
            <a:r>
              <a:rPr lang="pt-BR" sz="2000"/>
              <a:t>colunas.  Cada célula da tabela é definida por uma e uma marca &lt;td&gt;&lt;/td&gt;</a:t>
            </a:r>
            <a:endParaRPr sz="2000"/>
          </a:p>
          <a:p>
            <a:pPr indent="0" lvl="0" marL="0" rtl="0" algn="l">
              <a:lnSpc>
                <a:spcPct val="90000"/>
              </a:lnSpc>
              <a:spcBef>
                <a:spcPts val="1000"/>
              </a:spcBef>
              <a:spcAft>
                <a:spcPts val="0"/>
              </a:spcAft>
              <a:buClr>
                <a:schemeClr val="dk1"/>
              </a:buClr>
              <a:buSzPts val="2000"/>
              <a:buNone/>
            </a:pPr>
            <a:r>
              <a:rPr lang="pt-BR" sz="2000"/>
              <a:t>• Ex:</a:t>
            </a:r>
            <a:endParaRPr sz="2000"/>
          </a:p>
          <a:p>
            <a:pPr indent="0" lvl="0" marL="0" rtl="0" algn="l">
              <a:lnSpc>
                <a:spcPct val="90000"/>
              </a:lnSpc>
              <a:spcBef>
                <a:spcPts val="1000"/>
              </a:spcBef>
              <a:spcAft>
                <a:spcPts val="0"/>
              </a:spcAft>
              <a:buClr>
                <a:schemeClr val="dk1"/>
              </a:buClr>
              <a:buSzPts val="2000"/>
              <a:buNone/>
            </a:pPr>
            <a:r>
              <a:rPr lang="pt-BR" sz="2000"/>
              <a:t>&lt;table&gt;</a:t>
            </a:r>
            <a:endParaRPr sz="2000"/>
          </a:p>
          <a:p>
            <a:pPr indent="0" lvl="0" marL="0" rtl="0" algn="l">
              <a:lnSpc>
                <a:spcPct val="90000"/>
              </a:lnSpc>
              <a:spcBef>
                <a:spcPts val="1000"/>
              </a:spcBef>
              <a:spcAft>
                <a:spcPts val="0"/>
              </a:spcAft>
              <a:buClr>
                <a:schemeClr val="dk1"/>
              </a:buClr>
              <a:buSzPts val="2000"/>
              <a:buNone/>
            </a:pPr>
            <a:r>
              <a:rPr lang="pt-BR" sz="2000"/>
              <a:t>&lt;tr&gt;</a:t>
            </a:r>
            <a:endParaRPr sz="2000"/>
          </a:p>
          <a:p>
            <a:pPr indent="0" lvl="0" marL="0" rtl="0" algn="l">
              <a:lnSpc>
                <a:spcPct val="90000"/>
              </a:lnSpc>
              <a:spcBef>
                <a:spcPts val="1000"/>
              </a:spcBef>
              <a:spcAft>
                <a:spcPts val="0"/>
              </a:spcAft>
              <a:buClr>
                <a:schemeClr val="dk1"/>
              </a:buClr>
              <a:buSzPts val="2000"/>
              <a:buNone/>
            </a:pPr>
            <a:r>
              <a:rPr lang="pt-BR" sz="2000"/>
              <a:t> &lt;td&gt;Emil&lt;/td&gt;</a:t>
            </a:r>
            <a:endParaRPr sz="2000"/>
          </a:p>
          <a:p>
            <a:pPr indent="0" lvl="0" marL="0" rtl="0" algn="l">
              <a:lnSpc>
                <a:spcPct val="90000"/>
              </a:lnSpc>
              <a:spcBef>
                <a:spcPts val="1000"/>
              </a:spcBef>
              <a:spcAft>
                <a:spcPts val="0"/>
              </a:spcAft>
              <a:buClr>
                <a:schemeClr val="dk1"/>
              </a:buClr>
              <a:buSzPts val="2000"/>
              <a:buNone/>
            </a:pPr>
            <a:r>
              <a:rPr lang="pt-BR" sz="2000"/>
              <a:t>&lt;td&gt;Tobias&lt;/td&gt;</a:t>
            </a:r>
            <a:endParaRPr sz="2000"/>
          </a:p>
          <a:p>
            <a:pPr indent="0" lvl="0" marL="0" rtl="0" algn="l">
              <a:lnSpc>
                <a:spcPct val="90000"/>
              </a:lnSpc>
              <a:spcBef>
                <a:spcPts val="1000"/>
              </a:spcBef>
              <a:spcAft>
                <a:spcPts val="0"/>
              </a:spcAft>
              <a:buClr>
                <a:schemeClr val="dk1"/>
              </a:buClr>
              <a:buSzPts val="2000"/>
              <a:buNone/>
            </a:pPr>
            <a:r>
              <a:rPr lang="pt-BR" sz="2000"/>
              <a:t>&lt;td&gt;Linus&lt;/td&gt;</a:t>
            </a:r>
            <a:endParaRPr sz="2000"/>
          </a:p>
          <a:p>
            <a:pPr indent="0" lvl="0" marL="0" rtl="0" algn="l">
              <a:lnSpc>
                <a:spcPct val="90000"/>
              </a:lnSpc>
              <a:spcBef>
                <a:spcPts val="1000"/>
              </a:spcBef>
              <a:spcAft>
                <a:spcPts val="0"/>
              </a:spcAft>
              <a:buClr>
                <a:schemeClr val="dk1"/>
              </a:buClr>
              <a:buSzPts val="2000"/>
              <a:buNone/>
            </a:pPr>
            <a:r>
              <a:rPr lang="pt-BR" sz="2000"/>
              <a:t>&lt;/tr&gt;</a:t>
            </a:r>
            <a:endParaRPr sz="2000"/>
          </a:p>
          <a:p>
            <a:pPr indent="0" lvl="0" marL="0" rtl="0" algn="l">
              <a:lnSpc>
                <a:spcPct val="90000"/>
              </a:lnSpc>
              <a:spcBef>
                <a:spcPts val="1000"/>
              </a:spcBef>
              <a:spcAft>
                <a:spcPts val="0"/>
              </a:spcAft>
              <a:buClr>
                <a:schemeClr val="dk1"/>
              </a:buClr>
              <a:buSzPts val="2000"/>
              <a:buNone/>
            </a:pPr>
            <a:r>
              <a:rPr lang="pt-BR" sz="2000"/>
              <a:t>&lt;/table&gt;</a:t>
            </a:r>
            <a:endParaRPr sz="2000"/>
          </a:p>
          <a:p>
            <a:pPr indent="0" lvl="0" marL="0" rtl="0" algn="l">
              <a:lnSpc>
                <a:spcPct val="90000"/>
              </a:lnSpc>
              <a:spcBef>
                <a:spcPts val="1000"/>
              </a:spcBef>
              <a:spcAft>
                <a:spcPts val="0"/>
              </a:spcAft>
              <a:buClr>
                <a:schemeClr val="dk1"/>
              </a:buClr>
              <a:buSzPts val="2000"/>
              <a:buNone/>
            </a:pPr>
            <a:r>
              <a:t/>
            </a:r>
            <a:endParaRPr sz="2000"/>
          </a:p>
        </p:txBody>
      </p:sp>
      <p:sp>
        <p:nvSpPr>
          <p:cNvPr id="192" name="Google Shape;192;p11"/>
          <p:cNvSpPr txBox="1"/>
          <p:nvPr/>
        </p:nvSpPr>
        <p:spPr>
          <a:xfrm>
            <a:off x="564515" y="446405"/>
            <a:ext cx="8885555" cy="829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800">
                <a:solidFill>
                  <a:schemeClr val="dk1"/>
                </a:solidFill>
                <a:latin typeface="Calibri"/>
                <a:ea typeface="Calibri"/>
                <a:cs typeface="Calibri"/>
                <a:sym typeface="Calibri"/>
              </a:rPr>
              <a:t>Tabelas</a:t>
            </a:r>
            <a:r>
              <a:rPr lang="pt-BR"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2"/>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198" name="Google Shape;198;p12"/>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199" name="Google Shape;199;p12"/>
          <p:cNvSpPr txBox="1"/>
          <p:nvPr>
            <p:ph idx="1" type="body"/>
          </p:nvPr>
        </p:nvSpPr>
        <p:spPr>
          <a:xfrm>
            <a:off x="328930" y="1069975"/>
            <a:ext cx="10360025" cy="53752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b="1" lang="pt-BR" sz="2400"/>
              <a:t>• Linhas da tabela</a:t>
            </a:r>
            <a:endParaRPr b="1" sz="2400"/>
          </a:p>
          <a:p>
            <a:pPr indent="0" lvl="0" marL="0" rtl="0" algn="l">
              <a:lnSpc>
                <a:spcPct val="90000"/>
              </a:lnSpc>
              <a:spcBef>
                <a:spcPts val="1000"/>
              </a:spcBef>
              <a:spcAft>
                <a:spcPts val="0"/>
              </a:spcAft>
              <a:buClr>
                <a:schemeClr val="dk1"/>
              </a:buClr>
              <a:buSzPts val="1600"/>
              <a:buNone/>
            </a:pPr>
            <a:r>
              <a:rPr lang="pt-BR" sz="1600"/>
              <a:t> Cada linha da tabela começa com um e termina com uma tag &lt;tr&gt;&lt;/tr&gt;.  Ex:</a:t>
            </a:r>
            <a:endParaRPr sz="1600"/>
          </a:p>
          <a:p>
            <a:pPr indent="0" lvl="0" marL="0" rtl="0" algn="l">
              <a:lnSpc>
                <a:spcPct val="90000"/>
              </a:lnSpc>
              <a:spcBef>
                <a:spcPts val="1000"/>
              </a:spcBef>
              <a:spcAft>
                <a:spcPts val="0"/>
              </a:spcAft>
              <a:buClr>
                <a:schemeClr val="dk1"/>
              </a:buClr>
              <a:buSzPts val="1600"/>
              <a:buNone/>
            </a:pPr>
            <a:r>
              <a:rPr lang="pt-BR" sz="1600"/>
              <a:t>&lt;table&gt;</a:t>
            </a:r>
            <a:endParaRPr sz="1600"/>
          </a:p>
          <a:p>
            <a:pPr indent="0" lvl="0" marL="0" rtl="0" algn="l">
              <a:lnSpc>
                <a:spcPct val="90000"/>
              </a:lnSpc>
              <a:spcBef>
                <a:spcPts val="1000"/>
              </a:spcBef>
              <a:spcAft>
                <a:spcPts val="0"/>
              </a:spcAft>
              <a:buClr>
                <a:schemeClr val="dk1"/>
              </a:buClr>
              <a:buSzPts val="1600"/>
              <a:buNone/>
            </a:pPr>
            <a:r>
              <a:rPr lang="pt-BR" sz="1600"/>
              <a:t>&lt;tr&gt;</a:t>
            </a:r>
            <a:endParaRPr sz="1600"/>
          </a:p>
          <a:p>
            <a:pPr indent="0" lvl="0" marL="0" rtl="0" algn="l">
              <a:lnSpc>
                <a:spcPct val="90000"/>
              </a:lnSpc>
              <a:spcBef>
                <a:spcPts val="1000"/>
              </a:spcBef>
              <a:spcAft>
                <a:spcPts val="0"/>
              </a:spcAft>
              <a:buClr>
                <a:schemeClr val="dk1"/>
              </a:buClr>
              <a:buSzPts val="1600"/>
              <a:buNone/>
            </a:pPr>
            <a:r>
              <a:rPr lang="pt-BR" sz="1600"/>
              <a:t> &lt;td&gt;Emil&lt;/td&gt;</a:t>
            </a:r>
            <a:endParaRPr sz="1600"/>
          </a:p>
          <a:p>
            <a:pPr indent="0" lvl="0" marL="0" rtl="0" algn="l">
              <a:lnSpc>
                <a:spcPct val="90000"/>
              </a:lnSpc>
              <a:spcBef>
                <a:spcPts val="1000"/>
              </a:spcBef>
              <a:spcAft>
                <a:spcPts val="0"/>
              </a:spcAft>
              <a:buClr>
                <a:schemeClr val="dk1"/>
              </a:buClr>
              <a:buSzPts val="1600"/>
              <a:buNone/>
            </a:pPr>
            <a:r>
              <a:rPr lang="pt-BR" sz="1600"/>
              <a:t>&lt;td&gt;Tobias&lt;/td&gt;</a:t>
            </a:r>
            <a:endParaRPr sz="1600"/>
          </a:p>
          <a:p>
            <a:pPr indent="0" lvl="0" marL="0" rtl="0" algn="l">
              <a:lnSpc>
                <a:spcPct val="90000"/>
              </a:lnSpc>
              <a:spcBef>
                <a:spcPts val="1000"/>
              </a:spcBef>
              <a:spcAft>
                <a:spcPts val="0"/>
              </a:spcAft>
              <a:buClr>
                <a:schemeClr val="dk1"/>
              </a:buClr>
              <a:buSzPts val="1600"/>
              <a:buNone/>
            </a:pPr>
            <a:r>
              <a:rPr lang="pt-BR" sz="1600"/>
              <a:t>&lt;td&gt;Linus&lt;/td&gt;</a:t>
            </a:r>
            <a:endParaRPr sz="1600"/>
          </a:p>
          <a:p>
            <a:pPr indent="0" lvl="0" marL="0" rtl="0" algn="l">
              <a:lnSpc>
                <a:spcPct val="90000"/>
              </a:lnSpc>
              <a:spcBef>
                <a:spcPts val="1000"/>
              </a:spcBef>
              <a:spcAft>
                <a:spcPts val="0"/>
              </a:spcAft>
              <a:buClr>
                <a:schemeClr val="dk1"/>
              </a:buClr>
              <a:buSzPts val="1600"/>
              <a:buNone/>
            </a:pPr>
            <a:r>
              <a:rPr lang="pt-BR" sz="1600"/>
              <a:t>&lt;/tr&gt;</a:t>
            </a:r>
            <a:endParaRPr sz="1600"/>
          </a:p>
          <a:p>
            <a:pPr indent="0" lvl="0" marL="0" rtl="0" algn="l">
              <a:lnSpc>
                <a:spcPct val="90000"/>
              </a:lnSpc>
              <a:spcBef>
                <a:spcPts val="1000"/>
              </a:spcBef>
              <a:spcAft>
                <a:spcPts val="0"/>
              </a:spcAft>
              <a:buClr>
                <a:schemeClr val="dk1"/>
              </a:buClr>
              <a:buSzPts val="1600"/>
              <a:buNone/>
            </a:pPr>
            <a:r>
              <a:rPr lang="pt-BR" sz="1600"/>
              <a:t>&lt;tr&gt;</a:t>
            </a:r>
            <a:endParaRPr sz="1600"/>
          </a:p>
          <a:p>
            <a:pPr indent="0" lvl="0" marL="0" rtl="0" algn="l">
              <a:lnSpc>
                <a:spcPct val="90000"/>
              </a:lnSpc>
              <a:spcBef>
                <a:spcPts val="1000"/>
              </a:spcBef>
              <a:spcAft>
                <a:spcPts val="0"/>
              </a:spcAft>
              <a:buClr>
                <a:schemeClr val="dk1"/>
              </a:buClr>
              <a:buSzPts val="1600"/>
              <a:buNone/>
            </a:pPr>
            <a:r>
              <a:rPr lang="pt-BR" sz="1600"/>
              <a:t> &lt;td&gt;16&lt;/td&gt; &lt;td&gt;14&lt;/td&gt; </a:t>
            </a:r>
            <a:endParaRPr sz="1600"/>
          </a:p>
          <a:p>
            <a:pPr indent="0" lvl="0" marL="0" rtl="0" algn="l">
              <a:lnSpc>
                <a:spcPct val="90000"/>
              </a:lnSpc>
              <a:spcBef>
                <a:spcPts val="1000"/>
              </a:spcBef>
              <a:spcAft>
                <a:spcPts val="0"/>
              </a:spcAft>
              <a:buClr>
                <a:schemeClr val="dk1"/>
              </a:buClr>
              <a:buSzPts val="1600"/>
              <a:buNone/>
            </a:pPr>
            <a:r>
              <a:rPr lang="pt-BR" sz="1600"/>
              <a:t>&lt;td&gt;10&lt;/td&gt;</a:t>
            </a:r>
            <a:endParaRPr sz="1600"/>
          </a:p>
          <a:p>
            <a:pPr indent="0" lvl="0" marL="0" rtl="0" algn="l">
              <a:lnSpc>
                <a:spcPct val="90000"/>
              </a:lnSpc>
              <a:spcBef>
                <a:spcPts val="1000"/>
              </a:spcBef>
              <a:spcAft>
                <a:spcPts val="0"/>
              </a:spcAft>
              <a:buClr>
                <a:schemeClr val="dk1"/>
              </a:buClr>
              <a:buSzPts val="1600"/>
              <a:buNone/>
            </a:pPr>
            <a:r>
              <a:rPr lang="pt-BR" sz="1600"/>
              <a:t>&lt;/tr&gt;</a:t>
            </a:r>
            <a:endParaRPr sz="1600"/>
          </a:p>
          <a:p>
            <a:pPr indent="0" lvl="0" marL="0" rtl="0" algn="l">
              <a:lnSpc>
                <a:spcPct val="90000"/>
              </a:lnSpc>
              <a:spcBef>
                <a:spcPts val="1000"/>
              </a:spcBef>
              <a:spcAft>
                <a:spcPts val="0"/>
              </a:spcAft>
              <a:buClr>
                <a:schemeClr val="dk1"/>
              </a:buClr>
              <a:buSzPts val="1600"/>
              <a:buNone/>
            </a:pPr>
            <a:r>
              <a:rPr lang="pt-BR" sz="1600"/>
              <a:t>&lt;/table&gt;</a:t>
            </a:r>
            <a:endParaRPr sz="1600"/>
          </a:p>
          <a:p>
            <a:pPr indent="0" lvl="0" marL="0" rtl="0" algn="l">
              <a:lnSpc>
                <a:spcPct val="90000"/>
              </a:lnSpc>
              <a:spcBef>
                <a:spcPts val="1000"/>
              </a:spcBef>
              <a:spcAft>
                <a:spcPts val="0"/>
              </a:spcAft>
              <a:buClr>
                <a:schemeClr val="dk1"/>
              </a:buClr>
              <a:buSzPts val="1600"/>
              <a:buNone/>
            </a:pPr>
            <a:r>
              <a:rPr lang="pt-BR" sz="1600"/>
              <a:t>A tag principal para inserir uma tabela é o &lt;table&gt;. Para iniciar uma linha, utilizamos a tag &lt;tr&gt;. Para iniciar uma coluna (célula) dentro da linha, usamos a tag &lt;td&gt; . Um atributo importante para quem inicia, é o border, assim é possível visualizar as linhas da tabela.</a:t>
            </a:r>
            <a:endParaRPr sz="1600"/>
          </a:p>
        </p:txBody>
      </p:sp>
      <p:sp>
        <p:nvSpPr>
          <p:cNvPr id="200" name="Google Shape;20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01" name="Google Shape;20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02" name="Google Shape;202;p12"/>
          <p:cNvSpPr txBox="1"/>
          <p:nvPr/>
        </p:nvSpPr>
        <p:spPr>
          <a:xfrm>
            <a:off x="564515" y="240030"/>
            <a:ext cx="8885555" cy="829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800">
                <a:solidFill>
                  <a:schemeClr val="dk1"/>
                </a:solidFill>
                <a:latin typeface="Calibri"/>
                <a:ea typeface="Calibri"/>
                <a:cs typeface="Calibri"/>
                <a:sym typeface="Calibri"/>
              </a:rPr>
              <a:t>Tabelas</a:t>
            </a:r>
            <a:r>
              <a:rPr lang="pt-BR"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199">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6" st="6"/>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7" st="7"/>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8" st="8"/>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9" st="9"/>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10" st="1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11" st="1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12" st="1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199">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3"/>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08" name="Google Shape;208;p13"/>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09" name="Google Shape;20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10" name="Google Shape;2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11" name="Google Shape;211;p13"/>
          <p:cNvSpPr txBox="1"/>
          <p:nvPr/>
        </p:nvSpPr>
        <p:spPr>
          <a:xfrm>
            <a:off x="564515" y="240030"/>
            <a:ext cx="8885555" cy="829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800">
                <a:solidFill>
                  <a:schemeClr val="dk1"/>
                </a:solidFill>
                <a:latin typeface="Calibri"/>
                <a:ea typeface="Calibri"/>
                <a:cs typeface="Calibri"/>
                <a:sym typeface="Calibri"/>
              </a:rPr>
              <a:t>Cabeçalho Tabela - Tag &lt;th&gt;</a:t>
            </a:r>
            <a:r>
              <a:rPr lang="pt-BR"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pic>
        <p:nvPicPr>
          <p:cNvPr id="212" name="Google Shape;212;p13"/>
          <p:cNvPicPr preferRelativeResize="0"/>
          <p:nvPr>
            <p:ph idx="1" type="body"/>
          </p:nvPr>
        </p:nvPicPr>
        <p:blipFill rotWithShape="1">
          <a:blip r:embed="rId4">
            <a:alphaModFix/>
          </a:blip>
          <a:srcRect b="0" l="0" r="0" t="0"/>
          <a:stretch/>
        </p:blipFill>
        <p:spPr>
          <a:xfrm>
            <a:off x="3054985" y="1537335"/>
            <a:ext cx="4605020" cy="43516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18" name="Google Shape;218;p14"/>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19" name="Google Shape;21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20" name="Google Shape;2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21" name="Google Shape;221;p14"/>
          <p:cNvSpPr txBox="1"/>
          <p:nvPr>
            <p:ph idx="1" type="body"/>
          </p:nvPr>
        </p:nvSpPr>
        <p:spPr>
          <a:xfrm>
            <a:off x="525145" y="782320"/>
            <a:ext cx="9695815" cy="539496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None/>
            </a:pPr>
            <a:r>
              <a:rPr b="1" lang="pt-BR" sz="4000"/>
              <a:t>Tabelas - Formatação</a:t>
            </a:r>
            <a:endParaRPr b="1" sz="4000"/>
          </a:p>
          <a:p>
            <a:pPr indent="0" lvl="0" marL="0" rtl="0" algn="l">
              <a:lnSpc>
                <a:spcPct val="90000"/>
              </a:lnSpc>
              <a:spcBef>
                <a:spcPts val="1000"/>
              </a:spcBef>
              <a:spcAft>
                <a:spcPts val="0"/>
              </a:spcAft>
              <a:buClr>
                <a:schemeClr val="dk1"/>
              </a:buClr>
              <a:buSzPct val="100000"/>
              <a:buNone/>
            </a:pPr>
            <a:r>
              <a:rPr lang="pt-BR"/>
              <a:t>Bordas da tabela</a:t>
            </a:r>
            <a:endParaRPr/>
          </a:p>
          <a:p>
            <a:pPr indent="0" lvl="0" marL="0" rtl="0" algn="l">
              <a:lnSpc>
                <a:spcPct val="90000"/>
              </a:lnSpc>
              <a:spcBef>
                <a:spcPts val="1000"/>
              </a:spcBef>
              <a:spcAft>
                <a:spcPts val="0"/>
              </a:spcAft>
              <a:buClr>
                <a:schemeClr val="dk1"/>
              </a:buClr>
              <a:buSzPct val="100000"/>
              <a:buNone/>
            </a:pPr>
            <a:r>
              <a:rPr lang="pt-BR"/>
              <a:t>Tamanhos da tabela</a:t>
            </a:r>
            <a:endParaRPr/>
          </a:p>
          <a:p>
            <a:pPr indent="0" lvl="0" marL="0" rtl="0" algn="l">
              <a:lnSpc>
                <a:spcPct val="90000"/>
              </a:lnSpc>
              <a:spcBef>
                <a:spcPts val="1000"/>
              </a:spcBef>
              <a:spcAft>
                <a:spcPts val="0"/>
              </a:spcAft>
              <a:buClr>
                <a:schemeClr val="dk1"/>
              </a:buClr>
              <a:buSzPct val="100000"/>
              <a:buNone/>
            </a:pPr>
            <a:r>
              <a:rPr lang="pt-BR"/>
              <a:t>Cabeçalho da tabela</a:t>
            </a:r>
            <a:endParaRPr/>
          </a:p>
          <a:p>
            <a:pPr indent="0" lvl="0" marL="0" rtl="0" algn="l">
              <a:lnSpc>
                <a:spcPct val="90000"/>
              </a:lnSpc>
              <a:spcBef>
                <a:spcPts val="1000"/>
              </a:spcBef>
              <a:spcAft>
                <a:spcPts val="0"/>
              </a:spcAft>
              <a:buClr>
                <a:schemeClr val="dk1"/>
              </a:buClr>
              <a:buSzPct val="100000"/>
              <a:buNone/>
            </a:pPr>
            <a:r>
              <a:rPr lang="pt-BR"/>
              <a:t>Preenchimento e espaçamento</a:t>
            </a:r>
            <a:endParaRPr/>
          </a:p>
          <a:p>
            <a:pPr indent="0" lvl="0" marL="0" rtl="0" algn="l">
              <a:lnSpc>
                <a:spcPct val="90000"/>
              </a:lnSpc>
              <a:spcBef>
                <a:spcPts val="1000"/>
              </a:spcBef>
              <a:spcAft>
                <a:spcPts val="0"/>
              </a:spcAft>
              <a:buClr>
                <a:schemeClr val="dk1"/>
              </a:buClr>
              <a:buSzPct val="100000"/>
              <a:buNone/>
            </a:pPr>
            <a:r>
              <a:rPr lang="pt-BR"/>
              <a:t>Tamanhos</a:t>
            </a:r>
            <a:endParaRPr/>
          </a:p>
          <a:p>
            <a:pPr indent="0" lvl="0" marL="0" rtl="0" algn="l">
              <a:lnSpc>
                <a:spcPct val="90000"/>
              </a:lnSpc>
              <a:spcBef>
                <a:spcPts val="1000"/>
              </a:spcBef>
              <a:spcAft>
                <a:spcPts val="0"/>
              </a:spcAft>
              <a:buClr>
                <a:schemeClr val="dk1"/>
              </a:buClr>
              <a:buSzPct val="100000"/>
              <a:buNone/>
            </a:pPr>
            <a:r>
              <a:rPr lang="pt-BR"/>
              <a:t>Colspan &amp; Rowspan</a:t>
            </a:r>
            <a:endParaRPr/>
          </a:p>
          <a:p>
            <a:pPr indent="0" lvl="0" marL="0" rtl="0" algn="l">
              <a:lnSpc>
                <a:spcPct val="90000"/>
              </a:lnSpc>
              <a:spcBef>
                <a:spcPts val="1000"/>
              </a:spcBef>
              <a:spcAft>
                <a:spcPts val="0"/>
              </a:spcAft>
              <a:buClr>
                <a:schemeClr val="dk1"/>
              </a:buClr>
              <a:buSzPct val="100000"/>
              <a:buNone/>
            </a:pPr>
            <a:r>
              <a:rPr lang="pt-BR"/>
              <a:t>Estilos</a:t>
            </a:r>
            <a:endParaRPr/>
          </a:p>
          <a:p>
            <a:pPr indent="0" lvl="0" marL="0" rtl="0" algn="l">
              <a:lnSpc>
                <a:spcPct val="90000"/>
              </a:lnSpc>
              <a:spcBef>
                <a:spcPts val="1000"/>
              </a:spcBef>
              <a:spcAft>
                <a:spcPts val="0"/>
              </a:spcAft>
              <a:buClr>
                <a:schemeClr val="dk1"/>
              </a:buClr>
              <a:buSzPct val="100000"/>
              <a:buNone/>
            </a:pPr>
            <a:r>
              <a:rPr lang="pt-BR"/>
              <a:t>Agrupamento</a:t>
            </a:r>
            <a:endParaRPr/>
          </a:p>
          <a:p>
            <a:pPr indent="0" lvl="0" marL="0" rtl="0" algn="l">
              <a:lnSpc>
                <a:spcPct val="90000"/>
              </a:lnSpc>
              <a:spcBef>
                <a:spcPts val="1000"/>
              </a:spcBef>
              <a:spcAft>
                <a:spcPts val="0"/>
              </a:spcAft>
              <a:buClr>
                <a:schemeClr val="dk1"/>
              </a:buClr>
              <a:buSzPct val="100000"/>
              <a:buNone/>
            </a:pPr>
            <a:r>
              <a:rPr lang="pt-BR"/>
              <a:t>Consulta:</a:t>
            </a:r>
            <a:endParaRPr/>
          </a:p>
          <a:p>
            <a:pPr indent="0" lvl="0" marL="0" rtl="0" algn="l">
              <a:lnSpc>
                <a:spcPct val="90000"/>
              </a:lnSpc>
              <a:spcBef>
                <a:spcPts val="1000"/>
              </a:spcBef>
              <a:spcAft>
                <a:spcPts val="0"/>
              </a:spcAft>
              <a:buClr>
                <a:schemeClr val="dk1"/>
              </a:buClr>
              <a:buSzPct val="100000"/>
              <a:buNone/>
            </a:pPr>
            <a:r>
              <a:rPr lang="pt-BR"/>
              <a:t>https://www.w3schools.com/html/html_tables.asp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5"/>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27" name="Google Shape;227;p15"/>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28" name="Google Shape;228;p15"/>
          <p:cNvSpPr txBox="1"/>
          <p:nvPr>
            <p:ph idx="1" type="body"/>
          </p:nvPr>
        </p:nvSpPr>
        <p:spPr>
          <a:xfrm>
            <a:off x="623555" y="1776063"/>
            <a:ext cx="9787200" cy="3874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b="1" lang="pt-BR" sz="2000"/>
              <a:t>Os links são encontrados em quase todas as páginas da web. Os links permitem que os usuários cliquem em seu caminho de página para página.</a:t>
            </a:r>
            <a:endParaRPr b="1" sz="2000"/>
          </a:p>
          <a:p>
            <a:pPr indent="0" lvl="0" marL="0" rtl="0" algn="l">
              <a:lnSpc>
                <a:spcPct val="90000"/>
              </a:lnSpc>
              <a:spcBef>
                <a:spcPts val="1000"/>
              </a:spcBef>
              <a:spcAft>
                <a:spcPts val="0"/>
              </a:spcAft>
              <a:buClr>
                <a:schemeClr val="dk1"/>
              </a:buClr>
              <a:buSzPts val="2000"/>
              <a:buNone/>
            </a:pPr>
            <a:r>
              <a:rPr b="1" lang="pt-BR" sz="2000"/>
              <a:t>Ex:</a:t>
            </a:r>
            <a:endParaRPr b="1" sz="2000"/>
          </a:p>
          <a:p>
            <a:pPr indent="0" lvl="0" marL="0" rtl="0" algn="l">
              <a:lnSpc>
                <a:spcPct val="90000"/>
              </a:lnSpc>
              <a:spcBef>
                <a:spcPts val="1000"/>
              </a:spcBef>
              <a:spcAft>
                <a:spcPts val="0"/>
              </a:spcAft>
              <a:buClr>
                <a:schemeClr val="dk1"/>
              </a:buClr>
              <a:buSzPts val="2000"/>
              <a:buNone/>
            </a:pPr>
            <a:r>
              <a:rPr b="1" lang="pt-BR" sz="2000"/>
              <a:t>&lt;a href="https://www.google.com.br/"&gt; GOOGLE &lt;/a&gt; </a:t>
            </a:r>
            <a:endParaRPr b="1" sz="2000"/>
          </a:p>
          <a:p>
            <a:pPr indent="0" lvl="0" marL="0" rtl="0" algn="l">
              <a:lnSpc>
                <a:spcPct val="90000"/>
              </a:lnSpc>
              <a:spcBef>
                <a:spcPts val="1000"/>
              </a:spcBef>
              <a:spcAft>
                <a:spcPts val="0"/>
              </a:spcAft>
              <a:buClr>
                <a:schemeClr val="dk1"/>
              </a:buClr>
              <a:buSzPts val="2000"/>
              <a:buNone/>
            </a:pPr>
            <a:r>
              <a:t/>
            </a:r>
            <a:endParaRPr b="1" sz="2000"/>
          </a:p>
          <a:p>
            <a:pPr indent="0" lvl="0" marL="0" rtl="0" algn="l">
              <a:lnSpc>
                <a:spcPct val="90000"/>
              </a:lnSpc>
              <a:spcBef>
                <a:spcPts val="1000"/>
              </a:spcBef>
              <a:spcAft>
                <a:spcPts val="0"/>
              </a:spcAft>
              <a:buClr>
                <a:schemeClr val="dk1"/>
              </a:buClr>
              <a:buSzPts val="2000"/>
              <a:buNone/>
            </a:pPr>
            <a:r>
              <a:rPr b="1" lang="pt-BR" sz="2000"/>
              <a:t>Link para página interna:</a:t>
            </a:r>
            <a:endParaRPr b="1" sz="2000"/>
          </a:p>
          <a:p>
            <a:pPr indent="0" lvl="0" marL="0" rtl="0" algn="l">
              <a:lnSpc>
                <a:spcPct val="90000"/>
              </a:lnSpc>
              <a:spcBef>
                <a:spcPts val="1000"/>
              </a:spcBef>
              <a:spcAft>
                <a:spcPts val="0"/>
              </a:spcAft>
              <a:buClr>
                <a:schemeClr val="dk1"/>
              </a:buClr>
              <a:buSzPts val="2000"/>
              <a:buNone/>
            </a:pPr>
            <a:r>
              <a:rPr b="1" lang="pt-BR" sz="2000"/>
              <a:t>&lt;a href=“paginas/contatos.html"&gt; Contatos &lt;/a&gt; </a:t>
            </a:r>
            <a:endParaRPr b="1" sz="2000"/>
          </a:p>
          <a:p>
            <a:pPr indent="0" lvl="0" marL="0" rtl="0" algn="l">
              <a:lnSpc>
                <a:spcPct val="90000"/>
              </a:lnSpc>
              <a:spcBef>
                <a:spcPts val="1000"/>
              </a:spcBef>
              <a:spcAft>
                <a:spcPts val="0"/>
              </a:spcAft>
              <a:buClr>
                <a:schemeClr val="dk1"/>
              </a:buClr>
              <a:buSzPts val="2000"/>
              <a:buNone/>
            </a:pPr>
            <a:r>
              <a:rPr b="1" lang="pt-BR" sz="2000"/>
              <a:t>Site de referencia: https://www.w3schools.com/html/html_links.asp</a:t>
            </a:r>
            <a:endParaRPr b="1" sz="2000"/>
          </a:p>
        </p:txBody>
      </p:sp>
      <p:sp>
        <p:nvSpPr>
          <p:cNvPr id="229" name="Google Shape;22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30" name="Google Shape;230;p15"/>
          <p:cNvSpPr txBox="1"/>
          <p:nvPr/>
        </p:nvSpPr>
        <p:spPr>
          <a:xfrm>
            <a:off x="564515" y="240030"/>
            <a:ext cx="8885555" cy="829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4800">
                <a:solidFill>
                  <a:schemeClr val="dk1"/>
                </a:solidFill>
                <a:latin typeface="Calibri"/>
                <a:ea typeface="Calibri"/>
                <a:cs typeface="Calibri"/>
                <a:sym typeface="Calibri"/>
              </a:rPr>
              <a:t>Links</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228">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2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36" name="Google Shape;236;p16"/>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37" name="Google Shape;237;p16"/>
          <p:cNvSpPr txBox="1"/>
          <p:nvPr>
            <p:ph idx="1" type="body"/>
          </p:nvPr>
        </p:nvSpPr>
        <p:spPr>
          <a:xfrm>
            <a:off x="454025" y="1261745"/>
            <a:ext cx="9874250" cy="4915535"/>
          </a:xfrm>
          <a:prstGeom prst="rect">
            <a:avLst/>
          </a:prstGeom>
          <a:noFill/>
          <a:ln>
            <a:noFill/>
          </a:ln>
        </p:spPr>
        <p:txBody>
          <a:bodyPr anchorCtr="0" anchor="t" bIns="45700" lIns="91425" spcFirstLastPara="1" rIns="91425" wrap="square" tIns="45700">
            <a:normAutofit fontScale="60000"/>
          </a:bodyPr>
          <a:lstStyle/>
          <a:p>
            <a:pPr indent="0" lvl="0" marL="0" rtl="0" algn="l">
              <a:lnSpc>
                <a:spcPct val="90000"/>
              </a:lnSpc>
              <a:spcBef>
                <a:spcPts val="0"/>
              </a:spcBef>
              <a:spcAft>
                <a:spcPts val="0"/>
              </a:spcAft>
              <a:buClr>
                <a:schemeClr val="dk1"/>
              </a:buClr>
              <a:buSzPct val="100000"/>
              <a:buNone/>
            </a:pPr>
            <a:r>
              <a:rPr b="1" lang="pt-BR"/>
              <a:t>Valores de cor RGB</a:t>
            </a:r>
            <a:endParaRPr b="1"/>
          </a:p>
          <a:p>
            <a:pPr indent="0" lvl="0" marL="0" rtl="0" algn="l">
              <a:lnSpc>
                <a:spcPct val="90000"/>
              </a:lnSpc>
              <a:spcBef>
                <a:spcPts val="1000"/>
              </a:spcBef>
              <a:spcAft>
                <a:spcPts val="0"/>
              </a:spcAft>
              <a:buClr>
                <a:schemeClr val="dk1"/>
              </a:buClr>
              <a:buSzPct val="100000"/>
              <a:buNone/>
            </a:pPr>
            <a:r>
              <a:rPr b="1" lang="pt-BR"/>
              <a:t>Em HTML, uma cor pode ser especificada como um valor RGB, usando esta fórmula:</a:t>
            </a:r>
            <a:endParaRPr b="1"/>
          </a:p>
          <a:p>
            <a:pPr indent="0" lvl="0" marL="0" rtl="0" algn="l">
              <a:lnSpc>
                <a:spcPct val="90000"/>
              </a:lnSpc>
              <a:spcBef>
                <a:spcPts val="1000"/>
              </a:spcBef>
              <a:spcAft>
                <a:spcPts val="0"/>
              </a:spcAft>
              <a:buClr>
                <a:schemeClr val="dk1"/>
              </a:buClr>
              <a:buSzPct val="100000"/>
              <a:buNone/>
            </a:pPr>
            <a:r>
              <a:rPr b="1" lang="pt-BR"/>
              <a:t>rgb(vermelho, verde, azul). Cada parâmetro (vermelho, verde e azul) define a intensidade da cor com </a:t>
            </a:r>
            <a:endParaRPr b="1"/>
          </a:p>
          <a:p>
            <a:pPr indent="0" lvl="0" marL="0" rtl="0" algn="l">
              <a:lnSpc>
                <a:spcPct val="90000"/>
              </a:lnSpc>
              <a:spcBef>
                <a:spcPts val="1000"/>
              </a:spcBef>
              <a:spcAft>
                <a:spcPts val="0"/>
              </a:spcAft>
              <a:buClr>
                <a:schemeClr val="dk1"/>
              </a:buClr>
              <a:buSzPct val="100000"/>
              <a:buNone/>
            </a:pPr>
            <a:r>
              <a:rPr b="1" lang="pt-BR"/>
              <a:t>um valor entre 0 e 255. Isso significa que existem 256 x 256 x 256 = 16777216 cores possíveis!</a:t>
            </a:r>
            <a:endParaRPr b="1"/>
          </a:p>
          <a:p>
            <a:pPr indent="0" lvl="0" marL="0" rtl="0" algn="l">
              <a:lnSpc>
                <a:spcPct val="90000"/>
              </a:lnSpc>
              <a:spcBef>
                <a:spcPts val="1000"/>
              </a:spcBef>
              <a:spcAft>
                <a:spcPts val="0"/>
              </a:spcAft>
              <a:buClr>
                <a:schemeClr val="dk1"/>
              </a:buClr>
              <a:buSzPct val="100000"/>
              <a:buNone/>
            </a:pPr>
            <a:r>
              <a:rPr b="1" lang="pt-BR"/>
              <a:t>Por exemplo, rgb(255, 0, 0) é exibido como vermelho, porque vermelho é definido para seu valor mais </a:t>
            </a:r>
            <a:endParaRPr b="1"/>
          </a:p>
          <a:p>
            <a:pPr indent="0" lvl="0" marL="0" rtl="0" algn="l">
              <a:lnSpc>
                <a:spcPct val="90000"/>
              </a:lnSpc>
              <a:spcBef>
                <a:spcPts val="1000"/>
              </a:spcBef>
              <a:spcAft>
                <a:spcPts val="0"/>
              </a:spcAft>
              <a:buClr>
                <a:schemeClr val="dk1"/>
              </a:buClr>
              <a:buSzPct val="100000"/>
              <a:buNone/>
            </a:pPr>
            <a:r>
              <a:rPr b="1" lang="pt-BR"/>
              <a:t>alto (255), e os outros dois (verde e azul) são definido como 0.</a:t>
            </a:r>
            <a:endParaRPr b="1"/>
          </a:p>
          <a:p>
            <a:pPr indent="0" lvl="0" marL="0" rtl="0" algn="l">
              <a:lnSpc>
                <a:spcPct val="90000"/>
              </a:lnSpc>
              <a:spcBef>
                <a:spcPts val="1000"/>
              </a:spcBef>
              <a:spcAft>
                <a:spcPts val="0"/>
              </a:spcAft>
              <a:buClr>
                <a:schemeClr val="dk1"/>
              </a:buClr>
              <a:buSzPct val="100000"/>
              <a:buNone/>
            </a:pPr>
            <a:r>
              <a:rPr b="1" lang="pt-BR"/>
              <a:t>Outro exemplo, rgb(0, 255, 0) é exibido como verde, porque verde é definido para seu valor mais alto </a:t>
            </a:r>
            <a:endParaRPr b="1"/>
          </a:p>
          <a:p>
            <a:pPr indent="0" lvl="0" marL="0" rtl="0" algn="l">
              <a:lnSpc>
                <a:spcPct val="90000"/>
              </a:lnSpc>
              <a:spcBef>
                <a:spcPts val="1000"/>
              </a:spcBef>
              <a:spcAft>
                <a:spcPts val="0"/>
              </a:spcAft>
              <a:buClr>
                <a:schemeClr val="dk1"/>
              </a:buClr>
              <a:buSzPct val="100000"/>
              <a:buNone/>
            </a:pPr>
            <a:r>
              <a:rPr b="1" lang="pt-BR"/>
              <a:t>(255), e os outros dois (vermelho e azul) são definido como 0.</a:t>
            </a:r>
            <a:endParaRPr b="1"/>
          </a:p>
          <a:p>
            <a:pPr indent="0" lvl="0" marL="0" rtl="0" algn="l">
              <a:lnSpc>
                <a:spcPct val="90000"/>
              </a:lnSpc>
              <a:spcBef>
                <a:spcPts val="1000"/>
              </a:spcBef>
              <a:spcAft>
                <a:spcPts val="0"/>
              </a:spcAft>
              <a:buClr>
                <a:schemeClr val="dk1"/>
              </a:buClr>
              <a:buSzPct val="100000"/>
              <a:buNone/>
            </a:pPr>
            <a:r>
              <a:rPr b="1" lang="pt-BR"/>
              <a:t>Para exibir preto, defina todos os parâmetros de cor como 0, assim: rgb(0, 0, 0).</a:t>
            </a:r>
            <a:endParaRPr b="1"/>
          </a:p>
          <a:p>
            <a:pPr indent="0" lvl="0" marL="0" rtl="0" algn="l">
              <a:lnSpc>
                <a:spcPct val="90000"/>
              </a:lnSpc>
              <a:spcBef>
                <a:spcPts val="1000"/>
              </a:spcBef>
              <a:spcAft>
                <a:spcPts val="0"/>
              </a:spcAft>
              <a:buClr>
                <a:schemeClr val="dk1"/>
              </a:buClr>
              <a:buSzPct val="100000"/>
              <a:buNone/>
            </a:pPr>
            <a:r>
              <a:rPr b="1" lang="pt-BR"/>
              <a:t>Para exibir branco, defina todos os parâmetros de cor como 255, como Isto: RGB(255, 255, 255).</a:t>
            </a:r>
            <a:endParaRPr b="1"/>
          </a:p>
        </p:txBody>
      </p:sp>
      <p:sp>
        <p:nvSpPr>
          <p:cNvPr id="238" name="Google Shape;23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39" name="Google Shape;2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40" name="Google Shape;240;p16"/>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Cores RGB </a:t>
            </a:r>
            <a:endParaRPr b="1"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237">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6" st="6"/>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7" st="7"/>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8" st="8"/>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3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46" name="Google Shape;246;p17"/>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47" name="Google Shape;247;p17"/>
          <p:cNvSpPr txBox="1"/>
          <p:nvPr>
            <p:ph idx="1" type="body"/>
          </p:nvPr>
        </p:nvSpPr>
        <p:spPr>
          <a:xfrm>
            <a:off x="454025" y="1261745"/>
            <a:ext cx="9874250" cy="4915535"/>
          </a:xfrm>
          <a:prstGeom prst="rect">
            <a:avLst/>
          </a:prstGeom>
          <a:noFill/>
          <a:ln>
            <a:noFill/>
          </a:ln>
        </p:spPr>
        <p:txBody>
          <a:bodyPr anchorCtr="0" anchor="t" bIns="45700" lIns="91425" spcFirstLastPara="1" rIns="91425" wrap="square" tIns="45700">
            <a:normAutofit fontScale="70000"/>
          </a:bodyPr>
          <a:lstStyle/>
          <a:p>
            <a:pPr indent="0" lvl="0" marL="0" rtl="0" algn="l">
              <a:lnSpc>
                <a:spcPct val="90000"/>
              </a:lnSpc>
              <a:spcBef>
                <a:spcPts val="0"/>
              </a:spcBef>
              <a:spcAft>
                <a:spcPts val="0"/>
              </a:spcAft>
              <a:buClr>
                <a:schemeClr val="dk1"/>
              </a:buClr>
              <a:buSzPct val="100000"/>
              <a:buNone/>
            </a:pPr>
            <a:r>
              <a:rPr b="1" lang="pt-BR"/>
              <a:t>Valores de cor HEX</a:t>
            </a:r>
            <a:endParaRPr b="1"/>
          </a:p>
          <a:p>
            <a:pPr indent="0" lvl="0" marL="0" rtl="0" algn="l">
              <a:lnSpc>
                <a:spcPct val="90000"/>
              </a:lnSpc>
              <a:spcBef>
                <a:spcPts val="1000"/>
              </a:spcBef>
              <a:spcAft>
                <a:spcPts val="0"/>
              </a:spcAft>
              <a:buClr>
                <a:schemeClr val="dk1"/>
              </a:buClr>
              <a:buSzPct val="100000"/>
              <a:buNone/>
            </a:pPr>
            <a:r>
              <a:rPr b="1" lang="pt-BR"/>
              <a:t>Em HTML, uma cor pode ser especificada usando um valor hexadecimal em o formulário:</a:t>
            </a:r>
            <a:endParaRPr b="1"/>
          </a:p>
          <a:p>
            <a:pPr indent="0" lvl="0" marL="0" rtl="0" algn="l">
              <a:lnSpc>
                <a:spcPct val="90000"/>
              </a:lnSpc>
              <a:spcBef>
                <a:spcPts val="1000"/>
              </a:spcBef>
              <a:spcAft>
                <a:spcPts val="0"/>
              </a:spcAft>
              <a:buClr>
                <a:schemeClr val="dk1"/>
              </a:buClr>
              <a:buSzPct val="100000"/>
              <a:buNone/>
            </a:pPr>
            <a:r>
              <a:rPr b="1" lang="pt-BR"/>
              <a:t>#Rrggbb</a:t>
            </a:r>
            <a:endParaRPr b="1"/>
          </a:p>
          <a:p>
            <a:pPr indent="0" lvl="0" marL="0" rtl="0" algn="l">
              <a:lnSpc>
                <a:spcPct val="90000"/>
              </a:lnSpc>
              <a:spcBef>
                <a:spcPts val="1000"/>
              </a:spcBef>
              <a:spcAft>
                <a:spcPts val="0"/>
              </a:spcAft>
              <a:buClr>
                <a:schemeClr val="dk1"/>
              </a:buClr>
              <a:buSzPct val="100000"/>
              <a:buNone/>
            </a:pPr>
            <a:r>
              <a:rPr b="1" lang="pt-BR"/>
              <a:t>Onde rr (vermelho), gg (verde) e bb (azul) são valores hexadecimais entre 00 e ff (o mesmo </a:t>
            </a:r>
            <a:endParaRPr b="1"/>
          </a:p>
          <a:p>
            <a:pPr indent="0" lvl="0" marL="0" rtl="0" algn="l">
              <a:lnSpc>
                <a:spcPct val="90000"/>
              </a:lnSpc>
              <a:spcBef>
                <a:spcPts val="1000"/>
              </a:spcBef>
              <a:spcAft>
                <a:spcPts val="0"/>
              </a:spcAft>
              <a:buClr>
                <a:schemeClr val="dk1"/>
              </a:buClr>
              <a:buSzPct val="100000"/>
              <a:buNone/>
            </a:pPr>
            <a:r>
              <a:rPr b="1" lang="pt-BR"/>
              <a:t>que decimal 0-255).</a:t>
            </a:r>
            <a:endParaRPr b="1"/>
          </a:p>
          <a:p>
            <a:pPr indent="0" lvl="0" marL="0" rtl="0" algn="l">
              <a:lnSpc>
                <a:spcPct val="90000"/>
              </a:lnSpc>
              <a:spcBef>
                <a:spcPts val="1000"/>
              </a:spcBef>
              <a:spcAft>
                <a:spcPts val="0"/>
              </a:spcAft>
              <a:buClr>
                <a:schemeClr val="dk1"/>
              </a:buClr>
              <a:buSzPct val="100000"/>
              <a:buNone/>
            </a:pPr>
            <a:r>
              <a:rPr b="1" lang="pt-BR"/>
              <a:t>Por exemplo, #ff0000 é exibido como vermelho, porque vermelho é definido como seu valor </a:t>
            </a:r>
            <a:endParaRPr b="1"/>
          </a:p>
          <a:p>
            <a:pPr indent="0" lvl="0" marL="0" rtl="0" algn="l">
              <a:lnSpc>
                <a:spcPct val="90000"/>
              </a:lnSpc>
              <a:spcBef>
                <a:spcPts val="1000"/>
              </a:spcBef>
              <a:spcAft>
                <a:spcPts val="0"/>
              </a:spcAft>
              <a:buClr>
                <a:schemeClr val="dk1"/>
              </a:buClr>
              <a:buSzPct val="100000"/>
              <a:buNone/>
            </a:pPr>
            <a:r>
              <a:rPr b="1" lang="pt-BR"/>
              <a:t>mais alto (ff) e o outro dois (verde e azul) estão definidos como 00.</a:t>
            </a:r>
            <a:endParaRPr b="1"/>
          </a:p>
          <a:p>
            <a:pPr indent="0" lvl="0" marL="0" rtl="0" algn="l">
              <a:lnSpc>
                <a:spcPct val="90000"/>
              </a:lnSpc>
              <a:spcBef>
                <a:spcPts val="1000"/>
              </a:spcBef>
              <a:spcAft>
                <a:spcPts val="0"/>
              </a:spcAft>
              <a:buClr>
                <a:schemeClr val="dk1"/>
              </a:buClr>
              <a:buSzPct val="100000"/>
              <a:buNone/>
            </a:pPr>
            <a:r>
              <a:rPr b="1" lang="pt-BR"/>
              <a:t>Outro exemplo, #00ff00 é exibido como verde, porque verde é definido como seu valor mais </a:t>
            </a:r>
            <a:endParaRPr b="1"/>
          </a:p>
          <a:p>
            <a:pPr indent="0" lvl="0" marL="0" rtl="0" algn="l">
              <a:lnSpc>
                <a:spcPct val="90000"/>
              </a:lnSpc>
              <a:spcBef>
                <a:spcPts val="1000"/>
              </a:spcBef>
              <a:spcAft>
                <a:spcPts val="0"/>
              </a:spcAft>
              <a:buClr>
                <a:schemeClr val="dk1"/>
              </a:buClr>
              <a:buSzPct val="100000"/>
              <a:buNone/>
            </a:pPr>
            <a:r>
              <a:rPr b="1" lang="pt-BR"/>
              <a:t>alto (ff), e os outros dois (vermelho e azul) são definido como 00.</a:t>
            </a:r>
            <a:endParaRPr b="1"/>
          </a:p>
          <a:p>
            <a:pPr indent="0" lvl="0" marL="0" rtl="0" algn="l">
              <a:lnSpc>
                <a:spcPct val="90000"/>
              </a:lnSpc>
              <a:spcBef>
                <a:spcPts val="1000"/>
              </a:spcBef>
              <a:spcAft>
                <a:spcPts val="0"/>
              </a:spcAft>
              <a:buClr>
                <a:schemeClr val="dk1"/>
              </a:buClr>
              <a:buSzPct val="100000"/>
              <a:buNone/>
            </a:pPr>
            <a:r>
              <a:rPr b="1" lang="pt-BR"/>
              <a:t>Para exibir preto, defina todos os parâmetros de cor como 00, assim: #000000.</a:t>
            </a:r>
            <a:endParaRPr b="1"/>
          </a:p>
          <a:p>
            <a:pPr indent="0" lvl="0" marL="0" rtl="0" algn="l">
              <a:lnSpc>
                <a:spcPct val="90000"/>
              </a:lnSpc>
              <a:spcBef>
                <a:spcPts val="1000"/>
              </a:spcBef>
              <a:spcAft>
                <a:spcPts val="0"/>
              </a:spcAft>
              <a:buClr>
                <a:schemeClr val="dk1"/>
              </a:buClr>
              <a:buSzPct val="100000"/>
              <a:buNone/>
            </a:pPr>
            <a:r>
              <a:rPr b="1" lang="pt-BR"/>
              <a:t>Para exibir branco, defina todos os parâmetros de cor como ff, como isto: #ffffff</a:t>
            </a:r>
            <a:endParaRPr b="1"/>
          </a:p>
        </p:txBody>
      </p:sp>
      <p:sp>
        <p:nvSpPr>
          <p:cNvPr id="248" name="Google Shape;24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49" name="Google Shape;2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50" name="Google Shape;250;p17"/>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Cores Hexadecimal</a:t>
            </a:r>
            <a:endParaRPr b="1"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6" st="6"/>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7" st="7"/>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8" st="8"/>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9" st="9"/>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4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56" name="Google Shape;256;p18"/>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57" name="Google Shape;257;p18"/>
          <p:cNvSpPr txBox="1"/>
          <p:nvPr>
            <p:ph idx="1" type="body"/>
          </p:nvPr>
        </p:nvSpPr>
        <p:spPr>
          <a:xfrm>
            <a:off x="454025" y="1261745"/>
            <a:ext cx="9874250" cy="4915535"/>
          </a:xfrm>
          <a:prstGeom prst="rect">
            <a:avLst/>
          </a:prstGeom>
          <a:noFill/>
          <a:ln>
            <a:noFill/>
          </a:ln>
        </p:spPr>
        <p:txBody>
          <a:bodyPr anchorCtr="0" anchor="t" bIns="45700" lIns="91425" spcFirstLastPara="1" rIns="91425" wrap="square" tIns="45700">
            <a:normAutofit fontScale="80000"/>
          </a:bodyPr>
          <a:lstStyle/>
          <a:p>
            <a:pPr indent="0" lvl="0" marL="0" rtl="0" algn="l">
              <a:lnSpc>
                <a:spcPct val="90000"/>
              </a:lnSpc>
              <a:spcBef>
                <a:spcPts val="0"/>
              </a:spcBef>
              <a:spcAft>
                <a:spcPts val="0"/>
              </a:spcAft>
              <a:buClr>
                <a:schemeClr val="dk1"/>
              </a:buClr>
              <a:buSzPct val="100000"/>
              <a:buNone/>
            </a:pPr>
            <a:r>
              <a:rPr b="1" lang="pt-BR"/>
              <a:t>Um formulário HTML é usado para coletar a entrada do usuário. A entrada </a:t>
            </a:r>
            <a:endParaRPr b="1"/>
          </a:p>
          <a:p>
            <a:pPr indent="0" lvl="0" marL="0" rtl="0" algn="l">
              <a:lnSpc>
                <a:spcPct val="90000"/>
              </a:lnSpc>
              <a:spcBef>
                <a:spcPts val="1000"/>
              </a:spcBef>
              <a:spcAft>
                <a:spcPts val="0"/>
              </a:spcAft>
              <a:buClr>
                <a:schemeClr val="dk1"/>
              </a:buClr>
              <a:buSzPct val="100000"/>
              <a:buNone/>
            </a:pPr>
            <a:r>
              <a:rPr b="1" lang="pt-BR"/>
              <a:t>do usuário é na maioria das vezes enviado para um servidor para processamento. </a:t>
            </a:r>
            <a:endParaRPr b="1"/>
          </a:p>
          <a:p>
            <a:pPr indent="0" lvl="0" marL="0" rtl="0" algn="l">
              <a:lnSpc>
                <a:spcPct val="90000"/>
              </a:lnSpc>
              <a:spcBef>
                <a:spcPts val="1000"/>
              </a:spcBef>
              <a:spcAft>
                <a:spcPts val="0"/>
              </a:spcAft>
              <a:buClr>
                <a:schemeClr val="dk1"/>
              </a:buClr>
              <a:buSzPct val="100000"/>
              <a:buNone/>
            </a:pPr>
            <a:r>
              <a:rPr b="1" lang="pt-BR"/>
              <a:t>Ex:</a:t>
            </a:r>
            <a:endParaRPr b="1"/>
          </a:p>
          <a:p>
            <a:pPr indent="0" lvl="0" marL="0" rtl="0" algn="l">
              <a:lnSpc>
                <a:spcPct val="90000"/>
              </a:lnSpc>
              <a:spcBef>
                <a:spcPts val="1000"/>
              </a:spcBef>
              <a:spcAft>
                <a:spcPts val="0"/>
              </a:spcAft>
              <a:buClr>
                <a:schemeClr val="dk1"/>
              </a:buClr>
              <a:buSzPct val="100000"/>
              <a:buNone/>
            </a:pPr>
            <a:r>
              <a:rPr b="1" lang="pt-BR"/>
              <a:t>&lt;h2&gt;HTML Forms&lt;/h2&gt;</a:t>
            </a:r>
            <a:endParaRPr b="1"/>
          </a:p>
          <a:p>
            <a:pPr indent="0" lvl="0" marL="0" rtl="0" algn="l">
              <a:lnSpc>
                <a:spcPct val="90000"/>
              </a:lnSpc>
              <a:spcBef>
                <a:spcPts val="1000"/>
              </a:spcBef>
              <a:spcAft>
                <a:spcPts val="0"/>
              </a:spcAft>
              <a:buClr>
                <a:schemeClr val="dk1"/>
              </a:buClr>
              <a:buSzPct val="100000"/>
              <a:buNone/>
            </a:pPr>
            <a:r>
              <a:rPr b="1" lang="pt-BR"/>
              <a:t>&lt;form action="/action_page.php"&gt;</a:t>
            </a:r>
            <a:endParaRPr b="1"/>
          </a:p>
          <a:p>
            <a:pPr indent="0" lvl="0" marL="0" rtl="0" algn="l">
              <a:lnSpc>
                <a:spcPct val="90000"/>
              </a:lnSpc>
              <a:spcBef>
                <a:spcPts val="1000"/>
              </a:spcBef>
              <a:spcAft>
                <a:spcPts val="0"/>
              </a:spcAft>
              <a:buClr>
                <a:schemeClr val="dk1"/>
              </a:buClr>
              <a:buSzPct val="100000"/>
              <a:buNone/>
            </a:pPr>
            <a:r>
              <a:rPr b="1" lang="pt-BR"/>
              <a:t> &lt;label for="fname"&gt;First name:&lt;/label&gt;&lt;br&gt;</a:t>
            </a:r>
            <a:endParaRPr b="1"/>
          </a:p>
          <a:p>
            <a:pPr indent="0" lvl="0" marL="0" rtl="0" algn="l">
              <a:lnSpc>
                <a:spcPct val="90000"/>
              </a:lnSpc>
              <a:spcBef>
                <a:spcPts val="1000"/>
              </a:spcBef>
              <a:spcAft>
                <a:spcPts val="0"/>
              </a:spcAft>
              <a:buClr>
                <a:schemeClr val="dk1"/>
              </a:buClr>
              <a:buSzPct val="100000"/>
              <a:buNone/>
            </a:pPr>
            <a:r>
              <a:rPr b="1" lang="pt-BR"/>
              <a:t> &lt;input type="text" id="fname" name="fname" value="John"&gt;&lt;br&gt;</a:t>
            </a:r>
            <a:endParaRPr b="1"/>
          </a:p>
          <a:p>
            <a:pPr indent="0" lvl="0" marL="0" rtl="0" algn="l">
              <a:lnSpc>
                <a:spcPct val="90000"/>
              </a:lnSpc>
              <a:spcBef>
                <a:spcPts val="1000"/>
              </a:spcBef>
              <a:spcAft>
                <a:spcPts val="0"/>
              </a:spcAft>
              <a:buClr>
                <a:schemeClr val="dk1"/>
              </a:buClr>
              <a:buSzPct val="100000"/>
              <a:buNone/>
            </a:pPr>
            <a:r>
              <a:rPr b="1" lang="pt-BR"/>
              <a:t> &lt;label for="lname"&gt;Last name:&lt;/label&gt;&lt;br&gt;</a:t>
            </a:r>
            <a:endParaRPr b="1"/>
          </a:p>
          <a:p>
            <a:pPr indent="0" lvl="0" marL="0" rtl="0" algn="l">
              <a:lnSpc>
                <a:spcPct val="90000"/>
              </a:lnSpc>
              <a:spcBef>
                <a:spcPts val="1000"/>
              </a:spcBef>
              <a:spcAft>
                <a:spcPts val="0"/>
              </a:spcAft>
              <a:buClr>
                <a:schemeClr val="dk1"/>
              </a:buClr>
              <a:buSzPct val="100000"/>
              <a:buNone/>
            </a:pPr>
            <a:r>
              <a:rPr b="1" lang="pt-BR"/>
              <a:t> &lt;input type="text" id="lname" name="lname" value="Doe"&gt;&lt;br&gt;&lt;br&gt;</a:t>
            </a:r>
            <a:endParaRPr b="1"/>
          </a:p>
          <a:p>
            <a:pPr indent="0" lvl="0" marL="0" rtl="0" algn="l">
              <a:lnSpc>
                <a:spcPct val="90000"/>
              </a:lnSpc>
              <a:spcBef>
                <a:spcPts val="1000"/>
              </a:spcBef>
              <a:spcAft>
                <a:spcPts val="0"/>
              </a:spcAft>
              <a:buClr>
                <a:schemeClr val="dk1"/>
              </a:buClr>
              <a:buSzPct val="100000"/>
              <a:buNone/>
            </a:pPr>
            <a:r>
              <a:rPr b="1" lang="pt-BR"/>
              <a:t> &lt;input type="submit" value="Submit"&gt;</a:t>
            </a:r>
            <a:endParaRPr b="1"/>
          </a:p>
          <a:p>
            <a:pPr indent="0" lvl="0" marL="0" rtl="0" algn="l">
              <a:lnSpc>
                <a:spcPct val="90000"/>
              </a:lnSpc>
              <a:spcBef>
                <a:spcPts val="1000"/>
              </a:spcBef>
              <a:spcAft>
                <a:spcPts val="0"/>
              </a:spcAft>
              <a:buClr>
                <a:schemeClr val="dk1"/>
              </a:buClr>
              <a:buSzPct val="100000"/>
              <a:buNone/>
            </a:pPr>
            <a:r>
              <a:rPr b="1" lang="pt-BR"/>
              <a:t>&lt;/form&gt;</a:t>
            </a:r>
            <a:endParaRPr b="1"/>
          </a:p>
        </p:txBody>
      </p:sp>
      <p:sp>
        <p:nvSpPr>
          <p:cNvPr id="258" name="Google Shape;2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59" name="Google Shape;25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60" name="Google Shape;260;p18"/>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a:t>
            </a:r>
            <a:endParaRPr b="1"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257">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6" st="6"/>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7" st="7"/>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8" st="8"/>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9" st="9"/>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9"/>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66" name="Google Shape;266;p19"/>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67" name="Google Shape;26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68" name="Google Shape;26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69" name="Google Shape;269;p19"/>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a:t>
            </a:r>
            <a:endParaRPr b="1" sz="3600">
              <a:solidFill>
                <a:schemeClr val="dk1"/>
              </a:solidFill>
              <a:latin typeface="Calibri"/>
              <a:ea typeface="Calibri"/>
              <a:cs typeface="Calibri"/>
              <a:sym typeface="Calibri"/>
            </a:endParaRPr>
          </a:p>
        </p:txBody>
      </p:sp>
      <p:pic>
        <p:nvPicPr>
          <p:cNvPr id="270" name="Google Shape;270;p19"/>
          <p:cNvPicPr preferRelativeResize="0"/>
          <p:nvPr>
            <p:ph idx="1" type="body"/>
          </p:nvPr>
        </p:nvPicPr>
        <p:blipFill rotWithShape="1">
          <a:blip r:embed="rId4">
            <a:alphaModFix/>
          </a:blip>
          <a:srcRect b="0" l="0" r="0" t="0"/>
          <a:stretch/>
        </p:blipFill>
        <p:spPr>
          <a:xfrm>
            <a:off x="629920" y="1885315"/>
            <a:ext cx="9222740" cy="3311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76" name="Google Shape;276;p20"/>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77" name="Google Shape;2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78" name="Google Shape;27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pic>
        <p:nvPicPr>
          <p:cNvPr id="279" name="Google Shape;279;p20"/>
          <p:cNvPicPr preferRelativeResize="0"/>
          <p:nvPr>
            <p:ph idx="2" type="body"/>
          </p:nvPr>
        </p:nvPicPr>
        <p:blipFill rotWithShape="1">
          <a:blip r:embed="rId4">
            <a:alphaModFix/>
          </a:blip>
          <a:srcRect b="0" l="0" r="0" t="0"/>
          <a:stretch/>
        </p:blipFill>
        <p:spPr>
          <a:xfrm>
            <a:off x="632425" y="1639473"/>
            <a:ext cx="9064500" cy="4613700"/>
          </a:xfrm>
          <a:prstGeom prst="rect">
            <a:avLst/>
          </a:prstGeom>
          <a:noFill/>
          <a:ln>
            <a:noFill/>
          </a:ln>
        </p:spPr>
      </p:pic>
      <p:sp>
        <p:nvSpPr>
          <p:cNvPr id="280" name="Google Shape;280;p20"/>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a:t>
            </a:r>
            <a:endParaRPr b="1" sz="3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1"/>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86" name="Google Shape;286;p21"/>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87" name="Google Shape;28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88" name="Google Shape;28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pic>
        <p:nvPicPr>
          <p:cNvPr id="289" name="Google Shape;289;p21"/>
          <p:cNvPicPr preferRelativeResize="0"/>
          <p:nvPr>
            <p:ph idx="2" type="body"/>
          </p:nvPr>
        </p:nvPicPr>
        <p:blipFill rotWithShape="1">
          <a:blip r:embed="rId4">
            <a:alphaModFix/>
          </a:blip>
          <a:srcRect b="0" l="0" r="0" t="0"/>
          <a:stretch/>
        </p:blipFill>
        <p:spPr>
          <a:xfrm>
            <a:off x="838200" y="2365375"/>
            <a:ext cx="9166225" cy="3074670"/>
          </a:xfrm>
          <a:prstGeom prst="rect">
            <a:avLst/>
          </a:prstGeom>
          <a:noFill/>
          <a:ln>
            <a:noFill/>
          </a:ln>
        </p:spPr>
      </p:pic>
      <p:sp>
        <p:nvSpPr>
          <p:cNvPr id="290" name="Google Shape;290;p21"/>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 - Campos de texto</a:t>
            </a:r>
            <a:endParaRPr b="1" sz="36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296" name="Google Shape;296;p22"/>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297" name="Google Shape;29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298" name="Google Shape;29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299" name="Google Shape;299;p22"/>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 - Botões de formulário</a:t>
            </a:r>
            <a:endParaRPr b="1" sz="3600">
              <a:solidFill>
                <a:schemeClr val="dk1"/>
              </a:solidFill>
              <a:latin typeface="Calibri"/>
              <a:ea typeface="Calibri"/>
              <a:cs typeface="Calibri"/>
              <a:sym typeface="Calibri"/>
            </a:endParaRPr>
          </a:p>
        </p:txBody>
      </p:sp>
      <p:pic>
        <p:nvPicPr>
          <p:cNvPr id="300" name="Google Shape;300;p22"/>
          <p:cNvPicPr preferRelativeResize="0"/>
          <p:nvPr>
            <p:ph idx="2" type="body"/>
          </p:nvPr>
        </p:nvPicPr>
        <p:blipFill rotWithShape="1">
          <a:blip r:embed="rId4">
            <a:alphaModFix/>
          </a:blip>
          <a:srcRect b="0" l="0" r="0" t="0"/>
          <a:stretch/>
        </p:blipFill>
        <p:spPr>
          <a:xfrm>
            <a:off x="625475" y="1511935"/>
            <a:ext cx="9227185" cy="383349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306" name="Google Shape;306;p23"/>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307" name="Google Shape;30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308" name="Google Shape;30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309" name="Google Shape;309;p23"/>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 - Caixa de Seleção</a:t>
            </a:r>
            <a:endParaRPr b="1" sz="3600">
              <a:solidFill>
                <a:schemeClr val="dk1"/>
              </a:solidFill>
              <a:latin typeface="Calibri"/>
              <a:ea typeface="Calibri"/>
              <a:cs typeface="Calibri"/>
              <a:sym typeface="Calibri"/>
            </a:endParaRPr>
          </a:p>
        </p:txBody>
      </p:sp>
      <p:pic>
        <p:nvPicPr>
          <p:cNvPr id="310" name="Google Shape;310;p23"/>
          <p:cNvPicPr preferRelativeResize="0"/>
          <p:nvPr>
            <p:ph idx="2" type="body"/>
          </p:nvPr>
        </p:nvPicPr>
        <p:blipFill rotWithShape="1">
          <a:blip r:embed="rId4">
            <a:alphaModFix/>
          </a:blip>
          <a:srcRect b="0" l="0" r="0" t="0"/>
          <a:stretch/>
        </p:blipFill>
        <p:spPr>
          <a:xfrm>
            <a:off x="464820" y="1910080"/>
            <a:ext cx="9469120" cy="303720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4"/>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316" name="Google Shape;316;p24"/>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317" name="Google Shape;31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318" name="Google Shape;3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319" name="Google Shape;319;p24"/>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 </a:t>
            </a:r>
            <a:endParaRPr b="1" sz="3600">
              <a:solidFill>
                <a:schemeClr val="dk1"/>
              </a:solidFill>
              <a:latin typeface="Calibri"/>
              <a:ea typeface="Calibri"/>
              <a:cs typeface="Calibri"/>
              <a:sym typeface="Calibri"/>
            </a:endParaRPr>
          </a:p>
        </p:txBody>
      </p:sp>
      <p:pic>
        <p:nvPicPr>
          <p:cNvPr id="320" name="Google Shape;320;p24"/>
          <p:cNvPicPr preferRelativeResize="0"/>
          <p:nvPr>
            <p:ph idx="2" type="body"/>
          </p:nvPr>
        </p:nvPicPr>
        <p:blipFill rotWithShape="1">
          <a:blip r:embed="rId4">
            <a:alphaModFix/>
          </a:blip>
          <a:srcRect b="0" l="0" r="0" t="0"/>
          <a:stretch/>
        </p:blipFill>
        <p:spPr>
          <a:xfrm>
            <a:off x="1329690" y="1499870"/>
            <a:ext cx="8300720" cy="42348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5"/>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326" name="Google Shape;326;p25"/>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327" name="Google Shape;327;p25"/>
          <p:cNvSpPr txBox="1"/>
          <p:nvPr>
            <p:ph idx="1" type="body"/>
          </p:nvPr>
        </p:nvSpPr>
        <p:spPr>
          <a:xfrm>
            <a:off x="838200" y="1825625"/>
            <a:ext cx="9197340" cy="435165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None/>
            </a:pPr>
            <a:r>
              <a:rPr lang="pt-BR" sz="3200"/>
              <a:t>Atributos, elementos de entrada em </a:t>
            </a:r>
            <a:endParaRPr sz="3200"/>
          </a:p>
          <a:p>
            <a:pPr indent="0" lvl="0" marL="0" rtl="0" algn="ctr">
              <a:lnSpc>
                <a:spcPct val="90000"/>
              </a:lnSpc>
              <a:spcBef>
                <a:spcPts val="1000"/>
              </a:spcBef>
              <a:spcAft>
                <a:spcPts val="0"/>
              </a:spcAft>
              <a:buClr>
                <a:schemeClr val="dk1"/>
              </a:buClr>
              <a:buSzPts val="3200"/>
              <a:buNone/>
            </a:pPr>
            <a:r>
              <a:rPr lang="pt-BR" sz="3200"/>
              <a:t>Formulários</a:t>
            </a:r>
            <a:endParaRPr sz="3200"/>
          </a:p>
          <a:p>
            <a:pPr indent="0" lvl="0" marL="0" rtl="0" algn="ctr">
              <a:lnSpc>
                <a:spcPct val="90000"/>
              </a:lnSpc>
              <a:spcBef>
                <a:spcPts val="1000"/>
              </a:spcBef>
              <a:spcAft>
                <a:spcPts val="0"/>
              </a:spcAft>
              <a:buClr>
                <a:schemeClr val="dk1"/>
              </a:buClr>
              <a:buSzPts val="3200"/>
              <a:buNone/>
            </a:pPr>
            <a:r>
              <a:rPr lang="pt-BR" sz="3200"/>
              <a:t>Elementos de formulário</a:t>
            </a:r>
            <a:endParaRPr sz="3200"/>
          </a:p>
          <a:p>
            <a:pPr indent="0" lvl="0" marL="0" rtl="0" algn="ctr">
              <a:lnSpc>
                <a:spcPct val="90000"/>
              </a:lnSpc>
              <a:spcBef>
                <a:spcPts val="1000"/>
              </a:spcBef>
              <a:spcAft>
                <a:spcPts val="0"/>
              </a:spcAft>
              <a:buClr>
                <a:schemeClr val="dk1"/>
              </a:buClr>
              <a:buSzPts val="3200"/>
              <a:buNone/>
            </a:pPr>
            <a:r>
              <a:rPr lang="pt-BR" sz="3200"/>
              <a:t>Tipos de entrada</a:t>
            </a:r>
            <a:endParaRPr sz="3200"/>
          </a:p>
          <a:p>
            <a:pPr indent="0" lvl="0" marL="0" rtl="0" algn="ctr">
              <a:lnSpc>
                <a:spcPct val="90000"/>
              </a:lnSpc>
              <a:spcBef>
                <a:spcPts val="1000"/>
              </a:spcBef>
              <a:spcAft>
                <a:spcPts val="0"/>
              </a:spcAft>
              <a:buClr>
                <a:schemeClr val="dk1"/>
              </a:buClr>
              <a:buSzPts val="3200"/>
              <a:buNone/>
            </a:pPr>
            <a:r>
              <a:rPr lang="pt-BR" sz="3200"/>
              <a:t>Atributos de entrada</a:t>
            </a:r>
            <a:endParaRPr sz="3200"/>
          </a:p>
          <a:p>
            <a:pPr indent="0" lvl="0" marL="0" rtl="0" algn="ctr">
              <a:lnSpc>
                <a:spcPct val="90000"/>
              </a:lnSpc>
              <a:spcBef>
                <a:spcPts val="1000"/>
              </a:spcBef>
              <a:spcAft>
                <a:spcPts val="0"/>
              </a:spcAft>
              <a:buClr>
                <a:schemeClr val="dk1"/>
              </a:buClr>
              <a:buSzPts val="3200"/>
              <a:buNone/>
            </a:pPr>
            <a:r>
              <a:rPr lang="pt-BR" sz="3200"/>
              <a:t>Site de referência:</a:t>
            </a:r>
            <a:endParaRPr sz="3200"/>
          </a:p>
          <a:p>
            <a:pPr indent="0" lvl="0" marL="0" rtl="0" algn="ctr">
              <a:lnSpc>
                <a:spcPct val="90000"/>
              </a:lnSpc>
              <a:spcBef>
                <a:spcPts val="1000"/>
              </a:spcBef>
              <a:spcAft>
                <a:spcPts val="0"/>
              </a:spcAft>
              <a:buClr>
                <a:schemeClr val="dk1"/>
              </a:buClr>
              <a:buSzPts val="3200"/>
              <a:buNone/>
            </a:pPr>
            <a:r>
              <a:rPr lang="pt-BR" sz="3200"/>
              <a:t>HTML Forms (w3schools.com)</a:t>
            </a:r>
            <a:endParaRPr sz="3200"/>
          </a:p>
        </p:txBody>
      </p:sp>
      <p:sp>
        <p:nvSpPr>
          <p:cNvPr id="328" name="Google Shape;32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329" name="Google Shape;3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sp>
        <p:nvSpPr>
          <p:cNvPr id="330" name="Google Shape;330;p25"/>
          <p:cNvSpPr txBox="1"/>
          <p:nvPr/>
        </p:nvSpPr>
        <p:spPr>
          <a:xfrm>
            <a:off x="788035" y="446405"/>
            <a:ext cx="9064625" cy="6451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600">
                <a:solidFill>
                  <a:schemeClr val="dk1"/>
                </a:solidFill>
                <a:latin typeface="Calibri"/>
                <a:ea typeface="Calibri"/>
                <a:cs typeface="Calibri"/>
                <a:sym typeface="Calibri"/>
              </a:rPr>
              <a:t>Formulário HTML </a:t>
            </a:r>
            <a:endParaRPr b="1"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50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32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6"/>
          <p:cNvSpPr/>
          <p:nvPr/>
        </p:nvSpPr>
        <p:spPr>
          <a:xfrm>
            <a:off x="10533321" y="0"/>
            <a:ext cx="1658679" cy="68580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_SENAI_BRANCO.png" id="336" name="Google Shape;336;p26"/>
          <p:cNvPicPr preferRelativeResize="0"/>
          <p:nvPr/>
        </p:nvPicPr>
        <p:blipFill rotWithShape="1">
          <a:blip r:embed="rId3">
            <a:alphaModFix/>
          </a:blip>
          <a:srcRect b="0" l="0" r="0" t="0"/>
          <a:stretch/>
        </p:blipFill>
        <p:spPr>
          <a:xfrm>
            <a:off x="10855725" y="5600598"/>
            <a:ext cx="996150" cy="576365"/>
          </a:xfrm>
          <a:prstGeom prst="rect">
            <a:avLst/>
          </a:prstGeom>
          <a:noFill/>
          <a:ln>
            <a:noFill/>
          </a:ln>
        </p:spPr>
      </p:pic>
      <p:sp>
        <p:nvSpPr>
          <p:cNvPr id="337" name="Google Shape;33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338" name="Google Shape;3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pt-BR">
                <a:solidFill>
                  <a:schemeClr val="lt1"/>
                </a:solidFill>
              </a:rPr>
              <a:t>‹#›</a:t>
            </a:fld>
            <a:endParaRPr>
              <a:solidFill>
                <a:schemeClr val="lt1"/>
              </a:solidFill>
            </a:endParaRPr>
          </a:p>
        </p:txBody>
      </p:sp>
      <p:pic>
        <p:nvPicPr>
          <p:cNvPr id="339" name="Google Shape;339;p26"/>
          <p:cNvPicPr preferRelativeResize="0"/>
          <p:nvPr>
            <p:ph idx="1" type="body"/>
          </p:nvPr>
        </p:nvPicPr>
        <p:blipFill rotWithShape="1">
          <a:blip r:embed="rId4">
            <a:alphaModFix/>
          </a:blip>
          <a:srcRect b="0" l="0" r="0" t="0"/>
          <a:stretch/>
        </p:blipFill>
        <p:spPr>
          <a:xfrm>
            <a:off x="838200" y="971500"/>
            <a:ext cx="8539500" cy="5159700"/>
          </a:xfrm>
          <a:prstGeom prst="rect">
            <a:avLst/>
          </a:prstGeom>
          <a:noFill/>
          <a:ln>
            <a:noFill/>
          </a:ln>
        </p:spPr>
      </p:pic>
      <p:sp>
        <p:nvSpPr>
          <p:cNvPr id="340" name="Google Shape;340;p26"/>
          <p:cNvSpPr txBox="1"/>
          <p:nvPr/>
        </p:nvSpPr>
        <p:spPr>
          <a:xfrm>
            <a:off x="951865" y="491490"/>
            <a:ext cx="8512810" cy="5835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3200">
                <a:solidFill>
                  <a:schemeClr val="dk1"/>
                </a:solidFill>
                <a:latin typeface="Calibri"/>
                <a:ea typeface="Calibri"/>
                <a:cs typeface="Calibri"/>
                <a:sym typeface="Calibri"/>
              </a:rPr>
              <a:t>De olho na semântica </a:t>
            </a:r>
            <a:endParaRPr b="1" sz="3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2018-05-19T21:17:00Z</dcterms:created>
  <dc:creator>Jefferson Ayres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E0D6480A8AB14A838F47F9F5273B7EDC_12</vt:lpwstr>
  </property>
  <property fmtid="{D5CDD505-2E9C-101B-9397-08002B2CF9AE}" pid="3" name="KSOProductBuildVer">
    <vt:lpwstr>1046-12.2.0.18607</vt:lpwstr>
  </property>
</Properties>
</file>