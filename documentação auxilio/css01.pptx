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Arim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8">
          <p15:clr>
            <a:srgbClr val="A4A3A4"/>
          </p15:clr>
        </p15:guide>
        <p15:guide id="2" pos="317">
          <p15:clr>
            <a:srgbClr val="A4A3A4"/>
          </p15:clr>
        </p15:guide>
        <p15:guide id="3" pos="5443">
          <p15:clr>
            <a:srgbClr val="A4A3A4"/>
          </p15:clr>
        </p15:guide>
        <p15:guide id="4" orient="horz" pos="214">
          <p15:clr>
            <a:srgbClr val="A4A3A4"/>
          </p15:clr>
        </p15:guide>
      </p15:sldGuideLst>
    </p:ext>
    <p:ext uri="GoogleSlidesCustomDataVersion2">
      <go:slidesCustomData xmlns:go="http://customooxmlschemas.google.com/" r:id="rId55" roundtripDataSignature="AMtx7mivG+CnMoG9O/cJlkIgZ2xMdOMK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8" orient="horz"/>
        <p:guide pos="317"/>
        <p:guide pos="5443"/>
        <p:guide pos="21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mo-regular.fntdata"/><Relationship Id="rId50" Type="http://schemas.openxmlformats.org/officeDocument/2006/relationships/slide" Target="slides/slide45.xml"/><Relationship Id="rId53" Type="http://schemas.openxmlformats.org/officeDocument/2006/relationships/font" Target="fonts/Arimo-italic.fntdata"/><Relationship Id="rId52" Type="http://schemas.openxmlformats.org/officeDocument/2006/relationships/font" Target="fonts/Arimo-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Arim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4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1pPr>
            <a:lvl2pPr indent="-228600" lvl="1" marL="914400" marR="0" rtl="0" algn="l">
              <a:lnSpc>
                <a:spcPct val="100000"/>
              </a:lnSpc>
              <a:spcBef>
                <a:spcPts val="14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2pPr>
            <a:lvl3pPr indent="-228600" lvl="2" marL="1371600" marR="0" rtl="0" algn="l">
              <a:lnSpc>
                <a:spcPct val="100000"/>
              </a:lnSpc>
              <a:spcBef>
                <a:spcPts val="14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3pPr>
            <a:lvl4pPr indent="-228600" lvl="3" marL="1828800" marR="0" rtl="0" algn="l">
              <a:lnSpc>
                <a:spcPct val="100000"/>
              </a:lnSpc>
              <a:spcBef>
                <a:spcPts val="14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4pPr>
            <a:lvl5pPr indent="-228600" lvl="4" marL="2286000" marR="0" rtl="0" algn="l">
              <a:lnSpc>
                <a:spcPct val="100000"/>
              </a:lnSpc>
              <a:spcBef>
                <a:spcPts val="14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467"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591"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4" name="Google Shape;1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2" name="Google Shape;2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1" name="Google Shape;3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1" name="Google Shape;4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51" name="Google Shape;5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61" name="Google Shape;6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71" name="Google Shape;71;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81" name="Google Shape;81;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91" name="Google Shape;9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01" name="Google Shape;101;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09" name="Google Shape;109;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19" name="Google Shape;119;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28" name="Google Shape;128;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38" name="Google Shape;138;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47" name="Google Shape;147;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58" name="Google Shape;15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69" name="Google Shape;169;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79" name="Google Shape;17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190" name="Google Shape;190;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00" name="Google Shape;20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10" name="Google Shape;210;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20" name="Google Shape;220;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30" name="Google Shape;230;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40" name="Google Shape;240;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50" name="Google Shape;250;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60" name="Google Shape;260;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70" name="Google Shape;270;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80" name="Google Shape;280;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88" name="Google Shape;288;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296" name="Google Shape;296;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05" name="Google Shape;305;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16" name="Google Shape;316;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26" name="Google Shape;326;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36" name="Google Shape;33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46" name="Google Shape;346;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55" name="Google Shape;355;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67" name="Google Shape;367;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79" name="Google Shape;379;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392" name="Google Shape;392;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04" name="Google Shape;404;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16" name="Google Shape;416;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28" name="Google Shape;428;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39" name="Google Shape;439;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50" name="Google Shape;450;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40"/>
              </a:spcBef>
              <a:spcAft>
                <a:spcPts val="0"/>
              </a:spcAft>
              <a:buSzPts val="1400"/>
              <a:buNone/>
            </a:pPr>
            <a:r>
              <a:t/>
            </a:r>
            <a:endParaRPr/>
          </a:p>
        </p:txBody>
      </p:sp>
      <p:sp>
        <p:nvSpPr>
          <p:cNvPr id="461" name="Google Shape;46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34.png"/><Relationship Id="rId5"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hyperlink" Target="https://www.w3schools.com/css/css_background.asp"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1"/>
          <p:cNvSpPr/>
          <p:nvPr/>
        </p:nvSpPr>
        <p:spPr>
          <a:xfrm>
            <a:off x="0" y="0"/>
            <a:ext cx="9144000" cy="5143500"/>
          </a:xfrm>
          <a:prstGeom prst="rect">
            <a:avLst/>
          </a:prstGeom>
          <a:solidFill>
            <a:srgbClr val="83C7E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17" name="Google Shape;17;p1"/>
          <p:cNvPicPr preferRelativeResize="0"/>
          <p:nvPr/>
        </p:nvPicPr>
        <p:blipFill rotWithShape="1">
          <a:blip r:embed="rId3">
            <a:alphaModFix/>
          </a:blip>
          <a:srcRect b="0" l="0" r="0" t="0"/>
          <a:stretch/>
        </p:blipFill>
        <p:spPr>
          <a:xfrm>
            <a:off x="888974" y="1007911"/>
            <a:ext cx="2984558" cy="2302448"/>
          </a:xfrm>
          <a:prstGeom prst="rect">
            <a:avLst/>
          </a:prstGeom>
          <a:noFill/>
          <a:ln>
            <a:noFill/>
          </a:ln>
        </p:spPr>
      </p:pic>
      <p:sp>
        <p:nvSpPr>
          <p:cNvPr id="18" name="Google Shape;18;p1"/>
          <p:cNvSpPr txBox="1"/>
          <p:nvPr/>
        </p:nvSpPr>
        <p:spPr>
          <a:xfrm>
            <a:off x="4172373" y="1007911"/>
            <a:ext cx="4446093" cy="90383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1000"/>
              </a:spcBef>
              <a:spcAft>
                <a:spcPts val="0"/>
              </a:spcAft>
              <a:buClr>
                <a:srgbClr val="FFFFFF"/>
              </a:buClr>
              <a:buSzPts val="2800"/>
              <a:buFont typeface="Arial"/>
              <a:buNone/>
            </a:pPr>
            <a:r>
              <a:rPr b="0" i="0" lang="pt-BR" sz="2800" u="none" cap="none" strike="noStrike">
                <a:solidFill>
                  <a:srgbClr val="FFFFFF"/>
                </a:solidFill>
                <a:latin typeface="Trebuchet MS"/>
                <a:ea typeface="Trebuchet MS"/>
                <a:cs typeface="Trebuchet MS"/>
                <a:sym typeface="Trebuchet MS"/>
              </a:rPr>
              <a:t>Desenvolvimento de Frontend</a:t>
            </a:r>
            <a:endParaRPr b="0" i="0" sz="2800" u="none" cap="none" strike="noStrike">
              <a:solidFill>
                <a:srgbClr val="FFFFFF"/>
              </a:solidFill>
              <a:latin typeface="Trebuchet MS"/>
              <a:ea typeface="Trebuchet MS"/>
              <a:cs typeface="Trebuchet MS"/>
              <a:sym typeface="Trebuchet MS"/>
            </a:endParaRPr>
          </a:p>
        </p:txBody>
      </p:sp>
      <p:pic>
        <p:nvPicPr>
          <p:cNvPr descr="LOGO_SENAI_BRANCO.png" id="19" name="Google Shape;19;p1"/>
          <p:cNvPicPr preferRelativeResize="0"/>
          <p:nvPr/>
        </p:nvPicPr>
        <p:blipFill rotWithShape="1">
          <a:blip r:embed="rId4">
            <a:alphaModFix/>
          </a:blip>
          <a:srcRect b="0" l="0" r="0" t="0"/>
          <a:stretch/>
        </p:blipFill>
        <p:spPr>
          <a:xfrm>
            <a:off x="7048635" y="4004930"/>
            <a:ext cx="1592128" cy="6908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10"/>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5" name="Google Shape;25;p10"/>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6" name="Google Shape;26;p10"/>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7" name="Google Shape;27;p10"/>
          <p:cNvSpPr/>
          <p:nvPr/>
        </p:nvSpPr>
        <p:spPr>
          <a:xfrm>
            <a:off x="216748" y="216747"/>
            <a:ext cx="8279552" cy="1254866"/>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4400" u="none" cap="none" strike="noStrike">
                <a:solidFill>
                  <a:schemeClr val="dk1"/>
                </a:solidFill>
                <a:latin typeface="Calibri"/>
                <a:ea typeface="Calibri"/>
                <a:cs typeface="Calibri"/>
                <a:sym typeface="Calibri"/>
              </a:rPr>
              <a:t>CSS - Cascading Style Sheets</a:t>
            </a:r>
            <a:endParaRPr b="1" i="0" sz="44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4400" u="none" cap="none" strike="noStrike">
                <a:solidFill>
                  <a:schemeClr val="dk1"/>
                </a:solidFill>
                <a:latin typeface="Calibri"/>
                <a:ea typeface="Calibri"/>
                <a:cs typeface="Calibri"/>
                <a:sym typeface="Calibri"/>
              </a:rPr>
              <a:t>Folhas em estilos Cascatas</a:t>
            </a:r>
            <a:endParaRPr/>
          </a:p>
        </p:txBody>
      </p:sp>
      <p:sp>
        <p:nvSpPr>
          <p:cNvPr id="28" name="Google Shape;28;p10"/>
          <p:cNvSpPr/>
          <p:nvPr/>
        </p:nvSpPr>
        <p:spPr>
          <a:xfrm>
            <a:off x="216748" y="1578187"/>
            <a:ext cx="6949440" cy="3020906"/>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1" i="0" sz="20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O CSS é um código em que você pode fazer alterações rápidas</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de layout, como definição de cores e fontes, por exemplo. Essa</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camada proporciona não apenas a facilidade de personalização,</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como também ajuda a diminuir a repetição de conteúdo na</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estrutura do código.</a:t>
            </a:r>
            <a:endParaRPr/>
          </a:p>
          <a:p>
            <a:pPr indent="-342900" lvl="0" marL="342900" marR="0" rtl="0" algn="l">
              <a:lnSpc>
                <a:spcPct val="90000"/>
              </a:lnSpc>
              <a:spcBef>
                <a:spcPts val="0"/>
              </a:spcBef>
              <a:spcAft>
                <a:spcPts val="0"/>
              </a:spcAft>
              <a:buClr>
                <a:schemeClr val="hlink"/>
              </a:buClr>
              <a:buSzPts val="2000"/>
              <a:buFont typeface="Noto Sans Symbols"/>
              <a:buNone/>
            </a:pPr>
            <a:r>
              <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i="0" lang="pt-BR" sz="1800" u="none" cap="none" strike="noStrike">
                <a:solidFill>
                  <a:srgbClr val="000000"/>
                </a:solidFill>
                <a:latin typeface="Calibri"/>
                <a:ea typeface="Calibri"/>
                <a:cs typeface="Calibri"/>
                <a:sym typeface="Calibri"/>
              </a:rPr>
              <a:t> O que é "em cascata" no CSS?</a:t>
            </a:r>
            <a:endParaRPr/>
          </a:p>
          <a:p>
            <a:pPr indent="0" lvl="0" marL="0" marR="0" rtl="0" algn="l">
              <a:lnSpc>
                <a:spcPct val="100000"/>
              </a:lnSpc>
              <a:spcBef>
                <a:spcPts val="0"/>
              </a:spcBef>
              <a:spcAft>
                <a:spcPts val="0"/>
              </a:spcAft>
              <a:buNone/>
            </a:pPr>
            <a:r>
              <a:rPr b="1" i="0" lang="pt-BR" sz="1800" u="none" cap="none" strike="noStrike">
                <a:solidFill>
                  <a:srgbClr val="000000"/>
                </a:solidFill>
                <a:latin typeface="Calibri"/>
                <a:ea typeface="Calibri"/>
                <a:cs typeface="Calibri"/>
                <a:sym typeface="Calibri"/>
              </a:rPr>
              <a:t>Significa que, quando há vários estilos para o mesmo elemento, o navegador escolhe um deles.</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pt-BR" sz="1800" u="none" cap="none" strike="noStrike">
                <a:solidFill>
                  <a:srgbClr val="000000"/>
                </a:solidFill>
                <a:latin typeface="Calibri"/>
                <a:ea typeface="Calibri"/>
                <a:cs typeface="Calibri"/>
                <a:sym typeface="Calibri"/>
              </a:rPr>
              <a:t>E ele faz isso seguindo </a:t>
            </a:r>
            <a:r>
              <a:rPr b="1" i="0" lang="pt-BR" sz="1800" u="none" cap="none" strike="noStrike">
                <a:solidFill>
                  <a:srgbClr val="000000"/>
                </a:solidFill>
                <a:latin typeface="Calibri"/>
                <a:ea typeface="Calibri"/>
                <a:cs typeface="Calibri"/>
                <a:sym typeface="Calibri"/>
              </a:rPr>
              <a:t>regras de prioridade.</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42"/>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34" name="Google Shape;34;p42"/>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5" name="Google Shape;35;p42"/>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6" name="Google Shape;36;p42"/>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Regras</a:t>
            </a:r>
            <a:endParaRPr b="1" i="0" sz="4400" u="none" cap="none" strike="noStrike">
              <a:solidFill>
                <a:schemeClr val="dk1"/>
              </a:solidFill>
              <a:latin typeface="Calibri"/>
              <a:ea typeface="Calibri"/>
              <a:cs typeface="Calibri"/>
              <a:sym typeface="Calibri"/>
            </a:endParaRPr>
          </a:p>
        </p:txBody>
      </p:sp>
      <p:sp>
        <p:nvSpPr>
          <p:cNvPr id="37" name="Google Shape;37;p42"/>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38" name="Google Shape;38;p42"/>
          <p:cNvPicPr preferRelativeResize="0"/>
          <p:nvPr/>
        </p:nvPicPr>
        <p:blipFill rotWithShape="1">
          <a:blip r:embed="rId4">
            <a:alphaModFix/>
          </a:blip>
          <a:srcRect b="0" l="0" r="0" t="0"/>
          <a:stretch/>
        </p:blipFill>
        <p:spPr>
          <a:xfrm>
            <a:off x="584790" y="1173181"/>
            <a:ext cx="6702719" cy="32605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43"/>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44" name="Google Shape;44;p43"/>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45" name="Google Shape;45;p43"/>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46" name="Google Shape;46;p43"/>
          <p:cNvSpPr/>
          <p:nvPr/>
        </p:nvSpPr>
        <p:spPr>
          <a:xfrm>
            <a:off x="216748" y="216747"/>
            <a:ext cx="8279552" cy="1254866"/>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4400" u="none" cap="none" strike="noStrike">
                <a:solidFill>
                  <a:schemeClr val="dk1"/>
                </a:solidFill>
                <a:latin typeface="Calibri"/>
                <a:ea typeface="Calibri"/>
                <a:cs typeface="Calibri"/>
                <a:sym typeface="Calibri"/>
              </a:rPr>
              <a:t>CSS - Cascading Style Sheets</a:t>
            </a:r>
            <a:endParaRPr b="1" i="0" sz="4400" u="none" cap="none" strike="noStrike">
              <a:solidFill>
                <a:schemeClr val="dk1"/>
              </a:solidFill>
              <a:latin typeface="Calibri"/>
              <a:ea typeface="Calibri"/>
              <a:cs typeface="Calibri"/>
              <a:sym typeface="Calibri"/>
            </a:endParaRPr>
          </a:p>
        </p:txBody>
      </p:sp>
      <p:sp>
        <p:nvSpPr>
          <p:cNvPr id="47" name="Google Shape;47;p43"/>
          <p:cNvSpPr/>
          <p:nvPr/>
        </p:nvSpPr>
        <p:spPr>
          <a:xfrm>
            <a:off x="334503" y="1964267"/>
            <a:ext cx="2002298" cy="2634826"/>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1" i="0" sz="20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p {</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  color: red;</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a:t>
            </a:r>
            <a:endParaRPr/>
          </a:p>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chemeClr val="dk1"/>
              </a:solidFill>
              <a:latin typeface="Calibri"/>
              <a:ea typeface="Calibri"/>
              <a:cs typeface="Calibri"/>
              <a:sym typeface="Calibri"/>
            </a:endParaRPr>
          </a:p>
          <a:p>
            <a:pPr indent="-342900" lvl="0" marL="342900" rtl="0" algn="l">
              <a:lnSpc>
                <a:spcPct val="90000"/>
              </a:lnSpc>
              <a:spcBef>
                <a:spcPts val="0"/>
              </a:spcBef>
              <a:spcAft>
                <a:spcPts val="0"/>
              </a:spcAft>
              <a:buClr>
                <a:schemeClr val="hlink"/>
              </a:buClr>
              <a:buSzPts val="2000"/>
              <a:buFont typeface="Noto Sans Symbols"/>
              <a:buNone/>
            </a:pPr>
            <a:r>
              <a:t/>
            </a:r>
            <a:endParaRPr sz="1800">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p {</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  color: blue;</a:t>
            </a:r>
            <a:endParaRPr/>
          </a:p>
          <a:p>
            <a:pPr indent="-342900" lvl="0" marL="342900" marR="0" rtl="0" algn="l">
              <a:lnSpc>
                <a:spcPct val="90000"/>
              </a:lnSpc>
              <a:spcBef>
                <a:spcPts val="0"/>
              </a:spcBef>
              <a:spcAft>
                <a:spcPts val="0"/>
              </a:spcAft>
              <a:buClr>
                <a:schemeClr val="hlink"/>
              </a:buClr>
              <a:buSzPts val="2000"/>
              <a:buFont typeface="Noto Sans Symbols"/>
              <a:buNone/>
            </a:pPr>
            <a:r>
              <a:rPr b="0" i="0" lang="pt-BR" sz="1800" u="none" cap="none" strike="noStrike">
                <a:solidFill>
                  <a:schemeClr val="dk1"/>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48" name="Google Shape;48;p43"/>
          <p:cNvSpPr txBox="1"/>
          <p:nvPr/>
        </p:nvSpPr>
        <p:spPr>
          <a:xfrm>
            <a:off x="3176693" y="2397760"/>
            <a:ext cx="375242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Calibri"/>
                <a:ea typeface="Calibri"/>
                <a:cs typeface="Calibri"/>
                <a:sym typeface="Calibri"/>
              </a:rPr>
              <a:t>❓Qual cor vai aparecer?</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Calibri"/>
                <a:ea typeface="Calibri"/>
                <a:cs typeface="Calibri"/>
                <a:sym typeface="Calibri"/>
              </a:rPr>
              <a:t>➡️ </a:t>
            </a:r>
            <a:r>
              <a:rPr b="1" i="0" lang="pt-BR" sz="1400" u="none" cap="none" strike="noStrike">
                <a:solidFill>
                  <a:srgbClr val="000000"/>
                </a:solidFill>
                <a:latin typeface="Calibri"/>
                <a:ea typeface="Calibri"/>
                <a:cs typeface="Calibri"/>
                <a:sym typeface="Calibri"/>
              </a:rPr>
              <a:t>Azul</a:t>
            </a:r>
            <a:r>
              <a:rPr b="0" i="0" lang="pt-BR" sz="1400" u="none" cap="none" strike="noStrike">
                <a:solidFill>
                  <a:srgbClr val="000000"/>
                </a:solidFill>
                <a:latin typeface="Calibri"/>
                <a:ea typeface="Calibri"/>
                <a:cs typeface="Calibri"/>
                <a:sym typeface="Calibri"/>
              </a:rPr>
              <a:t>, porque a </a:t>
            </a:r>
            <a:r>
              <a:rPr b="1" i="0" lang="pt-BR" sz="1400" u="none" cap="none" strike="noStrike">
                <a:solidFill>
                  <a:srgbClr val="000000"/>
                </a:solidFill>
                <a:latin typeface="Calibri"/>
                <a:ea typeface="Calibri"/>
                <a:cs typeface="Calibri"/>
                <a:sym typeface="Calibri"/>
              </a:rPr>
              <a:t>segunda regra vem depois</a:t>
            </a:r>
            <a:r>
              <a:rPr b="0" i="0" lang="pt-BR" sz="1400" u="none" cap="none" strike="noStrike">
                <a:solidFill>
                  <a:srgbClr val="000000"/>
                </a:solidFill>
                <a:latin typeface="Calibri"/>
                <a:ea typeface="Calibri"/>
                <a:cs typeface="Calibri"/>
                <a:sym typeface="Calibri"/>
              </a:rPr>
              <a:t> da primeira.</a:t>
            </a:r>
            <a:br>
              <a:rPr b="0" i="0" lang="pt-BR" sz="1400" u="none" cap="none" strike="noStrike">
                <a:solidFill>
                  <a:srgbClr val="000000"/>
                </a:solidFill>
                <a:latin typeface="Calibri"/>
                <a:ea typeface="Calibri"/>
                <a:cs typeface="Calibri"/>
                <a:sym typeface="Calibri"/>
              </a:rPr>
            </a:br>
            <a:r>
              <a:rPr b="1" i="0" lang="pt-BR" sz="1400" u="none" cap="none" strike="noStrike">
                <a:solidFill>
                  <a:srgbClr val="000000"/>
                </a:solidFill>
                <a:latin typeface="Calibri"/>
                <a:ea typeface="Calibri"/>
                <a:cs typeface="Calibri"/>
                <a:sym typeface="Calibri"/>
              </a:rPr>
              <a:t>O CSS aplica a última</a:t>
            </a:r>
            <a:r>
              <a:rPr b="0" i="0" lang="pt-BR" sz="1400" u="none" cap="none" strike="noStrike">
                <a:solidFill>
                  <a:srgbClr val="000000"/>
                </a:solidFill>
                <a:latin typeface="Calibri"/>
                <a:ea typeface="Calibri"/>
                <a:cs typeface="Calibri"/>
                <a:sym typeface="Calibri"/>
              </a:rPr>
              <a:t> — como uma "cascata", o que vem por último, cai por cima.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4"/>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54" name="Google Shape;54;p44"/>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55" name="Google Shape;55;p44"/>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56" name="Google Shape;56;p44"/>
          <p:cNvSpPr/>
          <p:nvPr/>
        </p:nvSpPr>
        <p:spPr>
          <a:xfrm>
            <a:off x="216748" y="216747"/>
            <a:ext cx="8279552" cy="1254866"/>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4400" u="none" cap="none" strike="noStrike">
                <a:solidFill>
                  <a:schemeClr val="dk1"/>
                </a:solidFill>
                <a:latin typeface="Calibri"/>
                <a:ea typeface="Calibri"/>
                <a:cs typeface="Calibri"/>
                <a:sym typeface="Calibri"/>
              </a:rPr>
              <a:t>CSS - Cascading Style Sheets</a:t>
            </a:r>
            <a:endParaRPr b="1" i="0" sz="4400" u="none" cap="none" strike="noStrike">
              <a:solidFill>
                <a:schemeClr val="dk1"/>
              </a:solidFill>
              <a:latin typeface="Calibri"/>
              <a:ea typeface="Calibri"/>
              <a:cs typeface="Calibri"/>
              <a:sym typeface="Calibri"/>
            </a:endParaRPr>
          </a:p>
        </p:txBody>
      </p:sp>
      <p:sp>
        <p:nvSpPr>
          <p:cNvPr id="57" name="Google Shape;57;p44"/>
          <p:cNvSpPr/>
          <p:nvPr/>
        </p:nvSpPr>
        <p:spPr>
          <a:xfrm>
            <a:off x="408300" y="1303075"/>
            <a:ext cx="3045300" cy="3685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chemeClr val="dk1"/>
                </a:solidFill>
                <a:latin typeface="Calibri"/>
                <a:ea typeface="Calibri"/>
                <a:cs typeface="Calibri"/>
                <a:sym typeface="Calibri"/>
              </a:rPr>
              <a:t>&lt;p class="meu-paragrafo"&gt;Olá!</a:t>
            </a:r>
            <a:endParaRPr b="1" i="0" sz="20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chemeClr val="dk1"/>
                </a:solidFill>
                <a:latin typeface="Calibri"/>
                <a:ea typeface="Calibri"/>
                <a:cs typeface="Calibri"/>
                <a:sym typeface="Calibri"/>
              </a:rPr>
              <a:t>&lt;/p&gt;</a:t>
            </a:r>
            <a:endParaRPr/>
          </a:p>
          <a:p>
            <a:pPr indent="-342900" lvl="0" marL="342900" marR="0" rtl="0" algn="l">
              <a:lnSpc>
                <a:spcPct val="90000"/>
              </a:lnSpc>
              <a:spcBef>
                <a:spcPts val="0"/>
              </a:spcBef>
              <a:spcAft>
                <a:spcPts val="0"/>
              </a:spcAft>
              <a:buClr>
                <a:schemeClr val="hlink"/>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t/>
            </a:r>
            <a:endParaRPr b="1" sz="2000">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p {</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  color: red;</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t/>
            </a:r>
            <a:endParaRPr b="1" i="0" sz="2000" u="none" cap="none" strike="noStrike">
              <a:solidFill>
                <a:srgbClr val="FF0000"/>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.meu-paragrafo {</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  color: blue;</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a:t>
            </a:r>
            <a:endParaRPr b="0" i="0" sz="1800" u="none" cap="none" strike="noStrike">
              <a:solidFill>
                <a:srgbClr val="FF0000"/>
              </a:solidFill>
              <a:latin typeface="Calibri"/>
              <a:ea typeface="Calibri"/>
              <a:cs typeface="Calibri"/>
              <a:sym typeface="Calibri"/>
            </a:endParaRPr>
          </a:p>
        </p:txBody>
      </p:sp>
      <p:sp>
        <p:nvSpPr>
          <p:cNvPr id="58" name="Google Shape;58;p44"/>
          <p:cNvSpPr txBox="1"/>
          <p:nvPr/>
        </p:nvSpPr>
        <p:spPr>
          <a:xfrm>
            <a:off x="3732893" y="2109960"/>
            <a:ext cx="37524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❓Qual cor vai aparecer?</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 </a:t>
            </a:r>
            <a:r>
              <a:rPr b="1" i="0" lang="pt-BR" sz="1400" u="none" cap="none" strike="noStrike">
                <a:solidFill>
                  <a:srgbClr val="000000"/>
                </a:solidFill>
                <a:latin typeface="Arial"/>
                <a:ea typeface="Arial"/>
                <a:cs typeface="Arial"/>
                <a:sym typeface="Arial"/>
              </a:rPr>
              <a:t>Azul</a:t>
            </a:r>
            <a:r>
              <a:rPr b="0" i="0" lang="pt-BR" sz="1400" u="none" cap="none" strike="noStrike">
                <a:solidFill>
                  <a:srgbClr val="000000"/>
                </a:solidFill>
                <a:latin typeface="Arial"/>
                <a:ea typeface="Arial"/>
                <a:cs typeface="Arial"/>
                <a:sym typeface="Arial"/>
              </a:rPr>
              <a:t>, porque </a:t>
            </a:r>
            <a:r>
              <a:rPr b="0" i="0" lang="pt-BR" sz="1400" u="none" cap="none" strike="noStrike">
                <a:solidFill>
                  <a:schemeClr val="dk1"/>
                </a:solidFill>
                <a:latin typeface="Arial"/>
                <a:ea typeface="Arial"/>
                <a:cs typeface="Arial"/>
                <a:sym typeface="Arial"/>
              </a:rPr>
              <a:t>o navegador dá </a:t>
            </a:r>
            <a:r>
              <a:rPr b="1" i="0" lang="pt-BR" sz="1400" u="none" cap="none" strike="noStrike">
                <a:solidFill>
                  <a:schemeClr val="dk1"/>
                </a:solidFill>
                <a:latin typeface="Arial"/>
                <a:ea typeface="Arial"/>
                <a:cs typeface="Arial"/>
                <a:sym typeface="Arial"/>
              </a:rPr>
              <a:t>mais importância para a classe </a:t>
            </a:r>
            <a:r>
              <a:rPr b="1" i="0" lang="pt-BR" sz="800" u="none" cap="none" strike="noStrike">
                <a:solidFill>
                  <a:schemeClr val="dk1"/>
                </a:solidFill>
                <a:latin typeface="Arimo"/>
                <a:ea typeface="Arimo"/>
                <a:cs typeface="Arimo"/>
                <a:sym typeface="Arimo"/>
              </a:rPr>
              <a:t>.</a:t>
            </a:r>
            <a:r>
              <a:rPr b="0" i="0" lang="pt-BR" sz="1400" u="none" cap="none" strike="noStrike">
                <a:solidFill>
                  <a:srgbClr val="000000"/>
                </a:solidFill>
                <a:latin typeface="Arial"/>
                <a:ea typeface="Arial"/>
                <a:cs typeface="Arial"/>
                <a:sym typeface="Arial"/>
              </a:rPr>
              <a:t>meu-paragrafo do que para o p.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5"/>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64" name="Google Shape;64;p45"/>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65" name="Google Shape;65;p45"/>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66" name="Google Shape;66;p45"/>
          <p:cNvSpPr/>
          <p:nvPr/>
        </p:nvSpPr>
        <p:spPr>
          <a:xfrm>
            <a:off x="216748" y="216747"/>
            <a:ext cx="8279552" cy="1254866"/>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4400" u="none" cap="none" strike="noStrike">
                <a:solidFill>
                  <a:schemeClr val="dk1"/>
                </a:solidFill>
                <a:latin typeface="Calibri"/>
                <a:ea typeface="Calibri"/>
                <a:cs typeface="Calibri"/>
                <a:sym typeface="Calibri"/>
              </a:rPr>
              <a:t>CSS - Cascading Style Sheets</a:t>
            </a:r>
            <a:endParaRPr b="1" i="0" sz="4400" u="none" cap="none" strike="noStrike">
              <a:solidFill>
                <a:schemeClr val="dk1"/>
              </a:solidFill>
              <a:latin typeface="Calibri"/>
              <a:ea typeface="Calibri"/>
              <a:cs typeface="Calibri"/>
              <a:sym typeface="Calibri"/>
            </a:endParaRPr>
          </a:p>
        </p:txBody>
      </p:sp>
      <p:sp>
        <p:nvSpPr>
          <p:cNvPr id="67" name="Google Shape;67;p45"/>
          <p:cNvSpPr/>
          <p:nvPr/>
        </p:nvSpPr>
        <p:spPr>
          <a:xfrm>
            <a:off x="334503" y="1957493"/>
            <a:ext cx="2842190" cy="2738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&lt;p style="color: green;"&gt;Olá!&lt;/p&gt;</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t/>
            </a:r>
            <a:endParaRPr b="1" i="0" sz="2000" u="none" cap="none" strike="noStrike">
              <a:solidFill>
                <a:srgbClr val="FF0000"/>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p {</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  color: red;</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t/>
            </a:r>
            <a:endParaRPr b="1" i="0" sz="2000" u="none" cap="none" strike="noStrike">
              <a:solidFill>
                <a:srgbClr val="FF0000"/>
              </a:solidFill>
              <a:latin typeface="Calibri"/>
              <a:ea typeface="Calibri"/>
              <a:cs typeface="Calibri"/>
              <a:sym typeface="Calibri"/>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.meu-paragrafo {</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  color: blue;</a:t>
            </a:r>
            <a:endParaRPr>
              <a:solidFill>
                <a:srgbClr val="FF0000"/>
              </a:solidFill>
            </a:endParaRPr>
          </a:p>
          <a:p>
            <a:pPr indent="-342900" lvl="0" marL="342900" marR="0" rtl="0" algn="l">
              <a:lnSpc>
                <a:spcPct val="90000"/>
              </a:lnSpc>
              <a:spcBef>
                <a:spcPts val="0"/>
              </a:spcBef>
              <a:spcAft>
                <a:spcPts val="0"/>
              </a:spcAft>
              <a:buClr>
                <a:schemeClr val="hlink"/>
              </a:buClr>
              <a:buSzPts val="2000"/>
              <a:buFont typeface="Noto Sans Symbols"/>
              <a:buNone/>
            </a:pPr>
            <a:r>
              <a:rPr b="1" i="0" lang="pt-BR" sz="2000" u="none" cap="none" strike="noStrike">
                <a:solidFill>
                  <a:srgbClr val="FF0000"/>
                </a:solidFill>
                <a:latin typeface="Calibri"/>
                <a:ea typeface="Calibri"/>
                <a:cs typeface="Calibri"/>
                <a:sym typeface="Calibri"/>
              </a:rPr>
              <a:t>}</a:t>
            </a:r>
            <a:endParaRPr b="0" i="0" sz="1800" u="none" cap="none" strike="noStrike">
              <a:solidFill>
                <a:srgbClr val="FF0000"/>
              </a:solidFill>
              <a:latin typeface="Calibri"/>
              <a:ea typeface="Calibri"/>
              <a:cs typeface="Calibri"/>
              <a:sym typeface="Calibri"/>
            </a:endParaRPr>
          </a:p>
        </p:txBody>
      </p:sp>
      <p:sp>
        <p:nvSpPr>
          <p:cNvPr id="68" name="Google Shape;68;p45"/>
          <p:cNvSpPr txBox="1"/>
          <p:nvPr/>
        </p:nvSpPr>
        <p:spPr>
          <a:xfrm flipH="1">
            <a:off x="3176693" y="2305875"/>
            <a:ext cx="3466132"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Calibri"/>
                <a:ea typeface="Calibri"/>
                <a:cs typeface="Calibri"/>
                <a:sym typeface="Calibri"/>
              </a:rPr>
              <a:t>❓Qual cor vai aparecer?</a:t>
            </a:r>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Calibri"/>
                <a:ea typeface="Calibri"/>
                <a:cs typeface="Calibri"/>
                <a:sym typeface="Calibri"/>
              </a:rPr>
              <a:t>➡️ </a:t>
            </a:r>
            <a:r>
              <a:rPr b="0" i="0" lang="pt-BR" sz="1400" u="none" cap="none" strike="noStrike">
                <a:solidFill>
                  <a:schemeClr val="dk1"/>
                </a:solidFill>
                <a:latin typeface="Calibri"/>
                <a:ea typeface="Calibri"/>
                <a:cs typeface="Calibri"/>
                <a:sym typeface="Calibri"/>
              </a:rPr>
              <a:t>A cor vai ser </a:t>
            </a:r>
            <a:r>
              <a:rPr b="1" i="0" lang="pt-BR" sz="1400" u="none" cap="none" strike="noStrike">
                <a:solidFill>
                  <a:schemeClr val="dk1"/>
                </a:solidFill>
                <a:latin typeface="Calibri"/>
                <a:ea typeface="Calibri"/>
                <a:cs typeface="Calibri"/>
                <a:sym typeface="Calibri"/>
              </a:rPr>
              <a:t>verde</a:t>
            </a:r>
            <a:r>
              <a:rPr b="0" i="0" lang="pt-BR" sz="1400" u="none" cap="none" strike="noStrike">
                <a:solidFill>
                  <a:schemeClr val="dk1"/>
                </a:solidFill>
                <a:latin typeface="Calibri"/>
                <a:ea typeface="Calibri"/>
                <a:cs typeface="Calibri"/>
                <a:sym typeface="Calibri"/>
              </a:rPr>
              <a:t>, porque o estilo </a:t>
            </a:r>
            <a:r>
              <a:rPr b="0" i="0" lang="pt-BR" sz="1400" u="none" cap="none" strike="noStrike">
                <a:solidFill>
                  <a:schemeClr val="dk1"/>
                </a:solidFill>
                <a:latin typeface="Calibri"/>
                <a:ea typeface="Calibri"/>
                <a:cs typeface="Calibri"/>
                <a:sym typeface="Calibri"/>
              </a:rPr>
              <a:t>inline (dentro da tag) tem mais força do que o CSS de fora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6"/>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74" name="Google Shape;74;p46"/>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75" name="Google Shape;75;p46"/>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76" name="Google Shape;76;p46"/>
          <p:cNvSpPr/>
          <p:nvPr/>
        </p:nvSpPr>
        <p:spPr>
          <a:xfrm>
            <a:off x="216748" y="216747"/>
            <a:ext cx="8279552" cy="1254866"/>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rPr b="1" i="0" lang="pt-BR" sz="4400" u="none" cap="none" strike="noStrike">
                <a:solidFill>
                  <a:schemeClr val="dk1"/>
                </a:solidFill>
                <a:latin typeface="Calibri"/>
                <a:ea typeface="Calibri"/>
                <a:cs typeface="Calibri"/>
                <a:sym typeface="Calibri"/>
              </a:rPr>
              <a:t>CSS - Cascading Style Sheets</a:t>
            </a:r>
            <a:endParaRPr b="1" i="0" sz="4400" u="none" cap="none" strike="noStrike">
              <a:solidFill>
                <a:schemeClr val="dk1"/>
              </a:solidFill>
              <a:latin typeface="Calibri"/>
              <a:ea typeface="Calibri"/>
              <a:cs typeface="Calibri"/>
              <a:sym typeface="Calibri"/>
            </a:endParaRPr>
          </a:p>
        </p:txBody>
      </p:sp>
      <p:sp>
        <p:nvSpPr>
          <p:cNvPr id="77" name="Google Shape;77;p46"/>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78" name="Google Shape;78;p46"/>
          <p:cNvSpPr txBox="1"/>
          <p:nvPr/>
        </p:nvSpPr>
        <p:spPr>
          <a:xfrm>
            <a:off x="596052" y="1537547"/>
            <a:ext cx="6554765" cy="24160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pt-BR" sz="1400" u="none" cap="none" strike="noStrike">
                <a:solidFill>
                  <a:schemeClr val="dk1"/>
                </a:solidFill>
                <a:latin typeface="Calibri"/>
                <a:ea typeface="Calibri"/>
                <a:cs typeface="Calibri"/>
                <a:sym typeface="Calibri"/>
              </a:rPr>
              <a:t>Conclusão fácil:</a:t>
            </a:r>
            <a:endParaRPr/>
          </a:p>
          <a:p>
            <a:pPr indent="0" lvl="0" marL="0" marR="0" rtl="0" algn="l">
              <a:lnSpc>
                <a:spcPct val="100000"/>
              </a:lnSpc>
              <a:spcBef>
                <a:spcPts val="0"/>
              </a:spcBef>
              <a:spcAft>
                <a:spcPts val="0"/>
              </a:spcAft>
              <a:buClr>
                <a:schemeClr val="dk1"/>
              </a:buClr>
              <a:buSzPts val="1200"/>
              <a:buFont typeface="Arial"/>
              <a:buNone/>
            </a:pPr>
            <a:r>
              <a:rPr b="0" i="0" lang="pt-BR" sz="1200" u="none" cap="none" strike="noStrike">
                <a:solidFill>
                  <a:schemeClr val="dk1"/>
                </a:solidFill>
                <a:latin typeface="Calibri"/>
                <a:ea typeface="Calibri"/>
                <a:cs typeface="Calibri"/>
                <a:sym typeface="Calibri"/>
              </a:rPr>
              <a:t>Quando há mais de um estilo para o mesmo elemento, o CSS usa essa ordem:</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177800" lvl="0" marL="0" marR="0" rtl="0" algn="l">
              <a:lnSpc>
                <a:spcPct val="100000"/>
              </a:lnSpc>
              <a:spcBef>
                <a:spcPts val="0"/>
              </a:spcBef>
              <a:spcAft>
                <a:spcPts val="0"/>
              </a:spcAft>
              <a:buClr>
                <a:schemeClr val="dk1"/>
              </a:buClr>
              <a:buSzPts val="2800"/>
              <a:buFont typeface="Arial"/>
              <a:buAutoNum type="arabicPeriod"/>
            </a:pPr>
            <a:r>
              <a:rPr b="1" i="0" lang="pt-BR" sz="2800" u="none" cap="none" strike="noStrike">
                <a:solidFill>
                  <a:schemeClr val="dk1"/>
                </a:solidFill>
                <a:latin typeface="Calibri"/>
                <a:ea typeface="Calibri"/>
                <a:cs typeface="Calibri"/>
                <a:sym typeface="Calibri"/>
              </a:rPr>
              <a:t>Estilo dentro da tag HTML</a:t>
            </a:r>
            <a:r>
              <a:rPr b="0" i="0" lang="pt-BR" sz="2800" u="none" cap="none" strike="noStrike">
                <a:solidFill>
                  <a:schemeClr val="dk1"/>
                </a:solidFill>
                <a:latin typeface="Calibri"/>
                <a:ea typeface="Calibri"/>
                <a:cs typeface="Calibri"/>
                <a:sym typeface="Calibri"/>
              </a:rPr>
              <a:t> vence</a:t>
            </a:r>
            <a:endParaRPr/>
          </a:p>
          <a:p>
            <a:pPr indent="-177800" lvl="0" marL="0" marR="0" rtl="0" algn="l">
              <a:lnSpc>
                <a:spcPct val="100000"/>
              </a:lnSpc>
              <a:spcBef>
                <a:spcPts val="0"/>
              </a:spcBef>
              <a:spcAft>
                <a:spcPts val="0"/>
              </a:spcAft>
              <a:buClr>
                <a:schemeClr val="dk1"/>
              </a:buClr>
              <a:buSzPts val="2800"/>
              <a:buFont typeface="Arial"/>
              <a:buAutoNum type="arabicPeriod"/>
            </a:pPr>
            <a:r>
              <a:rPr b="1" i="0" lang="pt-BR" sz="2800" u="none" cap="none" strike="noStrike">
                <a:solidFill>
                  <a:schemeClr val="dk1"/>
                </a:solidFill>
                <a:latin typeface="Calibri"/>
                <a:ea typeface="Calibri"/>
                <a:cs typeface="Calibri"/>
                <a:sym typeface="Calibri"/>
              </a:rPr>
              <a:t>Classes e IDs</a:t>
            </a:r>
            <a:r>
              <a:rPr b="0" i="0" lang="pt-BR" sz="2800" u="none" cap="none" strike="noStrike">
                <a:solidFill>
                  <a:schemeClr val="dk1"/>
                </a:solidFill>
                <a:latin typeface="Calibri"/>
                <a:ea typeface="Calibri"/>
                <a:cs typeface="Calibri"/>
                <a:sym typeface="Calibri"/>
              </a:rPr>
              <a:t> vencem elementos simples</a:t>
            </a:r>
            <a:endParaRPr/>
          </a:p>
          <a:p>
            <a:pPr indent="-177800" lvl="0" marL="0" marR="0" rtl="0" algn="l">
              <a:lnSpc>
                <a:spcPct val="100000"/>
              </a:lnSpc>
              <a:spcBef>
                <a:spcPts val="0"/>
              </a:spcBef>
              <a:spcAft>
                <a:spcPts val="0"/>
              </a:spcAft>
              <a:buClr>
                <a:schemeClr val="dk1"/>
              </a:buClr>
              <a:buSzPts val="2800"/>
              <a:buFont typeface="Arial"/>
              <a:buAutoNum type="arabicPeriod"/>
            </a:pPr>
            <a:r>
              <a:rPr b="1" i="0" lang="pt-BR" sz="2800" u="none" cap="none" strike="noStrike">
                <a:solidFill>
                  <a:schemeClr val="dk1"/>
                </a:solidFill>
                <a:latin typeface="Calibri"/>
                <a:ea typeface="Calibri"/>
                <a:cs typeface="Calibri"/>
                <a:sym typeface="Calibri"/>
              </a:rPr>
              <a:t>O que está mais no fim do código</a:t>
            </a:r>
            <a:r>
              <a:rPr b="0" i="0" lang="pt-BR" sz="2800" u="none" cap="none" strike="noStrike">
                <a:solidFill>
                  <a:schemeClr val="dk1"/>
                </a:solidFill>
                <a:latin typeface="Calibri"/>
                <a:ea typeface="Calibri"/>
                <a:cs typeface="Calibri"/>
                <a:sym typeface="Calibri"/>
              </a:rPr>
              <a:t> vence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47"/>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84" name="Google Shape;84;p47"/>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85" name="Google Shape;85;p47"/>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86" name="Google Shape;86;p47"/>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Três maneiras de inserir CSS</a:t>
            </a:r>
            <a:endParaRPr b="1" i="0" sz="4400" u="none" cap="none" strike="noStrike">
              <a:solidFill>
                <a:schemeClr val="dk1"/>
              </a:solidFill>
              <a:latin typeface="Calibri"/>
              <a:ea typeface="Calibri"/>
              <a:cs typeface="Calibri"/>
              <a:sym typeface="Calibri"/>
            </a:endParaRPr>
          </a:p>
        </p:txBody>
      </p:sp>
      <p:sp>
        <p:nvSpPr>
          <p:cNvPr id="87" name="Google Shape;87;p47"/>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88" name="Google Shape;88;p47"/>
          <p:cNvSpPr txBox="1"/>
          <p:nvPr/>
        </p:nvSpPr>
        <p:spPr>
          <a:xfrm>
            <a:off x="606056" y="1509823"/>
            <a:ext cx="6315739"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2000" u="none" cap="none" strike="noStrike">
                <a:solidFill>
                  <a:srgbClr val="000000"/>
                </a:solidFill>
                <a:latin typeface="Arial"/>
                <a:ea typeface="Arial"/>
                <a:cs typeface="Arial"/>
                <a:sym typeface="Arial"/>
              </a:rPr>
              <a:t>Existem três maneiras de inserir uma folha de estilo:</a:t>
            </a:r>
            <a:endParaRPr/>
          </a:p>
          <a:p>
            <a:pPr indent="0" lvl="0" marL="0" marR="0" rtl="0" algn="l">
              <a:lnSpc>
                <a:spcPct val="100000"/>
              </a:lnSpc>
              <a:spcBef>
                <a:spcPts val="0"/>
              </a:spcBef>
              <a:spcAft>
                <a:spcPts val="0"/>
              </a:spcAft>
              <a:buNone/>
            </a:pPr>
            <a:r>
              <a:rPr b="0" i="0" lang="pt-BR" sz="2000" u="none" cap="none" strike="noStrike">
                <a:solidFill>
                  <a:srgbClr val="000000"/>
                </a:solidFill>
                <a:latin typeface="Arial"/>
                <a:ea typeface="Arial"/>
                <a:cs typeface="Arial"/>
                <a:sym typeface="Arial"/>
              </a:rPr>
              <a:t> </a:t>
            </a:r>
            <a:endParaRPr/>
          </a:p>
          <a:p>
            <a:pPr indent="-285750" lvl="0" marL="28575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CSS externo</a:t>
            </a:r>
            <a:endParaRPr/>
          </a:p>
          <a:p>
            <a:pPr indent="-285750" lvl="0" marL="28575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CSS interno </a:t>
            </a:r>
            <a:endParaRPr b="0" i="0" sz="20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CSS embutido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8"/>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94" name="Google Shape;94;p48"/>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95" name="Google Shape;95;p48"/>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96" name="Google Shape;96;p48"/>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CSS externo </a:t>
            </a:r>
            <a:endParaRPr b="1" i="0" sz="4400" u="none" cap="none" strike="noStrike">
              <a:solidFill>
                <a:schemeClr val="dk1"/>
              </a:solidFill>
              <a:latin typeface="Calibri"/>
              <a:ea typeface="Calibri"/>
              <a:cs typeface="Calibri"/>
              <a:sym typeface="Calibri"/>
            </a:endParaRPr>
          </a:p>
        </p:txBody>
      </p:sp>
      <p:sp>
        <p:nvSpPr>
          <p:cNvPr id="97" name="Google Shape;97;p48"/>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98" name="Google Shape;98;p48"/>
          <p:cNvSpPr txBox="1"/>
          <p:nvPr/>
        </p:nvSpPr>
        <p:spPr>
          <a:xfrm>
            <a:off x="606056" y="1509823"/>
            <a:ext cx="6783572" cy="255454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Com uma folha de estilos externa, você pode alterar a aparência de um site inteiro alterando apenas um arquivo!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pt-BR" sz="2000" u="none" cap="none" strike="noStrike">
                <a:solidFill>
                  <a:schemeClr val="dk1"/>
                </a:solidFill>
                <a:latin typeface="Arial"/>
                <a:ea typeface="Arial"/>
                <a:cs typeface="Arial"/>
                <a:sym typeface="Arial"/>
              </a:rPr>
              <a:t>Cada página HTML deve incluir uma referência ao arquivo de folha de estilo externo dentro do elemento, dentro da seção head.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9"/>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04" name="Google Shape;104;p49"/>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05" name="Google Shape;105;p49"/>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pic>
        <p:nvPicPr>
          <p:cNvPr id="106" name="Google Shape;106;p49"/>
          <p:cNvPicPr preferRelativeResize="0"/>
          <p:nvPr/>
        </p:nvPicPr>
        <p:blipFill rotWithShape="1">
          <a:blip r:embed="rId4">
            <a:alphaModFix/>
          </a:blip>
          <a:srcRect b="0" l="0" r="0" t="0"/>
          <a:stretch/>
        </p:blipFill>
        <p:spPr>
          <a:xfrm>
            <a:off x="1438797" y="260273"/>
            <a:ext cx="5330741" cy="46229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0"/>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12" name="Google Shape;112;p50"/>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13" name="Google Shape;113;p50"/>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14" name="Google Shape;114;p50"/>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CSS interno </a:t>
            </a:r>
            <a:endParaRPr b="1" i="0" sz="4400" u="none" cap="none" strike="noStrike">
              <a:solidFill>
                <a:schemeClr val="dk1"/>
              </a:solidFill>
              <a:latin typeface="Calibri"/>
              <a:ea typeface="Calibri"/>
              <a:cs typeface="Calibri"/>
              <a:sym typeface="Calibri"/>
            </a:endParaRPr>
          </a:p>
        </p:txBody>
      </p:sp>
      <p:sp>
        <p:nvSpPr>
          <p:cNvPr id="115" name="Google Shape;115;p50"/>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16" name="Google Shape;116;p50"/>
          <p:cNvSpPr txBox="1"/>
          <p:nvPr/>
        </p:nvSpPr>
        <p:spPr>
          <a:xfrm>
            <a:off x="606056" y="1509823"/>
            <a:ext cx="6783572" cy="193899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Uma folha de estilo interna pode ser usada se uma única página HTML tiver um estilo único. </a:t>
            </a:r>
            <a:endParaRPr b="0" i="0" sz="20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 O estilo interno é definido dentro do elemento &lt;style&gt;, dentro da seção head.</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1"/>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22" name="Google Shape;122;p51"/>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23" name="Google Shape;123;p51"/>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24" name="Google Shape;124;p51"/>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125" name="Google Shape;125;p51"/>
          <p:cNvPicPr preferRelativeResize="0"/>
          <p:nvPr/>
        </p:nvPicPr>
        <p:blipFill rotWithShape="1">
          <a:blip r:embed="rId4">
            <a:alphaModFix/>
          </a:blip>
          <a:srcRect b="0" l="0" r="0" t="0"/>
          <a:stretch/>
        </p:blipFill>
        <p:spPr>
          <a:xfrm>
            <a:off x="503238" y="489787"/>
            <a:ext cx="6542563" cy="37737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2"/>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31" name="Google Shape;131;p52"/>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32" name="Google Shape;132;p52"/>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33" name="Google Shape;133;p52"/>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CSS inline</a:t>
            </a:r>
            <a:endParaRPr b="1" i="0" sz="4400" u="none" cap="none" strike="noStrike">
              <a:solidFill>
                <a:schemeClr val="dk1"/>
              </a:solidFill>
              <a:latin typeface="Calibri"/>
              <a:ea typeface="Calibri"/>
              <a:cs typeface="Calibri"/>
              <a:sym typeface="Calibri"/>
            </a:endParaRPr>
          </a:p>
        </p:txBody>
      </p:sp>
      <p:sp>
        <p:nvSpPr>
          <p:cNvPr id="134" name="Google Shape;134;p52"/>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35" name="Google Shape;135;p52"/>
          <p:cNvSpPr txBox="1"/>
          <p:nvPr/>
        </p:nvSpPr>
        <p:spPr>
          <a:xfrm>
            <a:off x="606056" y="1509823"/>
            <a:ext cx="6783572" cy="193899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Um estilo embutido(inline) pode ser usado para aplicar um estilo exclusivo a um único elemento. </a:t>
            </a:r>
            <a:endParaRPr b="0" i="0" sz="2000" u="none" cap="none" strike="noStrike">
              <a:solidFill>
                <a:srgbClr val="000000"/>
              </a:solidFill>
              <a:latin typeface="Arial"/>
              <a:ea typeface="Arial"/>
              <a:cs typeface="Arial"/>
              <a:sym typeface="Arial"/>
            </a:endParaRPr>
          </a:p>
          <a:p>
            <a:pPr indent="-215900" lvl="0" marL="3429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Arial"/>
              <a:buChar char="•"/>
            </a:pPr>
            <a:r>
              <a:rPr b="0" i="0" lang="pt-BR" sz="2000" u="none" cap="none" strike="noStrike">
                <a:solidFill>
                  <a:srgbClr val="000000"/>
                </a:solidFill>
                <a:latin typeface="Arial"/>
                <a:ea typeface="Arial"/>
                <a:cs typeface="Arial"/>
                <a:sym typeface="Arial"/>
              </a:rPr>
              <a:t> Para usar estilos embutidos, adicione o atributo style ao elemento relevante. O atributo style pode conter qualquer propriedade CSS.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3"/>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41" name="Google Shape;141;p53"/>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42" name="Google Shape;142;p53"/>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43" name="Google Shape;143;p53"/>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144" name="Google Shape;144;p53"/>
          <p:cNvPicPr preferRelativeResize="0"/>
          <p:nvPr/>
        </p:nvPicPr>
        <p:blipFill rotWithShape="1">
          <a:blip r:embed="rId4">
            <a:alphaModFix/>
          </a:blip>
          <a:srcRect b="0" l="0" r="0" t="0"/>
          <a:stretch/>
        </p:blipFill>
        <p:spPr>
          <a:xfrm>
            <a:off x="503238" y="906039"/>
            <a:ext cx="6917598" cy="2999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4"/>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50" name="Google Shape;150;p54"/>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51" name="Google Shape;151;p54"/>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52" name="Google Shape;152;p54"/>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Relações de "Família" no CSS</a:t>
            </a:r>
            <a:endParaRPr b="1" i="0" sz="4400" u="none" cap="none" strike="noStrike">
              <a:solidFill>
                <a:schemeClr val="dk1"/>
              </a:solidFill>
              <a:latin typeface="Calibri"/>
              <a:ea typeface="Calibri"/>
              <a:cs typeface="Calibri"/>
              <a:sym typeface="Calibri"/>
            </a:endParaRPr>
          </a:p>
        </p:txBody>
      </p:sp>
      <p:sp>
        <p:nvSpPr>
          <p:cNvPr id="153" name="Google Shape;153;p54"/>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54" name="Google Shape;154;p54"/>
          <p:cNvSpPr txBox="1"/>
          <p:nvPr/>
        </p:nvSpPr>
        <p:spPr>
          <a:xfrm>
            <a:off x="395463" y="1155701"/>
            <a:ext cx="7176978" cy="1169551"/>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Arial"/>
              <a:buAutoNum type="arabicPeriod"/>
            </a:pPr>
            <a:r>
              <a:rPr b="1" i="0" lang="pt-BR" sz="1400" u="none" cap="none" strike="noStrike">
                <a:solidFill>
                  <a:srgbClr val="000000"/>
                </a:solidFill>
                <a:latin typeface="Arial"/>
                <a:ea typeface="Arial"/>
                <a:cs typeface="Arial"/>
                <a:sym typeface="Arial"/>
              </a:rPr>
              <a:t>Elemento Pai (Parent) - </a:t>
            </a:r>
            <a:r>
              <a:rPr b="0" i="0" lang="pt-BR" sz="1400" u="none" cap="none" strike="noStrike">
                <a:solidFill>
                  <a:srgbClr val="000000"/>
                </a:solidFill>
                <a:latin typeface="Arial"/>
                <a:ea typeface="Arial"/>
                <a:cs typeface="Arial"/>
                <a:sym typeface="Arial"/>
              </a:rPr>
              <a:t>O elemento que </a:t>
            </a:r>
            <a:r>
              <a:rPr b="1" i="0" lang="pt-BR" sz="1400" u="none" cap="none" strike="noStrike">
                <a:solidFill>
                  <a:srgbClr val="000000"/>
                </a:solidFill>
                <a:latin typeface="Arial"/>
                <a:ea typeface="Arial"/>
                <a:cs typeface="Arial"/>
                <a:sym typeface="Arial"/>
              </a:rPr>
              <a:t>contém outro dentro dele</a:t>
            </a:r>
            <a:r>
              <a:rPr b="0" i="0" lang="pt-BR" sz="1400" u="none" cap="none" strike="noStrike">
                <a:solidFill>
                  <a:srgbClr val="000000"/>
                </a:solidFill>
                <a:latin typeface="Arial"/>
                <a:ea typeface="Arial"/>
                <a:cs typeface="Arial"/>
                <a:sym typeface="Arial"/>
              </a:rPr>
              <a:t>.</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2. Elemento Filho (Child) – O</a:t>
            </a:r>
            <a:r>
              <a:rPr b="0" i="0" lang="pt-BR" sz="1400" u="none" cap="none" strike="noStrike">
                <a:solidFill>
                  <a:srgbClr val="000000"/>
                </a:solidFill>
                <a:latin typeface="Arial"/>
                <a:ea typeface="Arial"/>
                <a:cs typeface="Arial"/>
                <a:sym typeface="Arial"/>
              </a:rPr>
              <a:t> que está </a:t>
            </a:r>
            <a:r>
              <a:rPr b="1" i="0" lang="pt-BR" sz="1400" u="none" cap="none" strike="noStrike">
                <a:solidFill>
                  <a:srgbClr val="000000"/>
                </a:solidFill>
                <a:latin typeface="Arial"/>
                <a:ea typeface="Arial"/>
                <a:cs typeface="Arial"/>
                <a:sym typeface="Arial"/>
              </a:rPr>
              <a:t>diretamente dentro</a:t>
            </a:r>
            <a:r>
              <a:rPr b="0" i="0" lang="pt-BR" sz="1400" u="none" cap="none" strike="noStrike">
                <a:solidFill>
                  <a:srgbClr val="000000"/>
                </a:solidFill>
                <a:latin typeface="Arial"/>
                <a:ea typeface="Arial"/>
                <a:cs typeface="Arial"/>
                <a:sym typeface="Arial"/>
              </a:rPr>
              <a:t> de outro.</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3. Descendentes - </a:t>
            </a:r>
            <a:r>
              <a:rPr b="0" i="0" lang="pt-BR" sz="1400" u="none" cap="none" strike="noStrike">
                <a:solidFill>
                  <a:srgbClr val="000000"/>
                </a:solidFill>
                <a:latin typeface="Arial"/>
                <a:ea typeface="Arial"/>
                <a:cs typeface="Arial"/>
                <a:sym typeface="Arial"/>
              </a:rPr>
              <a:t>Todos os elementos </a:t>
            </a:r>
            <a:r>
              <a:rPr b="1" i="0" lang="pt-BR" sz="1400" u="none" cap="none" strike="noStrike">
                <a:solidFill>
                  <a:srgbClr val="000000"/>
                </a:solidFill>
                <a:latin typeface="Arial"/>
                <a:ea typeface="Arial"/>
                <a:cs typeface="Arial"/>
                <a:sym typeface="Arial"/>
              </a:rPr>
              <a:t>dentro</a:t>
            </a:r>
            <a:r>
              <a:rPr b="0" i="0" lang="pt-BR" sz="1400" u="none" cap="none" strike="noStrike">
                <a:solidFill>
                  <a:srgbClr val="000000"/>
                </a:solidFill>
                <a:latin typeface="Arial"/>
                <a:ea typeface="Arial"/>
                <a:cs typeface="Arial"/>
                <a:sym typeface="Arial"/>
              </a:rPr>
              <a:t> de outro, não importa o nível.</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p:txBody>
      </p:sp>
      <p:pic>
        <p:nvPicPr>
          <p:cNvPr id="155" name="Google Shape;155;p54"/>
          <p:cNvPicPr preferRelativeResize="0"/>
          <p:nvPr/>
        </p:nvPicPr>
        <p:blipFill rotWithShape="1">
          <a:blip r:embed="rId4">
            <a:alphaModFix/>
          </a:blip>
          <a:srcRect b="0" l="0" r="0" t="0"/>
          <a:stretch/>
        </p:blipFill>
        <p:spPr>
          <a:xfrm>
            <a:off x="1464966" y="2326630"/>
            <a:ext cx="4448796" cy="198147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5"/>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61" name="Google Shape;161;p55"/>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62" name="Google Shape;162;p55"/>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63" name="Google Shape;163;p55"/>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Relações de "Família" no CSS</a:t>
            </a:r>
            <a:endParaRPr b="1" i="0" sz="4400" u="none" cap="none" strike="noStrike">
              <a:solidFill>
                <a:schemeClr val="dk1"/>
              </a:solidFill>
              <a:latin typeface="Calibri"/>
              <a:ea typeface="Calibri"/>
              <a:cs typeface="Calibri"/>
              <a:sym typeface="Calibri"/>
            </a:endParaRPr>
          </a:p>
        </p:txBody>
      </p:sp>
      <p:sp>
        <p:nvSpPr>
          <p:cNvPr id="164" name="Google Shape;164;p55"/>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65" name="Google Shape;165;p55"/>
          <p:cNvSpPr txBox="1"/>
          <p:nvPr/>
        </p:nvSpPr>
        <p:spPr>
          <a:xfrm>
            <a:off x="395464" y="1095154"/>
            <a:ext cx="708985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4. Irmãos (Siblings) -  </a:t>
            </a:r>
            <a:r>
              <a:rPr b="0" i="0" lang="pt-BR" sz="1400" u="none" cap="none" strike="noStrike">
                <a:solidFill>
                  <a:srgbClr val="000000"/>
                </a:solidFill>
                <a:latin typeface="Arial"/>
                <a:ea typeface="Arial"/>
                <a:cs typeface="Arial"/>
                <a:sym typeface="Arial"/>
              </a:rPr>
              <a:t>Elementos que estão no </a:t>
            </a:r>
            <a:r>
              <a:rPr b="1" i="0" lang="pt-BR" sz="1400" u="none" cap="none" strike="noStrike">
                <a:solidFill>
                  <a:srgbClr val="000000"/>
                </a:solidFill>
                <a:latin typeface="Arial"/>
                <a:ea typeface="Arial"/>
                <a:cs typeface="Arial"/>
                <a:sym typeface="Arial"/>
              </a:rPr>
              <a:t>mesmo nível hierárquico.</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lphaLcParenR"/>
            </a:pPr>
            <a:r>
              <a:rPr b="0" i="0" lang="pt-BR" sz="1400" u="none" cap="none" strike="noStrike">
                <a:solidFill>
                  <a:srgbClr val="000000"/>
                </a:solidFill>
                <a:latin typeface="Arial"/>
                <a:ea typeface="Arial"/>
                <a:cs typeface="Arial"/>
                <a:sym typeface="Arial"/>
              </a:rPr>
              <a:t>Irmão adjacente (+) Seleciona o  próximo elemento que vem logo após.</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b) Irmãos gerais (~) Seleciona todos os irmãos seguintes.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p:txBody>
      </p:sp>
      <p:pic>
        <p:nvPicPr>
          <p:cNvPr id="166" name="Google Shape;166;p55"/>
          <p:cNvPicPr preferRelativeResize="0"/>
          <p:nvPr/>
        </p:nvPicPr>
        <p:blipFill rotWithShape="1">
          <a:blip r:embed="rId4">
            <a:alphaModFix/>
          </a:blip>
          <a:srcRect b="0" l="0" r="0" t="0"/>
          <a:stretch/>
        </p:blipFill>
        <p:spPr>
          <a:xfrm>
            <a:off x="565585" y="2201150"/>
            <a:ext cx="6830378" cy="25435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6"/>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72" name="Google Shape;172;p56"/>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73" name="Google Shape;173;p56"/>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74" name="Google Shape;174;p56"/>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Herança no CSS</a:t>
            </a:r>
            <a:endParaRPr b="1" i="0" sz="4400" u="none" cap="none" strike="noStrike">
              <a:solidFill>
                <a:schemeClr val="dk1"/>
              </a:solidFill>
              <a:latin typeface="Calibri"/>
              <a:ea typeface="Calibri"/>
              <a:cs typeface="Calibri"/>
              <a:sym typeface="Calibri"/>
            </a:endParaRPr>
          </a:p>
        </p:txBody>
      </p:sp>
      <p:sp>
        <p:nvSpPr>
          <p:cNvPr id="175" name="Google Shape;175;p56"/>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76" name="Google Shape;176;p56"/>
          <p:cNvSpPr txBox="1"/>
          <p:nvPr/>
        </p:nvSpPr>
        <p:spPr>
          <a:xfrm>
            <a:off x="449031" y="957739"/>
            <a:ext cx="6652328"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chemeClr val="dk1"/>
                </a:solidFill>
                <a:latin typeface="Arial"/>
                <a:ea typeface="Arial"/>
                <a:cs typeface="Arial"/>
                <a:sym typeface="Arial"/>
              </a:rPr>
              <a:t>No CSS, alguns estilos </a:t>
            </a:r>
            <a:r>
              <a:rPr b="1" i="0" lang="pt-BR" sz="1400" u="none" cap="none" strike="noStrike">
                <a:solidFill>
                  <a:schemeClr val="dk1"/>
                </a:solidFill>
                <a:latin typeface="Arial"/>
                <a:ea typeface="Arial"/>
                <a:cs typeface="Arial"/>
                <a:sym typeface="Arial"/>
              </a:rPr>
              <a:t>passam automaticamente</a:t>
            </a:r>
            <a:r>
              <a:rPr b="0" i="0" lang="pt-BR" sz="1400" u="none" cap="none" strike="noStrike">
                <a:solidFill>
                  <a:schemeClr val="dk1"/>
                </a:solidFill>
                <a:latin typeface="Arial"/>
                <a:ea typeface="Arial"/>
                <a:cs typeface="Arial"/>
                <a:sym typeface="Arial"/>
              </a:rPr>
              <a:t> de um elemento </a:t>
            </a:r>
            <a:r>
              <a:rPr b="1" i="0" lang="pt-BR" sz="1400" u="none" cap="none" strike="noStrike">
                <a:solidFill>
                  <a:schemeClr val="dk1"/>
                </a:solidFill>
                <a:latin typeface="Arial"/>
                <a:ea typeface="Arial"/>
                <a:cs typeface="Arial"/>
                <a:sym typeface="Arial"/>
              </a:rPr>
              <a:t>pai</a:t>
            </a:r>
            <a:r>
              <a:rPr b="0" i="0" lang="pt-BR" sz="1400" u="none" cap="none" strike="noStrike">
                <a:solidFill>
                  <a:schemeClr val="dk1"/>
                </a:solidFill>
                <a:latin typeface="Arial"/>
                <a:ea typeface="Arial"/>
                <a:cs typeface="Arial"/>
                <a:sym typeface="Arial"/>
              </a:rPr>
              <a:t> para seus </a:t>
            </a:r>
            <a:r>
              <a:rPr b="1" i="0" lang="pt-BR" sz="1400" u="none" cap="none" strike="noStrike">
                <a:solidFill>
                  <a:schemeClr val="dk1"/>
                </a:solidFill>
                <a:latin typeface="Arial"/>
                <a:ea typeface="Arial"/>
                <a:cs typeface="Arial"/>
                <a:sym typeface="Arial"/>
              </a:rPr>
              <a:t>filhos</a:t>
            </a:r>
            <a:r>
              <a:rPr b="0" i="0" lang="pt-BR" sz="1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chemeClr val="dk1"/>
                </a:solidFill>
                <a:latin typeface="Arial"/>
                <a:ea typeface="Arial"/>
                <a:cs typeface="Arial"/>
                <a:sym typeface="Arial"/>
              </a:rPr>
              <a:t>Propriedades que herdam por padrão</a:t>
            </a:r>
            <a:endParaRPr/>
          </a:p>
          <a:p>
            <a:pPr indent="-171450" lvl="0" marL="17145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      Cor do texto (color)</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Fontes (font-family, font-size, font-style, font-weight)</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Espaçamento do texto (line-height, letter-spacing, word-spacing)</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Alinhamento (text-align)</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Visibilidade (visibility</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chemeClr val="dk1"/>
                </a:solidFill>
                <a:latin typeface="Arial"/>
                <a:ea typeface="Arial"/>
                <a:cs typeface="Arial"/>
                <a:sym typeface="Arial"/>
              </a:rPr>
              <a:t>Propriedades que NÃO herdam (precisam ser definidas)</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Tamanho da caixa (width, height)</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Bordas (border)</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Margens (margin)</a:t>
            </a:r>
            <a:endParaRPr/>
          </a:p>
          <a:p>
            <a:pPr indent="-457200" lvl="0" marL="457200" marR="0" rtl="0" algn="l">
              <a:lnSpc>
                <a:spcPct val="100000"/>
              </a:lnSpc>
              <a:spcBef>
                <a:spcPts val="0"/>
              </a:spcBef>
              <a:spcAft>
                <a:spcPts val="0"/>
              </a:spcAft>
              <a:buClr>
                <a:schemeClr val="dk1"/>
              </a:buClr>
              <a:buSzPts val="1400"/>
              <a:buFont typeface="Arial"/>
              <a:buChar char="•"/>
            </a:pPr>
            <a:r>
              <a:rPr b="0" i="0" lang="pt-BR" sz="1400" u="none" cap="none" strike="noStrike">
                <a:solidFill>
                  <a:schemeClr val="dk1"/>
                </a:solidFill>
                <a:latin typeface="Arial"/>
                <a:ea typeface="Arial"/>
                <a:cs typeface="Arial"/>
                <a:sym typeface="Arial"/>
              </a:rPr>
              <a:t>Preenchimento interno (padding)</a:t>
            </a:r>
            <a:r>
              <a:rPr b="0" i="0" lang="pt-B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57"/>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82" name="Google Shape;182;p57"/>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83" name="Google Shape;183;p57"/>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84" name="Google Shape;184;p57"/>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85" name="Google Shape;185;p57"/>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Seletores</a:t>
            </a:r>
            <a:endParaRPr b="1" i="0" sz="4400" u="none" cap="none" strike="noStrike">
              <a:solidFill>
                <a:schemeClr val="dk1"/>
              </a:solidFill>
              <a:latin typeface="Calibri"/>
              <a:ea typeface="Calibri"/>
              <a:cs typeface="Calibri"/>
              <a:sym typeface="Calibri"/>
            </a:endParaRPr>
          </a:p>
        </p:txBody>
      </p:sp>
      <p:pic>
        <p:nvPicPr>
          <p:cNvPr id="186" name="Google Shape;186;p57"/>
          <p:cNvPicPr preferRelativeResize="0"/>
          <p:nvPr/>
        </p:nvPicPr>
        <p:blipFill rotWithShape="1">
          <a:blip r:embed="rId4">
            <a:alphaModFix/>
          </a:blip>
          <a:srcRect b="0" l="0" r="0" t="0"/>
          <a:stretch/>
        </p:blipFill>
        <p:spPr>
          <a:xfrm>
            <a:off x="1944735" y="2155811"/>
            <a:ext cx="3520400" cy="2567697"/>
          </a:xfrm>
          <a:prstGeom prst="rect">
            <a:avLst/>
          </a:prstGeom>
          <a:noFill/>
          <a:ln>
            <a:noFill/>
          </a:ln>
        </p:spPr>
      </p:pic>
      <p:sp>
        <p:nvSpPr>
          <p:cNvPr id="187" name="Google Shape;187;p57"/>
          <p:cNvSpPr txBox="1"/>
          <p:nvPr/>
        </p:nvSpPr>
        <p:spPr>
          <a:xfrm>
            <a:off x="395463" y="1173182"/>
            <a:ext cx="686657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É um padrão de elementos e outros termos que informam ao navegador quais elementos HTML devem ser selecionados para que os valores de propriedade CSS dentro da regra sejam aplicados a eles. O elemento ou elementos que são selecionados pelo seletor são referidos como o assunto do seletor.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8"/>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193" name="Google Shape;193;p58"/>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194" name="Google Shape;194;p58"/>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195" name="Google Shape;195;p58"/>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96" name="Google Shape;196;p58"/>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Seletores</a:t>
            </a:r>
            <a:endParaRPr b="1" i="0" sz="4400" u="none" cap="none" strike="noStrike">
              <a:solidFill>
                <a:schemeClr val="dk1"/>
              </a:solidFill>
              <a:latin typeface="Calibri"/>
              <a:ea typeface="Calibri"/>
              <a:cs typeface="Calibri"/>
              <a:sym typeface="Calibri"/>
            </a:endParaRPr>
          </a:p>
        </p:txBody>
      </p:sp>
      <p:pic>
        <p:nvPicPr>
          <p:cNvPr id="197" name="Google Shape;197;p58"/>
          <p:cNvPicPr preferRelativeResize="0"/>
          <p:nvPr/>
        </p:nvPicPr>
        <p:blipFill rotWithShape="1">
          <a:blip r:embed="rId4">
            <a:alphaModFix/>
          </a:blip>
          <a:srcRect b="0" l="0" r="0" t="0"/>
          <a:stretch/>
        </p:blipFill>
        <p:spPr>
          <a:xfrm>
            <a:off x="285481" y="1325948"/>
            <a:ext cx="6865337" cy="335717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59"/>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03" name="Google Shape;203;p59"/>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04" name="Google Shape;204;p59"/>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05" name="Google Shape;205;p59"/>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06" name="Google Shape;206;p59"/>
          <p:cNvSpPr/>
          <p:nvPr/>
        </p:nvSpPr>
        <p:spPr>
          <a:xfrm>
            <a:off x="333421" y="181339"/>
            <a:ext cx="7479926" cy="724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Seletores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07" name="Google Shape;207;p59"/>
          <p:cNvPicPr preferRelativeResize="0"/>
          <p:nvPr/>
        </p:nvPicPr>
        <p:blipFill rotWithShape="1">
          <a:blip r:embed="rId4">
            <a:alphaModFix/>
          </a:blip>
          <a:srcRect b="0" l="0" r="0" t="0"/>
          <a:stretch/>
        </p:blipFill>
        <p:spPr>
          <a:xfrm>
            <a:off x="184565" y="518256"/>
            <a:ext cx="6817397" cy="442604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60"/>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13" name="Google Shape;213;p60"/>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14" name="Google Shape;214;p60"/>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15" name="Google Shape;215;p60"/>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16" name="Google Shape;216;p60"/>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 id – Utilizamos # </a:t>
            </a:r>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17" name="Google Shape;217;p60"/>
          <p:cNvPicPr preferRelativeResize="0"/>
          <p:nvPr/>
        </p:nvPicPr>
        <p:blipFill rotWithShape="1">
          <a:blip r:embed="rId4">
            <a:alphaModFix/>
          </a:blip>
          <a:srcRect b="0" l="0" r="0" t="0"/>
          <a:stretch/>
        </p:blipFill>
        <p:spPr>
          <a:xfrm>
            <a:off x="216748" y="978666"/>
            <a:ext cx="7216583" cy="318616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61"/>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23" name="Google Shape;223;p61"/>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24" name="Google Shape;224;p61"/>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25" name="Google Shape;225;p61"/>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26" name="Google Shape;226;p61"/>
          <p:cNvSpPr/>
          <p:nvPr/>
        </p:nvSpPr>
        <p:spPr>
          <a:xfrm>
            <a:off x="216748" y="163584"/>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 id – Utilizamos # </a:t>
            </a:r>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27" name="Google Shape;227;p61"/>
          <p:cNvPicPr preferRelativeResize="0"/>
          <p:nvPr/>
        </p:nvPicPr>
        <p:blipFill rotWithShape="1">
          <a:blip r:embed="rId4">
            <a:alphaModFix/>
          </a:blip>
          <a:srcRect b="0" l="0" r="0" t="0"/>
          <a:stretch/>
        </p:blipFill>
        <p:spPr>
          <a:xfrm>
            <a:off x="341630" y="1003400"/>
            <a:ext cx="7471717" cy="342993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62"/>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33" name="Google Shape;233;p62"/>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34" name="Google Shape;234;p62"/>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35" name="Google Shape;235;p62"/>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36" name="Google Shape;236;p62"/>
          <p:cNvSpPr/>
          <p:nvPr/>
        </p:nvSpPr>
        <p:spPr>
          <a:xfrm>
            <a:off x="269911" y="609966"/>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 classe – Utilizamos . </a:t>
            </a:r>
            <a:endParaRPr b="1" i="0" sz="44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37" name="Google Shape;237;p62"/>
          <p:cNvPicPr preferRelativeResize="0"/>
          <p:nvPr/>
        </p:nvPicPr>
        <p:blipFill rotWithShape="1">
          <a:blip r:embed="rId4">
            <a:alphaModFix/>
          </a:blip>
          <a:srcRect b="0" l="0" r="0" t="0"/>
          <a:stretch/>
        </p:blipFill>
        <p:spPr>
          <a:xfrm>
            <a:off x="503238" y="1425416"/>
            <a:ext cx="6523088" cy="32115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63"/>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43" name="Google Shape;243;p63"/>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44" name="Google Shape;244;p63"/>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45" name="Google Shape;245;p63"/>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46" name="Google Shape;246;p63"/>
          <p:cNvSpPr/>
          <p:nvPr/>
        </p:nvSpPr>
        <p:spPr>
          <a:xfrm>
            <a:off x="269911" y="609966"/>
            <a:ext cx="8279552" cy="1009598"/>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9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 classe – Utilizamos . </a:t>
            </a:r>
            <a:endParaRPr b="1" i="0" sz="44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47" name="Google Shape;247;p63"/>
          <p:cNvPicPr preferRelativeResize="0"/>
          <p:nvPr/>
        </p:nvPicPr>
        <p:blipFill rotWithShape="1">
          <a:blip r:embed="rId4">
            <a:alphaModFix/>
          </a:blip>
          <a:srcRect b="0" l="0" r="0" t="0"/>
          <a:stretch/>
        </p:blipFill>
        <p:spPr>
          <a:xfrm>
            <a:off x="343442" y="1497096"/>
            <a:ext cx="7469905" cy="266665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64"/>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53" name="Google Shape;253;p64"/>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54" name="Google Shape;254;p64"/>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55" name="Google Shape;255;p64"/>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56" name="Google Shape;256;p64"/>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4400" u="none" cap="none" strike="noStrike">
                <a:solidFill>
                  <a:schemeClr val="dk1"/>
                </a:solidFill>
                <a:latin typeface="Calibri"/>
                <a:ea typeface="Calibri"/>
                <a:cs typeface="Calibri"/>
                <a:sym typeface="Calibri"/>
              </a:rPr>
              <a:t>Seletores descendentes e filhos</a:t>
            </a:r>
            <a:endParaRPr b="1" i="0" sz="44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57" name="Google Shape;257;p64"/>
          <p:cNvPicPr preferRelativeResize="0"/>
          <p:nvPr/>
        </p:nvPicPr>
        <p:blipFill rotWithShape="1">
          <a:blip r:embed="rId4">
            <a:alphaModFix/>
          </a:blip>
          <a:srcRect b="0" l="0" r="0" t="0"/>
          <a:stretch/>
        </p:blipFill>
        <p:spPr>
          <a:xfrm>
            <a:off x="492378" y="806520"/>
            <a:ext cx="6515447" cy="387660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65"/>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63" name="Google Shape;263;p65"/>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64" name="Google Shape;264;p65"/>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65" name="Google Shape;265;p65"/>
          <p:cNvSpPr/>
          <p:nvPr/>
        </p:nvSpPr>
        <p:spPr>
          <a:xfrm>
            <a:off x="395463" y="1425416"/>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66" name="Google Shape;266;p65"/>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Seletores irmão adjacente e de atributos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267" name="Google Shape;267;p65"/>
          <p:cNvPicPr preferRelativeResize="0"/>
          <p:nvPr/>
        </p:nvPicPr>
        <p:blipFill rotWithShape="1">
          <a:blip r:embed="rId4">
            <a:alphaModFix/>
          </a:blip>
          <a:srcRect b="0" l="0" r="0" t="0"/>
          <a:stretch/>
        </p:blipFill>
        <p:spPr>
          <a:xfrm>
            <a:off x="210064" y="708316"/>
            <a:ext cx="6868484" cy="417253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66"/>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273" name="Google Shape;273;p66"/>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74" name="Google Shape;274;p66"/>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75" name="Google Shape;275;p66"/>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276" name="Google Shape;276;p66"/>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Tag Div</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277" name="Google Shape;277;p66"/>
          <p:cNvSpPr txBox="1"/>
          <p:nvPr/>
        </p:nvSpPr>
        <p:spPr>
          <a:xfrm>
            <a:off x="298741" y="1663809"/>
            <a:ext cx="701748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tag </a:t>
            </a:r>
            <a:r>
              <a:rPr b="1" i="1" lang="pt-BR" sz="1400" u="none" cap="none" strike="noStrike">
                <a:solidFill>
                  <a:srgbClr val="000000"/>
                </a:solidFill>
                <a:latin typeface="Arial"/>
                <a:ea typeface="Arial"/>
                <a:cs typeface="Arial"/>
                <a:sym typeface="Arial"/>
              </a:rPr>
              <a:t>&lt;DIV&gt; </a:t>
            </a:r>
            <a:r>
              <a:rPr b="0" baseline="-25000" i="0" lang="pt-BR"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tem a função de criar divisões. Quando criamos um website, dividimos as áreas do layout em seções. Podemos criar com uma Div para um cabeçalho, rodapé, sidebar e etc, desta forma damos o mesmo nível hierárquico de informação para todos os elementos que estão dentro desta divisão de página. De forma resumida são tags contâiner (ou seja, permitem que sejam colocadas outras tags em seu interior) utilizadas para organizar e formatar as áreas da sua página HTML.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LOGO_SENAI_BRANCO.png" id="282" name="Google Shape;282;p67"/>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83" name="Google Shape;283;p67"/>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84" name="Google Shape;284;p67"/>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285" name="Google Shape;285;p67"/>
          <p:cNvPicPr preferRelativeResize="0"/>
          <p:nvPr/>
        </p:nvPicPr>
        <p:blipFill rotWithShape="1">
          <a:blip r:embed="rId4">
            <a:alphaModFix/>
          </a:blip>
          <a:srcRect b="0" l="0" r="0" t="0"/>
          <a:stretch/>
        </p:blipFill>
        <p:spPr>
          <a:xfrm>
            <a:off x="238450" y="370875"/>
            <a:ext cx="8925876" cy="4324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descr="LOGO_SENAI_BRANCO.png" id="290" name="Google Shape;290;p68"/>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91" name="Google Shape;291;p68"/>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292" name="Google Shape;292;p68"/>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293" name="Google Shape;293;p68"/>
          <p:cNvPicPr preferRelativeResize="0"/>
          <p:nvPr/>
        </p:nvPicPr>
        <p:blipFill rotWithShape="1">
          <a:blip r:embed="rId4">
            <a:alphaModFix/>
          </a:blip>
          <a:srcRect b="0" l="0" r="0" t="0"/>
          <a:stretch/>
        </p:blipFill>
        <p:spPr>
          <a:xfrm>
            <a:off x="337546" y="690300"/>
            <a:ext cx="8468907" cy="37629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descr="LOGO_SENAI_BRANCO.png" id="298" name="Google Shape;298;p69"/>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299" name="Google Shape;299;p69"/>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00" name="Google Shape;300;p69"/>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301" name="Google Shape;301;p69"/>
          <p:cNvPicPr preferRelativeResize="0"/>
          <p:nvPr/>
        </p:nvPicPr>
        <p:blipFill rotWithShape="1">
          <a:blip r:embed="rId4">
            <a:alphaModFix/>
          </a:blip>
          <a:srcRect b="0" l="0" r="0" t="0"/>
          <a:stretch/>
        </p:blipFill>
        <p:spPr>
          <a:xfrm>
            <a:off x="503238" y="952190"/>
            <a:ext cx="8159298" cy="3727313"/>
          </a:xfrm>
          <a:prstGeom prst="rect">
            <a:avLst/>
          </a:prstGeom>
          <a:noFill/>
          <a:ln>
            <a:noFill/>
          </a:ln>
        </p:spPr>
      </p:pic>
      <p:sp>
        <p:nvSpPr>
          <p:cNvPr id="302" name="Google Shape;302;p69"/>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Borda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descr="LOGO_SENAI_BRANCO.png" id="307" name="Google Shape;307;p70"/>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08" name="Google Shape;308;p70"/>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09" name="Google Shape;309;p70"/>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10" name="Google Shape;310;p70"/>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Estilo de Borda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11" name="Google Shape;311;p70"/>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312" name="Google Shape;312;p70"/>
          <p:cNvPicPr preferRelativeResize="0"/>
          <p:nvPr/>
        </p:nvPicPr>
        <p:blipFill rotWithShape="1">
          <a:blip r:embed="rId4">
            <a:alphaModFix/>
          </a:blip>
          <a:srcRect b="0" l="0" r="0" t="0"/>
          <a:stretch/>
        </p:blipFill>
        <p:spPr>
          <a:xfrm>
            <a:off x="188722" y="865759"/>
            <a:ext cx="7132586" cy="3613929"/>
          </a:xfrm>
          <a:prstGeom prst="rect">
            <a:avLst/>
          </a:prstGeom>
          <a:noFill/>
          <a:ln>
            <a:noFill/>
          </a:ln>
        </p:spPr>
      </p:pic>
      <p:pic>
        <p:nvPicPr>
          <p:cNvPr descr="LOGO_SENAI_BRANCO.png" id="313" name="Google Shape;313;p70"/>
          <p:cNvPicPr preferRelativeResize="0"/>
          <p:nvPr/>
        </p:nvPicPr>
        <p:blipFill rotWithShape="1">
          <a:blip r:embed="rId3">
            <a:alphaModFix/>
          </a:blip>
          <a:srcRect b="0" l="0" r="0" t="0"/>
          <a:stretch/>
        </p:blipFill>
        <p:spPr>
          <a:xfrm>
            <a:off x="7965747" y="4426584"/>
            <a:ext cx="996150" cy="4322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LOGO_SENAI_BRANCO.png" id="318" name="Google Shape;318;p71"/>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19" name="Google Shape;319;p71"/>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20" name="Google Shape;320;p71"/>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21" name="Google Shape;321;p71"/>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Estilo de Borda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322" name="Google Shape;322;p71"/>
          <p:cNvPicPr preferRelativeResize="0"/>
          <p:nvPr/>
        </p:nvPicPr>
        <p:blipFill rotWithShape="1">
          <a:blip r:embed="rId4">
            <a:alphaModFix/>
          </a:blip>
          <a:srcRect b="0" l="0" r="0" t="0"/>
          <a:stretch/>
        </p:blipFill>
        <p:spPr>
          <a:xfrm>
            <a:off x="395463" y="973372"/>
            <a:ext cx="4097781" cy="3211641"/>
          </a:xfrm>
          <a:prstGeom prst="rect">
            <a:avLst/>
          </a:prstGeom>
          <a:noFill/>
          <a:ln>
            <a:noFill/>
          </a:ln>
        </p:spPr>
      </p:pic>
      <p:pic>
        <p:nvPicPr>
          <p:cNvPr id="323" name="Google Shape;323;p71"/>
          <p:cNvPicPr preferRelativeResize="0"/>
          <p:nvPr/>
        </p:nvPicPr>
        <p:blipFill rotWithShape="1">
          <a:blip r:embed="rId5">
            <a:alphaModFix/>
          </a:blip>
          <a:srcRect b="0" l="0" r="0" t="0"/>
          <a:stretch/>
        </p:blipFill>
        <p:spPr>
          <a:xfrm>
            <a:off x="4576559" y="412459"/>
            <a:ext cx="4393548" cy="427066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LOGO_SENAI_BRANCO.png" id="328" name="Google Shape;328;p72"/>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29" name="Google Shape;329;p72"/>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30" name="Google Shape;330;p72"/>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31" name="Google Shape;331;p72"/>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Padding</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32" name="Google Shape;332;p72"/>
          <p:cNvSpPr txBox="1"/>
          <p:nvPr/>
        </p:nvSpPr>
        <p:spPr>
          <a:xfrm>
            <a:off x="276447" y="786809"/>
            <a:ext cx="836782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As propriedades padding CSS são usadas para gerar espaço em torno do conteúdo de um elemento, dentro de qualquer borda definida.</a:t>
            </a:r>
            <a:endParaRPr b="0" i="0" sz="1400" u="none" cap="none" strike="noStrike">
              <a:solidFill>
                <a:srgbClr val="000000"/>
              </a:solidFill>
              <a:latin typeface="Arial"/>
              <a:ea typeface="Arial"/>
              <a:cs typeface="Arial"/>
              <a:sym typeface="Arial"/>
            </a:endParaRPr>
          </a:p>
        </p:txBody>
      </p:sp>
      <p:pic>
        <p:nvPicPr>
          <p:cNvPr id="333" name="Google Shape;333;p72"/>
          <p:cNvPicPr preferRelativeResize="0"/>
          <p:nvPr/>
        </p:nvPicPr>
        <p:blipFill rotWithShape="1">
          <a:blip r:embed="rId4">
            <a:alphaModFix/>
          </a:blip>
          <a:srcRect b="0" l="0" r="0" t="0"/>
          <a:stretch/>
        </p:blipFill>
        <p:spPr>
          <a:xfrm>
            <a:off x="863600" y="1556415"/>
            <a:ext cx="6092276" cy="24607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descr="LOGO_SENAI_BRANCO.png" id="338" name="Google Shape;338;p73"/>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39" name="Google Shape;339;p73"/>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40" name="Google Shape;340;p73"/>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41" name="Google Shape;341;p73"/>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Padding</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42" name="Google Shape;342;p73"/>
          <p:cNvSpPr txBox="1"/>
          <p:nvPr/>
        </p:nvSpPr>
        <p:spPr>
          <a:xfrm>
            <a:off x="276447" y="786809"/>
            <a:ext cx="836782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As propriedades padding CSS são usadas para gerar espaço em torno do conteúdo de um elemento, dentro de qualquer borda definida.</a:t>
            </a:r>
            <a:endParaRPr b="0" i="0" sz="1400" u="none" cap="none" strike="noStrike">
              <a:solidFill>
                <a:srgbClr val="000000"/>
              </a:solidFill>
              <a:latin typeface="Arial"/>
              <a:ea typeface="Arial"/>
              <a:cs typeface="Arial"/>
              <a:sym typeface="Arial"/>
            </a:endParaRPr>
          </a:p>
        </p:txBody>
      </p:sp>
      <p:pic>
        <p:nvPicPr>
          <p:cNvPr id="343" name="Google Shape;343;p73"/>
          <p:cNvPicPr preferRelativeResize="0"/>
          <p:nvPr/>
        </p:nvPicPr>
        <p:blipFill rotWithShape="1">
          <a:blip r:embed="rId4">
            <a:alphaModFix/>
          </a:blip>
          <a:srcRect b="0" l="0" r="0" t="0"/>
          <a:stretch/>
        </p:blipFill>
        <p:spPr>
          <a:xfrm>
            <a:off x="683419" y="1535721"/>
            <a:ext cx="6764176" cy="327051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LOGO_SENAI_BRANCO.png" id="348" name="Google Shape;348;p74"/>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49" name="Google Shape;349;p74"/>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50" name="Google Shape;350;p74"/>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51" name="Google Shape;351;p74"/>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Padding</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pic>
        <p:nvPicPr>
          <p:cNvPr id="352" name="Google Shape;352;p74"/>
          <p:cNvPicPr preferRelativeResize="0"/>
          <p:nvPr/>
        </p:nvPicPr>
        <p:blipFill rotWithShape="1">
          <a:blip r:embed="rId4">
            <a:alphaModFix/>
          </a:blip>
          <a:srcRect b="0" l="0" r="0" t="0"/>
          <a:stretch/>
        </p:blipFill>
        <p:spPr>
          <a:xfrm>
            <a:off x="129649" y="1072110"/>
            <a:ext cx="8776187" cy="348747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descr="LOGO_SENAI_BRANCO.png" id="357" name="Google Shape;357;p75"/>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58" name="Google Shape;358;p75"/>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59" name="Google Shape;359;p75"/>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60" name="Google Shape;360;p75"/>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61" name="Google Shape;361;p75"/>
          <p:cNvSpPr txBox="1"/>
          <p:nvPr/>
        </p:nvSpPr>
        <p:spPr>
          <a:xfrm>
            <a:off x="395463" y="999460"/>
            <a:ext cx="7695914"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aparência de uma tabela HTML pode ser muito melhorada com CSS:</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Bordas da tabela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Para especificar as bordas da tabela em CSS, use a propriedade border.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O exemplo abaixo especifica uma borda sólida para os elementos &lt;table&gt;, &lt;th&gt; e &lt;td&gt;: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table, th, td {</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border: 1px solid;</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362" name="Google Shape;362;p75"/>
          <p:cNvPicPr preferRelativeResize="0"/>
          <p:nvPr/>
        </p:nvPicPr>
        <p:blipFill rotWithShape="1">
          <a:blip r:embed="rId4">
            <a:alphaModFix/>
          </a:blip>
          <a:srcRect b="0" l="0" r="0" t="0"/>
          <a:stretch/>
        </p:blipFill>
        <p:spPr>
          <a:xfrm>
            <a:off x="3403644" y="3334894"/>
            <a:ext cx="2441969" cy="888434"/>
          </a:xfrm>
          <a:prstGeom prst="rect">
            <a:avLst/>
          </a:prstGeom>
          <a:noFill/>
          <a:ln>
            <a:noFill/>
          </a:ln>
        </p:spPr>
      </p:pic>
      <p:sp>
        <p:nvSpPr>
          <p:cNvPr id="363" name="Google Shape;363;p75"/>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descr="LOGO_SENAI_BRANCO.png" id="364" name="Google Shape;364;p75"/>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descr="LOGO_SENAI_BRANCO.png" id="369" name="Google Shape;369;p76"/>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70" name="Google Shape;370;p76"/>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71" name="Google Shape;371;p76"/>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72" name="Google Shape;372;p76"/>
          <p:cNvSpPr/>
          <p:nvPr/>
        </p:nvSpPr>
        <p:spPr>
          <a:xfrm>
            <a:off x="129649" y="178610"/>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73" name="Google Shape;373;p76"/>
          <p:cNvSpPr txBox="1"/>
          <p:nvPr/>
        </p:nvSpPr>
        <p:spPr>
          <a:xfrm>
            <a:off x="395463" y="948570"/>
            <a:ext cx="6834677" cy="2082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Tabela de largura total</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tabela pode parecer pequena em alguns casos. Se você precisar de uma tabela que deva abranger toda a tela</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(largura total), adicione width: 100% ao elemento &lt;table&gt;: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table {</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width: 100%;</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Fonte</a:t>
            </a:r>
            <a:endParaRPr b="0" i="0" sz="1400" u="none" cap="none" strike="noStrike">
              <a:solidFill>
                <a:srgbClr val="000000"/>
              </a:solidFill>
              <a:latin typeface="Arial"/>
              <a:ea typeface="Arial"/>
              <a:cs typeface="Arial"/>
              <a:sym typeface="Arial"/>
            </a:endParaRPr>
          </a:p>
        </p:txBody>
      </p:sp>
      <p:sp>
        <p:nvSpPr>
          <p:cNvPr id="374" name="Google Shape;374;p76"/>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375" name="Google Shape;375;p76"/>
          <p:cNvPicPr preferRelativeResize="0"/>
          <p:nvPr/>
        </p:nvPicPr>
        <p:blipFill rotWithShape="1">
          <a:blip r:embed="rId4">
            <a:alphaModFix/>
          </a:blip>
          <a:srcRect b="0" l="0" r="0" t="0"/>
          <a:stretch/>
        </p:blipFill>
        <p:spPr>
          <a:xfrm>
            <a:off x="149207" y="3528898"/>
            <a:ext cx="8050507" cy="778031"/>
          </a:xfrm>
          <a:prstGeom prst="rect">
            <a:avLst/>
          </a:prstGeom>
          <a:noFill/>
          <a:ln>
            <a:noFill/>
          </a:ln>
        </p:spPr>
      </p:pic>
      <p:pic>
        <p:nvPicPr>
          <p:cNvPr descr="LOGO_SENAI_BRANCO.png" id="376" name="Google Shape;376;p76"/>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descr="LOGO_SENAI_BRANCO.png" id="381" name="Google Shape;381;p77"/>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82" name="Google Shape;382;p77"/>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83" name="Google Shape;383;p77"/>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84" name="Google Shape;384;p77"/>
          <p:cNvSpPr/>
          <p:nvPr/>
        </p:nvSpPr>
        <p:spPr>
          <a:xfrm>
            <a:off x="395463" y="104888"/>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85" name="Google Shape;385;p77"/>
          <p:cNvSpPr txBox="1"/>
          <p:nvPr/>
        </p:nvSpPr>
        <p:spPr>
          <a:xfrm>
            <a:off x="277308" y="525277"/>
            <a:ext cx="7062801"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Recolher bordas da tabela</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propriedade border-colapse define se as bordas da tabela devem ser recolhidas em uma única borda: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table {</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border-collapse: collapse;</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Se você quiser apenas uma borda ao redor da tabela, especifique apenas a propriedade border para &lt;table&gt;: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table {</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border: 1px solid;</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a:p>
        </p:txBody>
      </p:sp>
      <p:sp>
        <p:nvSpPr>
          <p:cNvPr id="386" name="Google Shape;386;p77"/>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387" name="Google Shape;387;p77"/>
          <p:cNvPicPr preferRelativeResize="0"/>
          <p:nvPr/>
        </p:nvPicPr>
        <p:blipFill rotWithShape="1">
          <a:blip r:embed="rId4">
            <a:alphaModFix/>
          </a:blip>
          <a:srcRect b="0" l="0" r="0" t="0"/>
          <a:stretch/>
        </p:blipFill>
        <p:spPr>
          <a:xfrm>
            <a:off x="167339" y="1446681"/>
            <a:ext cx="6805371" cy="591532"/>
          </a:xfrm>
          <a:prstGeom prst="rect">
            <a:avLst/>
          </a:prstGeom>
          <a:noFill/>
          <a:ln>
            <a:noFill/>
          </a:ln>
        </p:spPr>
      </p:pic>
      <p:pic>
        <p:nvPicPr>
          <p:cNvPr id="388" name="Google Shape;388;p77"/>
          <p:cNvPicPr preferRelativeResize="0"/>
          <p:nvPr/>
        </p:nvPicPr>
        <p:blipFill rotWithShape="1">
          <a:blip r:embed="rId5">
            <a:alphaModFix/>
          </a:blip>
          <a:srcRect b="0" l="0" r="0" t="0"/>
          <a:stretch/>
        </p:blipFill>
        <p:spPr>
          <a:xfrm>
            <a:off x="129649" y="3593805"/>
            <a:ext cx="7270478" cy="615546"/>
          </a:xfrm>
          <a:prstGeom prst="rect">
            <a:avLst/>
          </a:prstGeom>
          <a:noFill/>
          <a:ln>
            <a:noFill/>
          </a:ln>
        </p:spPr>
      </p:pic>
      <p:pic>
        <p:nvPicPr>
          <p:cNvPr descr="LOGO_SENAI_BRANCO.png" id="389" name="Google Shape;389;p77"/>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descr="LOGO_SENAI_BRANCO.png" id="394" name="Google Shape;394;p78"/>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395" name="Google Shape;395;p78"/>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396" name="Google Shape;396;p78"/>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397" name="Google Shape;397;p78"/>
          <p:cNvSpPr/>
          <p:nvPr/>
        </p:nvSpPr>
        <p:spPr>
          <a:xfrm>
            <a:off x="395463" y="104888"/>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398" name="Google Shape;398;p78"/>
          <p:cNvSpPr txBox="1"/>
          <p:nvPr/>
        </p:nvSpPr>
        <p:spPr>
          <a:xfrm>
            <a:off x="277308" y="525277"/>
            <a:ext cx="7062801"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Largura e Altura da Tabela</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largura e a altura de uma tabela são definidas pelas propriedadeswidtheheight. O exemplo abaixo define a largura da tabela para 100% e a altura dos elementos &lt;th&gt; para 70px:</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table{</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width:100%;</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th{</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height:70px;</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r>
              <a:rPr b="0" i="0" lang="pt-BR" sz="1400" u="none" cap="none" strike="noStrike">
                <a:solidFill>
                  <a:srgbClr val="000000"/>
                </a:solidFill>
                <a:latin typeface="Arial"/>
                <a:ea typeface="Arial"/>
                <a:cs typeface="Arial"/>
                <a:sym typeface="Arial"/>
              </a:rPr>
              <a:t> </a:t>
            </a:r>
            <a:endParaRPr b="0" i="0" sz="1400" u="none" cap="none" strike="noStrike">
              <a:solidFill>
                <a:srgbClr val="FF0000"/>
              </a:solidFill>
              <a:latin typeface="Arial"/>
              <a:ea typeface="Arial"/>
              <a:cs typeface="Arial"/>
              <a:sym typeface="Arial"/>
            </a:endParaRPr>
          </a:p>
        </p:txBody>
      </p:sp>
      <p:sp>
        <p:nvSpPr>
          <p:cNvPr id="399" name="Google Shape;399;p78"/>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400" name="Google Shape;400;p78"/>
          <p:cNvPicPr preferRelativeResize="0"/>
          <p:nvPr/>
        </p:nvPicPr>
        <p:blipFill rotWithShape="1">
          <a:blip r:embed="rId4">
            <a:alphaModFix/>
          </a:blip>
          <a:srcRect b="0" l="0" r="0" t="0"/>
          <a:stretch/>
        </p:blipFill>
        <p:spPr>
          <a:xfrm>
            <a:off x="0" y="3402799"/>
            <a:ext cx="7478844" cy="1114409"/>
          </a:xfrm>
          <a:prstGeom prst="rect">
            <a:avLst/>
          </a:prstGeom>
          <a:noFill/>
          <a:ln>
            <a:noFill/>
          </a:ln>
        </p:spPr>
      </p:pic>
      <p:pic>
        <p:nvPicPr>
          <p:cNvPr descr="LOGO_SENAI_BRANCO.png" id="401" name="Google Shape;401;p78"/>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descr="LOGO_SENAI_BRANCO.png" id="406" name="Google Shape;406;p79"/>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407" name="Google Shape;407;p79"/>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408" name="Google Shape;408;p79"/>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409" name="Google Shape;409;p79"/>
          <p:cNvSpPr/>
          <p:nvPr/>
        </p:nvSpPr>
        <p:spPr>
          <a:xfrm>
            <a:off x="395463" y="104888"/>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410" name="Google Shape;410;p79"/>
          <p:cNvSpPr txBox="1"/>
          <p:nvPr/>
        </p:nvSpPr>
        <p:spPr>
          <a:xfrm>
            <a:off x="298573" y="1114486"/>
            <a:ext cx="706280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Para criar uma tabela que deve ocupar a metade da página, use width: 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table{</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width:50%;</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b="0" i="0" sz="1400" u="none" cap="none" strike="noStrike">
              <a:solidFill>
                <a:srgbClr val="FF0000"/>
              </a:solidFill>
              <a:latin typeface="Arial"/>
              <a:ea typeface="Arial"/>
              <a:cs typeface="Arial"/>
              <a:sym typeface="Arial"/>
            </a:endParaRPr>
          </a:p>
        </p:txBody>
      </p:sp>
      <p:sp>
        <p:nvSpPr>
          <p:cNvPr id="411" name="Google Shape;411;p79"/>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412" name="Google Shape;412;p79"/>
          <p:cNvPicPr preferRelativeResize="0"/>
          <p:nvPr/>
        </p:nvPicPr>
        <p:blipFill rotWithShape="1">
          <a:blip r:embed="rId4">
            <a:alphaModFix/>
          </a:blip>
          <a:srcRect b="0" l="0" r="0" t="0"/>
          <a:stretch/>
        </p:blipFill>
        <p:spPr>
          <a:xfrm>
            <a:off x="1283678" y="2571750"/>
            <a:ext cx="4061517" cy="877547"/>
          </a:xfrm>
          <a:prstGeom prst="rect">
            <a:avLst/>
          </a:prstGeom>
          <a:noFill/>
          <a:ln>
            <a:noFill/>
          </a:ln>
        </p:spPr>
      </p:pic>
      <p:pic>
        <p:nvPicPr>
          <p:cNvPr descr="LOGO_SENAI_BRANCO.png" id="413" name="Google Shape;413;p79"/>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descr="LOGO_SENAI_BRANCO.png" id="418" name="Google Shape;418;p80"/>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419" name="Google Shape;419;p80"/>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420" name="Google Shape;420;p80"/>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421" name="Google Shape;421;p80"/>
          <p:cNvSpPr/>
          <p:nvPr/>
        </p:nvSpPr>
        <p:spPr>
          <a:xfrm>
            <a:off x="395463" y="104888"/>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 </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422" name="Google Shape;422;p80"/>
          <p:cNvSpPr txBox="1"/>
          <p:nvPr/>
        </p:nvSpPr>
        <p:spPr>
          <a:xfrm>
            <a:off x="298573" y="1114486"/>
            <a:ext cx="7062801"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Alinhamento horizontal</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propriedade text-align define o alinhamento horizontal (como esquerda, direita ou centro) do conteúdo em &lt;th&gt; ou</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&lt;td&gt;. Por padrão, o conteúdo dos elementos &lt;th&gt; é alinhado ao centro e o conteúdo dos elementos &lt;td&gt; é alinhado à</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esquerda. Para centralizar também o conteúdo dos elementos &lt;td&gt;, use text-align: center:</a:t>
            </a:r>
            <a:endParaRPr/>
          </a:p>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td {</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text-align: center;</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a:p>
        </p:txBody>
      </p:sp>
      <p:sp>
        <p:nvSpPr>
          <p:cNvPr id="423" name="Google Shape;423;p80"/>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424" name="Google Shape;424;p80"/>
          <p:cNvPicPr preferRelativeResize="0"/>
          <p:nvPr/>
        </p:nvPicPr>
        <p:blipFill rotWithShape="1">
          <a:blip r:embed="rId4">
            <a:alphaModFix/>
          </a:blip>
          <a:srcRect b="0" l="0" r="0" t="0"/>
          <a:stretch/>
        </p:blipFill>
        <p:spPr>
          <a:xfrm>
            <a:off x="0" y="3686612"/>
            <a:ext cx="8014244" cy="895641"/>
          </a:xfrm>
          <a:prstGeom prst="rect">
            <a:avLst/>
          </a:prstGeom>
          <a:noFill/>
          <a:ln>
            <a:noFill/>
          </a:ln>
        </p:spPr>
      </p:pic>
      <p:pic>
        <p:nvPicPr>
          <p:cNvPr descr="LOGO_SENAI_BRANCO.png" id="425" name="Google Shape;425;p80"/>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descr="LOGO_SENAI_BRANCO.png" id="430" name="Google Shape;430;p81"/>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431" name="Google Shape;431;p81"/>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432" name="Google Shape;432;p81"/>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433" name="Google Shape;433;p81"/>
          <p:cNvSpPr/>
          <p:nvPr/>
        </p:nvSpPr>
        <p:spPr>
          <a:xfrm>
            <a:off x="395463" y="104888"/>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 </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434" name="Google Shape;434;p81"/>
          <p:cNvSpPr txBox="1"/>
          <p:nvPr/>
        </p:nvSpPr>
        <p:spPr>
          <a:xfrm>
            <a:off x="225342" y="615244"/>
            <a:ext cx="7015430"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Para alinhar o conteúdo à esquerda, force o alinhamento dos elementos &lt;th&gt; a serem alinhados à</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esquerda, com a propriedade text-align: left:</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th {</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text-align: left;</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Alinhamento vertical</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A propriedade vertical-align define o alinhamento vertical (como superior, inferior ou meio) do conteúdo em</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&lt;th&gt; ou &lt;td&gt;. Por padrão, o alinhamento vertical do conteúdo em uma tabela é no meio (para elementos</a:t>
            </a:r>
            <a:endParaRPr/>
          </a:p>
          <a:p>
            <a:pPr indent="0" lvl="0" marL="0" marR="0" rtl="0" algn="l">
              <a:lnSpc>
                <a:spcPct val="100000"/>
              </a:lnSpc>
              <a:spcBef>
                <a:spcPts val="0"/>
              </a:spcBef>
              <a:spcAft>
                <a:spcPts val="0"/>
              </a:spcAft>
              <a:buNone/>
            </a:pPr>
            <a:r>
              <a:rPr b="0" i="0" lang="pt-BR" sz="1400" u="none" cap="none" strike="noStrike">
                <a:solidFill>
                  <a:srgbClr val="000000"/>
                </a:solidFill>
                <a:latin typeface="Arial"/>
                <a:ea typeface="Arial"/>
                <a:cs typeface="Arial"/>
                <a:sym typeface="Arial"/>
              </a:rPr>
              <a:t>&lt;th&gt; e &lt;td&gt;). O exemplo a seguir define o alinhamento vertical do texto para baixo para elementos &lt;td&gt;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Td{</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Height: 50px;</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Vertical-align: bottom;</a:t>
            </a:r>
            <a:endParaRPr/>
          </a:p>
          <a:p>
            <a:pPr indent="0" lvl="0" marL="0" marR="0" rtl="0" algn="l">
              <a:lnSpc>
                <a:spcPct val="100000"/>
              </a:lnSpc>
              <a:spcBef>
                <a:spcPts val="0"/>
              </a:spcBef>
              <a:spcAft>
                <a:spcPts val="0"/>
              </a:spcAft>
              <a:buNone/>
            </a:pPr>
            <a:r>
              <a:rPr b="0" i="0" lang="pt-BR" sz="1400" u="none" cap="none" strike="noStrike">
                <a:solidFill>
                  <a:srgbClr val="FF0000"/>
                </a:solidFill>
                <a:latin typeface="Arial"/>
                <a:ea typeface="Arial"/>
                <a:cs typeface="Arial"/>
                <a:sym typeface="Arial"/>
              </a:rPr>
              <a:t>}</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435" name="Google Shape;435;p81"/>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436" name="Google Shape;436;p81"/>
          <p:cNvPicPr preferRelativeResize="0"/>
          <p:nvPr/>
        </p:nvPicPr>
        <p:blipFill rotWithShape="1">
          <a:blip r:embed="rId4">
            <a:alphaModFix/>
          </a:blip>
          <a:srcRect b="0" l="0" r="0" t="0"/>
          <a:stretch/>
        </p:blipFill>
        <p:spPr>
          <a:xfrm>
            <a:off x="2342407" y="3778633"/>
            <a:ext cx="6467090" cy="110235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descr="LOGO_SENAI_BRANCO.png" id="441" name="Google Shape;441;p82"/>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442" name="Google Shape;442;p82"/>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443" name="Google Shape;443;p82"/>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444" name="Google Shape;444;p82"/>
          <p:cNvSpPr/>
          <p:nvPr/>
        </p:nvSpPr>
        <p:spPr>
          <a:xfrm>
            <a:off x="395463" y="104888"/>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Tabela Css </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445" name="Google Shape;445;p82"/>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446" name="Google Shape;446;p82"/>
          <p:cNvPicPr preferRelativeResize="0"/>
          <p:nvPr/>
        </p:nvPicPr>
        <p:blipFill rotWithShape="1">
          <a:blip r:embed="rId4">
            <a:alphaModFix/>
          </a:blip>
          <a:srcRect b="0" l="0" r="0" t="0"/>
          <a:stretch/>
        </p:blipFill>
        <p:spPr>
          <a:xfrm>
            <a:off x="85387" y="809930"/>
            <a:ext cx="7065431" cy="3708737"/>
          </a:xfrm>
          <a:prstGeom prst="rect">
            <a:avLst/>
          </a:prstGeom>
          <a:noFill/>
          <a:ln>
            <a:noFill/>
          </a:ln>
        </p:spPr>
      </p:pic>
      <p:pic>
        <p:nvPicPr>
          <p:cNvPr descr="LOGO_SENAI_BRANCO.png" id="447" name="Google Shape;447;p82"/>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LOGO_SENAI_BRANCO.png" id="452" name="Google Shape;452;p83"/>
          <p:cNvPicPr preferRelativeResize="0"/>
          <p:nvPr/>
        </p:nvPicPr>
        <p:blipFill rotWithShape="1">
          <a:blip r:embed="rId3">
            <a:alphaModFix/>
          </a:blip>
          <a:srcRect b="0" l="0" r="0" t="0"/>
          <a:stretch/>
        </p:blipFill>
        <p:spPr>
          <a:xfrm>
            <a:off x="7813347" y="4263551"/>
            <a:ext cx="996150" cy="432274"/>
          </a:xfrm>
          <a:prstGeom prst="rect">
            <a:avLst/>
          </a:prstGeom>
          <a:noFill/>
          <a:ln>
            <a:noFill/>
          </a:ln>
        </p:spPr>
      </p:pic>
      <p:sp>
        <p:nvSpPr>
          <p:cNvPr id="453" name="Google Shape;453;p83"/>
          <p:cNvSpPr txBox="1"/>
          <p:nvPr/>
        </p:nvSpPr>
        <p:spPr>
          <a:xfrm>
            <a:off x="503238" y="4683125"/>
            <a:ext cx="360362" cy="12311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fld id="{00000000-1234-1234-1234-123412341234}" type="slidenum">
              <a:rPr b="1" i="0" lang="pt-BR" sz="800" u="none" cap="none" strike="noStrike">
                <a:solidFill>
                  <a:srgbClr val="7F7F7F"/>
                </a:solidFill>
                <a:latin typeface="Trebuchet MS"/>
                <a:ea typeface="Trebuchet MS"/>
                <a:cs typeface="Trebuchet MS"/>
                <a:sym typeface="Trebuchet MS"/>
              </a:rPr>
              <a:t>‹#›</a:t>
            </a:fld>
            <a:endParaRPr b="1" i="0" sz="800" u="none" cap="none" strike="noStrike">
              <a:solidFill>
                <a:srgbClr val="7F7F7F"/>
              </a:solidFill>
              <a:latin typeface="Trebuchet MS"/>
              <a:ea typeface="Trebuchet MS"/>
              <a:cs typeface="Trebuchet MS"/>
              <a:sym typeface="Trebuchet MS"/>
            </a:endParaRPr>
          </a:p>
        </p:txBody>
      </p:sp>
      <p:sp>
        <p:nvSpPr>
          <p:cNvPr id="454" name="Google Shape;454;p83"/>
          <p:cNvSpPr/>
          <p:nvPr/>
        </p:nvSpPr>
        <p:spPr>
          <a:xfrm>
            <a:off x="395463" y="1446681"/>
            <a:ext cx="6377870" cy="273833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hlink"/>
              </a:buClr>
              <a:buSzPts val="2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455" name="Google Shape;455;p83"/>
          <p:cNvSpPr/>
          <p:nvPr/>
        </p:nvSpPr>
        <p:spPr>
          <a:xfrm>
            <a:off x="140281" y="231967"/>
            <a:ext cx="8279552" cy="100959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pt-BR" sz="3600" u="none" cap="none" strike="noStrike">
                <a:solidFill>
                  <a:schemeClr val="dk1"/>
                </a:solidFill>
                <a:latin typeface="Calibri"/>
                <a:ea typeface="Calibri"/>
                <a:cs typeface="Calibri"/>
                <a:sym typeface="Calibri"/>
              </a:rPr>
              <a:t>Vamos Buscar no site de referência  </a:t>
            </a:r>
            <a:endParaRPr b="1" i="0" sz="3600" u="none" cap="none" strike="noStrike">
              <a:solidFill>
                <a:schemeClr val="dk1"/>
              </a:solidFill>
              <a:latin typeface="Calibri"/>
              <a:ea typeface="Calibri"/>
              <a:cs typeface="Calibri"/>
              <a:sym typeface="Calibri"/>
            </a:endParaRPr>
          </a:p>
          <a:p>
            <a:pPr indent="-342900" lvl="0" marL="342900" marR="0" rtl="0" algn="l">
              <a:lnSpc>
                <a:spcPct val="90000"/>
              </a:lnSpc>
              <a:spcBef>
                <a:spcPts val="0"/>
              </a:spcBef>
              <a:spcAft>
                <a:spcPts val="0"/>
              </a:spcAft>
              <a:buNone/>
            </a:pPr>
            <a:r>
              <a:t/>
            </a:r>
            <a:endParaRPr b="1" i="0" sz="4400" u="none" cap="none" strike="noStrike">
              <a:solidFill>
                <a:schemeClr val="dk1"/>
              </a:solidFill>
              <a:latin typeface="Calibri"/>
              <a:ea typeface="Calibri"/>
              <a:cs typeface="Calibri"/>
              <a:sym typeface="Calibri"/>
            </a:endParaRPr>
          </a:p>
        </p:txBody>
      </p:sp>
      <p:sp>
        <p:nvSpPr>
          <p:cNvPr id="456" name="Google Shape;456;p83"/>
          <p:cNvSpPr/>
          <p:nvPr/>
        </p:nvSpPr>
        <p:spPr>
          <a:xfrm>
            <a:off x="7485321" y="0"/>
            <a:ext cx="1658679"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sp>
        <p:nvSpPr>
          <p:cNvPr id="457" name="Google Shape;457;p83"/>
          <p:cNvSpPr txBox="1"/>
          <p:nvPr/>
        </p:nvSpPr>
        <p:spPr>
          <a:xfrm>
            <a:off x="483978" y="1585895"/>
            <a:ext cx="6645349"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Cor texto</a:t>
            </a:r>
            <a:r>
              <a:rPr b="0" i="0" lang="pt-BR"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Fundo </a:t>
            </a:r>
            <a:r>
              <a:rPr b="0" i="0" lang="pt-BR"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Borda</a:t>
            </a:r>
            <a:r>
              <a:rPr b="0" i="0" lang="pt-BR"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Opacidade / Transparência – com RGB </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Imagem de fundo CSS Fundo de repetição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Margens</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Altura e largura</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Fonte</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Link </a:t>
            </a:r>
            <a:endParaRPr/>
          </a:p>
          <a:p>
            <a:pPr indent="0" lvl="0" marL="0" marR="0" rtl="0" algn="l">
              <a:lnSpc>
                <a:spcPct val="100000"/>
              </a:lnSpc>
              <a:spcBef>
                <a:spcPts val="0"/>
              </a:spcBef>
              <a:spcAft>
                <a:spcPts val="0"/>
              </a:spcAft>
              <a:buNone/>
            </a:pPr>
            <a:r>
              <a:rPr b="1" i="0" lang="pt-BR" sz="1400" u="none" cap="none" strike="noStrike">
                <a:solidFill>
                  <a:srgbClr val="000000"/>
                </a:solidFill>
                <a:latin typeface="Arial"/>
                <a:ea typeface="Arial"/>
                <a:cs typeface="Arial"/>
                <a:sym typeface="Arial"/>
              </a:rPr>
              <a:t>Botões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pt-BR" sz="1400" u="sng" cap="none" strike="noStrike">
                <a:solidFill>
                  <a:srgbClr val="000000"/>
                </a:solidFill>
                <a:latin typeface="Arial"/>
                <a:ea typeface="Arial"/>
                <a:cs typeface="Arial"/>
                <a:sym typeface="Arial"/>
                <a:hlinkClick r:id="rId4">
                  <a:extLst>
                    <a:ext uri="{A12FA001-AC4F-418D-AE19-62706E023703}">
                      <ahyp:hlinkClr val="tx"/>
                    </a:ext>
                  </a:extLst>
                </a:hlinkClick>
              </a:rPr>
              <a:t>https://www.w3schools.com/css/css_background.asp </a:t>
            </a:r>
            <a:endParaRPr b="0" i="0" sz="1400" u="none" cap="none" strike="noStrike">
              <a:solidFill>
                <a:srgbClr val="000000"/>
              </a:solidFill>
              <a:latin typeface="Arial"/>
              <a:ea typeface="Arial"/>
              <a:cs typeface="Arial"/>
              <a:sym typeface="Arial"/>
            </a:endParaRPr>
          </a:p>
        </p:txBody>
      </p:sp>
      <p:pic>
        <p:nvPicPr>
          <p:cNvPr descr="LOGO_SENAI_BRANCO.png" id="458" name="Google Shape;458;p83"/>
          <p:cNvPicPr preferRelativeResize="0"/>
          <p:nvPr/>
        </p:nvPicPr>
        <p:blipFill rotWithShape="1">
          <a:blip r:embed="rId3">
            <a:alphaModFix/>
          </a:blip>
          <a:srcRect b="0" l="0" r="0" t="0"/>
          <a:stretch/>
        </p:blipFill>
        <p:spPr>
          <a:xfrm>
            <a:off x="7965747" y="4415951"/>
            <a:ext cx="996150" cy="43227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4"/>
          <p:cNvSpPr/>
          <p:nvPr/>
        </p:nvSpPr>
        <p:spPr>
          <a:xfrm>
            <a:off x="0" y="1"/>
            <a:ext cx="9144000" cy="5143500"/>
          </a:xfrm>
          <a:prstGeom prst="rect">
            <a:avLst/>
          </a:prstGeom>
          <a:solidFill>
            <a:srgbClr val="91C6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591"/>
              <a:buFont typeface="Arial"/>
              <a:buNone/>
            </a:pPr>
            <a:r>
              <a:t/>
            </a:r>
            <a:endParaRPr b="0" i="0" sz="1591" u="none" cap="none" strike="noStrike">
              <a:solidFill>
                <a:schemeClr val="lt1"/>
              </a:solidFill>
              <a:latin typeface="Calibri"/>
              <a:ea typeface="Calibri"/>
              <a:cs typeface="Calibri"/>
              <a:sym typeface="Calibri"/>
            </a:endParaRPr>
          </a:p>
        </p:txBody>
      </p:sp>
      <p:pic>
        <p:nvPicPr>
          <p:cNvPr id="464" name="Google Shape;464;p24"/>
          <p:cNvPicPr preferRelativeResize="0"/>
          <p:nvPr/>
        </p:nvPicPr>
        <p:blipFill rotWithShape="1">
          <a:blip r:embed="rId3">
            <a:alphaModFix/>
          </a:blip>
          <a:srcRect b="0" l="0" r="0" t="0"/>
          <a:stretch/>
        </p:blipFill>
        <p:spPr>
          <a:xfrm>
            <a:off x="3925887" y="2222500"/>
            <a:ext cx="1292225" cy="698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apa Apresentação">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2001-01-01T00:07:34Z</dcterms:created>
  <dc:creator>Andre Bombonatti de Castro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0x010100EBAB0E73CB486647868BE83E4904EB35</vt:lpwstr>
  </property>
</Properties>
</file>