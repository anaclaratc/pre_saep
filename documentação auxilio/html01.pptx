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6858000" cy="9144000"/>
  <p:embeddedFontLst>
    <p:embeddedFont>
      <p:font typeface="Inter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gFHCU49rn8+1DPGqXpF7KiLxhx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Inter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Inter-italic.fntdata"/><Relationship Id="rId12" Type="http://schemas.openxmlformats.org/officeDocument/2006/relationships/slide" Target="slides/slide7.xml"/><Relationship Id="rId34" Type="http://schemas.openxmlformats.org/officeDocument/2006/relationships/font" Target="fonts/Inter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Inter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3994211" y="1748591"/>
            <a:ext cx="7772400" cy="17464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pt-BR">
                <a:solidFill>
                  <a:schemeClr val="lt1"/>
                </a:solidFill>
              </a:rPr>
              <a:t>Desenvolvedor </a:t>
            </a:r>
            <a:br>
              <a:rPr lang="pt-BR">
                <a:solidFill>
                  <a:schemeClr val="lt1"/>
                </a:solidFill>
              </a:rPr>
            </a:br>
            <a:r>
              <a:rPr lang="pt-BR">
                <a:solidFill>
                  <a:schemeClr val="lt1"/>
                </a:solidFill>
              </a:rPr>
              <a:t>Front-End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9" name="Google Shape;89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12/11/2024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9139328" y="3741939"/>
            <a:ext cx="208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Joice Caroline</a:t>
            </a:r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1192577"/>
            <a:ext cx="2984558" cy="23024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SENAI_BRANCO.png" id="92" name="Google Shape;9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1936" y="5594033"/>
            <a:ext cx="1592128" cy="69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>
            <p:ph type="title"/>
          </p:nvPr>
        </p:nvSpPr>
        <p:spPr>
          <a:xfrm>
            <a:off x="592889" y="1209821"/>
            <a:ext cx="10760911" cy="888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Front-End</a:t>
            </a:r>
            <a:endParaRPr/>
          </a:p>
        </p:txBody>
      </p:sp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592889" y="2883877"/>
            <a:ext cx="9803136" cy="30049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Instrutora: Joice Caroline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Joice.pinto@docente.senai.br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1" name="Google Shape;101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/>
          <p:nvPr>
            <p:ph type="title"/>
          </p:nvPr>
        </p:nvSpPr>
        <p:spPr>
          <a:xfrm>
            <a:off x="340125" y="1481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3366"/>
              </a:buClr>
              <a:buSzPts val="4400"/>
              <a:buFont typeface="Inter"/>
              <a:buNone/>
            </a:pPr>
            <a:r>
              <a:rPr b="1" lang="pt-BR">
                <a:solidFill>
                  <a:srgbClr val="093366"/>
                </a:solidFill>
                <a:latin typeface="Inter"/>
                <a:ea typeface="Inter"/>
                <a:cs typeface="Inter"/>
                <a:sym typeface="Inter"/>
              </a:rPr>
              <a:t>Começo de tudo-internet:</a:t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503075" y="2433711"/>
            <a:ext cx="9479125" cy="3832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A verdadeira origem da Internet é com a ARPANet (Rede de Agencias de Projetos de Pesquisa Avançada ou Rede da Agência de Projetos de Pesquisa Avançada dos Estados Unidos). No ano de seu nascimento, em 1969, quando nasceu a ARPANET, surgiu </a:t>
            </a:r>
            <a:r>
              <a:rPr b="1" lang="pt-BR" sz="1800"/>
              <a:t>a primeira conexão entre os computadores da Stanford e da UCLA. 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• Dois anos depois, o </a:t>
            </a:r>
            <a:r>
              <a:rPr b="1" lang="pt-BR" sz="1800"/>
              <a:t>primeiro e-mail foi enviado por Ray Tomlinson</a:t>
            </a:r>
            <a:r>
              <a:rPr lang="pt-BR" sz="1800"/>
              <a:t>. Naquele ano, também aparece o primeiro vírus Creeper. No início dos anos 70, nasceu a palavra Internet, que era aplicada ao sistema de redes interconectadas por meio dos protocolos TCP e IP (Transmission Control Protocol / Internet Protocol) nos quais eles baseavam serviços de Internet e e-mails. 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• Isso tudo até 1990, quando Tim Berners-Lee, conhecido como o pai da web, cria a linguagem HTML. A equipe do cientista criou o primeiro cliente web.</a:t>
            </a:r>
            <a:endParaRPr b="1" sz="1400"/>
          </a:p>
        </p:txBody>
      </p:sp>
      <p:sp>
        <p:nvSpPr>
          <p:cNvPr id="111" name="Google Shape;111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2" name="Google Shape;11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 txBox="1"/>
          <p:nvPr>
            <p:ph type="title"/>
          </p:nvPr>
        </p:nvSpPr>
        <p:spPr>
          <a:xfrm>
            <a:off x="340125" y="232603"/>
            <a:ext cx="10515600" cy="1068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3366"/>
              </a:buClr>
              <a:buSzPts val="4400"/>
              <a:buFont typeface="Inter"/>
              <a:buNone/>
            </a:pPr>
            <a:r>
              <a:rPr b="1" lang="pt-BR">
                <a:solidFill>
                  <a:srgbClr val="093366"/>
                </a:solidFill>
                <a:latin typeface="Inter"/>
                <a:ea typeface="Inter"/>
                <a:cs typeface="Inter"/>
                <a:sym typeface="Inter"/>
              </a:rPr>
              <a:t>ARPANET</a:t>
            </a:r>
            <a:endParaRPr b="1" i="0">
              <a:solidFill>
                <a:srgbClr val="0933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492386" y="2282060"/>
            <a:ext cx="10040935" cy="3148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A ARPANET foi uma das primeiras redes da história da internet atual. Após a demonstração de que a ARPANET trabalhava com 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comutação de pacotes, o General Post Office, a Telenet, a DATAPAC e a TRANSPAC trabalharam em colaboração para a criação da primeira rede de computador em serviço.</a:t>
            </a:r>
            <a:endParaRPr b="1" sz="1600"/>
          </a:p>
        </p:txBody>
      </p:sp>
      <p:sp>
        <p:nvSpPr>
          <p:cNvPr id="121" name="Google Shape;12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" name="Google Shape;12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351692" y="520505"/>
            <a:ext cx="10163907" cy="5275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3366"/>
              </a:buClr>
              <a:buSzPts val="4400"/>
              <a:buNone/>
            </a:pPr>
            <a:r>
              <a:rPr b="1" lang="pt-BR" sz="4400">
                <a:solidFill>
                  <a:srgbClr val="093366"/>
                </a:solidFill>
                <a:latin typeface="Inter"/>
                <a:ea typeface="Inter"/>
                <a:cs typeface="Inter"/>
                <a:sym typeface="Inter"/>
              </a:rPr>
              <a:t>Funcionamento –Internet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A internet é, portanto, uma rede de redes compartilhadas. O acesso à internet de modo externo se dá quando a sua rede local se conecta a outra rede maior, no caso, o seu provedor de internet, por meio da tecnologia TCP/IP, um modo de comunicação baseado no endereço de IP (Internet Protocol). Este IP é o endereço de cada um dos pontos de uma rede, e cada ponto da rede consiste em um computador que, por sua vez, se interliga a outros computadores, formando o que se chama de “teia de redes”.</a:t>
            </a:r>
            <a:endParaRPr/>
          </a:p>
        </p:txBody>
      </p:sp>
      <p:sp>
        <p:nvSpPr>
          <p:cNvPr id="130" name="Google Shape;13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1" name="Google Shape;13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393575" y="570675"/>
            <a:ext cx="9799500" cy="55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3366"/>
              </a:buClr>
              <a:buSzPct val="100000"/>
              <a:buNone/>
            </a:pPr>
            <a:r>
              <a:rPr b="1" lang="pt-BR" sz="4400">
                <a:solidFill>
                  <a:srgbClr val="093366"/>
                </a:solidFill>
                <a:latin typeface="Inter"/>
                <a:ea typeface="Inter"/>
                <a:cs typeface="Inter"/>
                <a:sym typeface="Inter"/>
              </a:rPr>
              <a:t>Servidores</a:t>
            </a:r>
            <a:endParaRPr b="1" sz="4400">
              <a:solidFill>
                <a:srgbClr val="09336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Os Servidores Web são basicamente </a:t>
            </a:r>
            <a:r>
              <a:rPr b="1" lang="pt-BR"/>
              <a:t>programas de computador simples que entregam a página web solicitada sob demanda do cliente </a:t>
            </a:r>
            <a:r>
              <a:rPr lang="pt-BR"/>
              <a:t>da Web. As máquinas nas quais este programa é executado são geralmente chamadas de servidores, com os nomes servidor da web e servidor sendo usados quase que alternadamente.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• Geralmente, quando você pensa em Servidor Web, muitas pessoas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pensam em computadores muito poderosos, o que é às vezes correto, pois alguns computadores muito poderosos também são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chamados de servidores web.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• Mas esses computadores são construídos com o único propósito de hospedar muitos sites (falamos de hospedagem compartilhada).</a:t>
            </a:r>
            <a:endParaRPr/>
          </a:p>
        </p:txBody>
      </p:sp>
      <p:sp>
        <p:nvSpPr>
          <p:cNvPr id="139" name="Google Shape;13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0" name="Google Shape;14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146" name="Google Shape;1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 txBox="1"/>
          <p:nvPr>
            <p:ph idx="1" type="body"/>
          </p:nvPr>
        </p:nvSpPr>
        <p:spPr>
          <a:xfrm>
            <a:off x="351692" y="520505"/>
            <a:ext cx="10163907" cy="5275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3366"/>
              </a:buClr>
              <a:buSzPts val="4100"/>
              <a:buNone/>
            </a:pPr>
            <a:r>
              <a:rPr b="1" lang="pt-BR" sz="4100">
                <a:solidFill>
                  <a:srgbClr val="093366"/>
                </a:solidFill>
                <a:latin typeface="Inter"/>
                <a:ea typeface="Inter"/>
                <a:cs typeface="Inter"/>
                <a:sym typeface="Inter"/>
              </a:rPr>
              <a:t>Domínio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• Entender o que é domínio é muito simples. Basicamente, é o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endereço que você digita na barra do navegador para entrar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em um site. É como se fosse o endereço de sua casa digital, e,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por este motivo, precisa ser único.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• O domínio da meusenai Brasil, por exemplo, é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https://meusenai.senai.br/, e quando os usuários desejam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entrar em nossa página, podem digitar essa sequência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diretamente na barra de endereço do navegador.</a:t>
            </a:r>
            <a:endParaRPr/>
          </a:p>
        </p:txBody>
      </p:sp>
      <p:sp>
        <p:nvSpPr>
          <p:cNvPr id="148" name="Google Shape;14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" name="Google Shape;1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155" name="Google Shape;1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" name="Google Shape;15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464234" y="1983545"/>
            <a:ext cx="985559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serviços de hospedagem de sites permitem que você publique um site na internet. São as provedoras de hospedagem que armazenam os dados do seu site nos servidores delas e enviam essas informações para os navegadores dos seus usuários quando eles digitam o domínio do seu site na barra de endereço.</a:t>
            </a:r>
            <a:endParaRPr sz="40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604911" y="416208"/>
            <a:ext cx="8679766" cy="72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100">
                <a:solidFill>
                  <a:srgbClr val="093366"/>
                </a:solidFill>
                <a:latin typeface="Inter"/>
                <a:ea typeface="Inter"/>
                <a:cs typeface="Inter"/>
                <a:sym typeface="Inter"/>
              </a:rPr>
              <a:t>Hospedagem</a:t>
            </a:r>
            <a:endParaRPr b="1" sz="4100">
              <a:solidFill>
                <a:srgbClr val="09336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165" name="Google Shape;1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 txBox="1"/>
          <p:nvPr>
            <p:ph type="title"/>
          </p:nvPr>
        </p:nvSpPr>
        <p:spPr>
          <a:xfrm>
            <a:off x="438616" y="369128"/>
            <a:ext cx="10515600" cy="1068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3366"/>
              </a:buClr>
              <a:buSzPts val="4100"/>
              <a:buFont typeface="Inter"/>
              <a:buNone/>
            </a:pPr>
            <a:r>
              <a:rPr b="1" lang="pt-BR" sz="4100">
                <a:solidFill>
                  <a:srgbClr val="093366"/>
                </a:solidFill>
                <a:latin typeface="Inter"/>
                <a:ea typeface="Inter"/>
                <a:cs typeface="Inter"/>
                <a:sym typeface="Inter"/>
              </a:rPr>
              <a:t>Linguagem de marcação</a:t>
            </a:r>
            <a:endParaRPr/>
          </a:p>
        </p:txBody>
      </p:sp>
      <p:sp>
        <p:nvSpPr>
          <p:cNvPr id="167" name="Google Shape;167;p10"/>
          <p:cNvSpPr txBox="1"/>
          <p:nvPr>
            <p:ph idx="1" type="body"/>
          </p:nvPr>
        </p:nvSpPr>
        <p:spPr>
          <a:xfrm>
            <a:off x="492386" y="1437999"/>
            <a:ext cx="10040935" cy="4738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As linguagens de marcação são um conjunto de instruções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utilizadas para formatar e organizar o conteúdo de documentos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digitais. Elas fornecem uma estrutura que permite a marcação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de elementos específicos no texto, indicando sua função,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significado ou estilo. Essa marcação é geralmente feita por meio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de tags, que são elementos especiais envoltos por caracteres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especiais, como “</a:t>
            </a:r>
            <a:r>
              <a:rPr b="1" lang="pt-BR"/>
              <a:t>&lt;</a:t>
            </a:r>
            <a:r>
              <a:rPr lang="pt-BR"/>
              <a:t>” e “</a:t>
            </a:r>
            <a:r>
              <a:rPr b="1" lang="pt-BR"/>
              <a:t>&gt;</a:t>
            </a:r>
            <a:r>
              <a:rPr lang="pt-BR"/>
              <a:t>“.</a:t>
            </a:r>
            <a:endParaRPr b="1" sz="1600"/>
          </a:p>
        </p:txBody>
      </p:sp>
      <p:sp>
        <p:nvSpPr>
          <p:cNvPr id="168" name="Google Shape;16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" name="Google Shape;16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175" name="Google Shape;17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1"/>
          <p:cNvSpPr txBox="1"/>
          <p:nvPr>
            <p:ph type="title"/>
          </p:nvPr>
        </p:nvSpPr>
        <p:spPr>
          <a:xfrm>
            <a:off x="438616" y="369128"/>
            <a:ext cx="10515600" cy="1068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3366"/>
              </a:buClr>
              <a:buSzPts val="4100"/>
              <a:buFont typeface="Inter"/>
              <a:buNone/>
            </a:pPr>
            <a:r>
              <a:rPr b="1" lang="pt-BR" sz="4100">
                <a:solidFill>
                  <a:srgbClr val="093366"/>
                </a:solidFill>
                <a:latin typeface="Inter"/>
                <a:ea typeface="Inter"/>
                <a:cs typeface="Inter"/>
                <a:sym typeface="Inter"/>
              </a:rPr>
              <a:t>html</a:t>
            </a:r>
            <a:endParaRPr b="1" sz="4100">
              <a:solidFill>
                <a:srgbClr val="0933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" name="Google Shape;177;p11"/>
          <p:cNvSpPr txBox="1"/>
          <p:nvPr>
            <p:ph idx="1" type="body"/>
          </p:nvPr>
        </p:nvSpPr>
        <p:spPr>
          <a:xfrm>
            <a:off x="492386" y="2363371"/>
            <a:ext cx="10040935" cy="3813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 sz="2000"/>
              <a:t>O HTML é uma das linguagens de marcação mais conhecidas e amplamente utilizadas. Ela é usada para criar e estruturar páginas da web, permitindo a formatação de texto, inserção de imagens, criação de links e outros elementos interativos. O HTML utiliza tags para definir a estrutura e o significado de cada elemento presente em uma página. 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 sz="2000"/>
              <a:t>O HTML evoluiu ao longo dos anos e atualmente está na versão </a:t>
            </a:r>
            <a:r>
              <a:rPr b="1" lang="pt-BR" sz="2000"/>
              <a:t>HTML5</a:t>
            </a:r>
            <a:r>
              <a:rPr lang="pt-BR" sz="2000"/>
              <a:t>. Essa versão trouxe muitas melhorias e recursos avançados, tornando-o ainda mais poderoso e flexível para o desenvolvimento web. O HTML5 suporta elementos multimídia, formulários avançados, gráficos vetoriais, geolocalização e muito mais. </a:t>
            </a:r>
            <a:endParaRPr b="1" sz="1200"/>
          </a:p>
        </p:txBody>
      </p:sp>
      <p:sp>
        <p:nvSpPr>
          <p:cNvPr id="178" name="Google Shape;17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" name="Google Shape;17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185" name="Google Shape;1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2"/>
          <p:cNvSpPr txBox="1"/>
          <p:nvPr>
            <p:ph type="title"/>
          </p:nvPr>
        </p:nvSpPr>
        <p:spPr>
          <a:xfrm>
            <a:off x="438616" y="369128"/>
            <a:ext cx="10515600" cy="1068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3366"/>
              </a:buClr>
              <a:buSzPts val="4100"/>
              <a:buFont typeface="Inter"/>
              <a:buNone/>
            </a:pPr>
            <a:r>
              <a:rPr b="1" lang="pt-BR" sz="4100">
                <a:solidFill>
                  <a:srgbClr val="093366"/>
                </a:solidFill>
                <a:latin typeface="Inter"/>
                <a:ea typeface="Inter"/>
                <a:cs typeface="Inter"/>
                <a:sym typeface="Inter"/>
              </a:rPr>
              <a:t>html</a:t>
            </a:r>
            <a:endParaRPr b="1" sz="4100">
              <a:solidFill>
                <a:srgbClr val="0933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12"/>
          <p:cNvSpPr txBox="1"/>
          <p:nvPr>
            <p:ph idx="1" type="body"/>
          </p:nvPr>
        </p:nvSpPr>
        <p:spPr>
          <a:xfrm>
            <a:off x="492387" y="1437999"/>
            <a:ext cx="9664488" cy="3724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/>
              <a:t>Estrutura de uma página em HTML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/>
              <a:t>A tag &lt;html&gt;</a:t>
            </a:r>
            <a:r>
              <a:rPr lang="pt-BR"/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Na estrutura do nosso documento, antes de começar a colocar o conteúdo, inserimos uma tag &lt;html&gt; Dentro dessa tag, é necessário declarar outras duas tags: &lt;head&gt; e &lt;body&gt; Essas duas tags são "irmãs", pois estão no mesmo nível hierárquico em relação à sua tag "mãe", que é &lt;html&gt;</a:t>
            </a:r>
            <a:endParaRPr b="1" sz="1600"/>
          </a:p>
        </p:txBody>
      </p:sp>
      <p:sp>
        <p:nvSpPr>
          <p:cNvPr id="188" name="Google Shape;18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" name="Google Shape;18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195" name="Google Shape;1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3"/>
          <p:cNvSpPr txBox="1"/>
          <p:nvPr>
            <p:ph type="title"/>
          </p:nvPr>
        </p:nvSpPr>
        <p:spPr>
          <a:xfrm>
            <a:off x="438616" y="369128"/>
            <a:ext cx="10515600" cy="1068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3366"/>
              </a:buClr>
              <a:buSzPts val="4100"/>
              <a:buFont typeface="Inter"/>
              <a:buNone/>
            </a:pPr>
            <a:r>
              <a:rPr b="1" lang="pt-BR" sz="4100">
                <a:solidFill>
                  <a:srgbClr val="093366"/>
                </a:solidFill>
                <a:latin typeface="Inter"/>
                <a:ea typeface="Inter"/>
                <a:cs typeface="Inter"/>
                <a:sym typeface="Inter"/>
              </a:rPr>
              <a:t>html</a:t>
            </a:r>
            <a:endParaRPr b="1" sz="4100">
              <a:solidFill>
                <a:srgbClr val="0933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8" name="Google Shape;19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199" name="Google Shape;19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017" y="2071749"/>
            <a:ext cx="8899943" cy="327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205" name="Google Shape;2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4"/>
          <p:cNvSpPr txBox="1"/>
          <p:nvPr>
            <p:ph type="title"/>
          </p:nvPr>
        </p:nvSpPr>
        <p:spPr>
          <a:xfrm>
            <a:off x="438616" y="284722"/>
            <a:ext cx="10515600" cy="1068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3366"/>
              </a:buClr>
              <a:buSzPts val="4100"/>
              <a:buFont typeface="Inter"/>
              <a:buNone/>
            </a:pPr>
            <a:r>
              <a:rPr b="1" lang="pt-BR" sz="4100">
                <a:solidFill>
                  <a:srgbClr val="093366"/>
                </a:solidFill>
                <a:latin typeface="Inter"/>
                <a:ea typeface="Inter"/>
                <a:cs typeface="Inter"/>
                <a:sym typeface="Inter"/>
              </a:rPr>
              <a:t>A tag &lt;head&gt; </a:t>
            </a:r>
            <a:endParaRPr/>
          </a:p>
        </p:txBody>
      </p:sp>
      <p:sp>
        <p:nvSpPr>
          <p:cNvPr id="207" name="Google Shape;207;p14"/>
          <p:cNvSpPr txBox="1"/>
          <p:nvPr>
            <p:ph idx="1" type="body"/>
          </p:nvPr>
        </p:nvSpPr>
        <p:spPr>
          <a:xfrm>
            <a:off x="348906" y="1296875"/>
            <a:ext cx="10023213" cy="4918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A tag &lt;head&gt; contém informações sobre o documento HTML que são de interesse somente do  navegador e para outros serviços da web, e não para as pessoas que vão acessar nosso site. São informações que não serão exibidas diretamente no navegador, também podemos considerar um local onde informamos os metadados sobre a página. A especificação do HTML obriga a presença da tag de conteúdo &lt;title&gt; dentro da &lt;head&gt;, permitindo definir o título do documento, que poder ser visto na barra de título ou aba da janela do navegador. Caso contrário, a página não será um documento HTML válido. 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Outra configuração muito importante, principalmente em documentos HTML cujo conteúdo é escrito em um idioma como o português, que contém caracteres "especiais" (acentos e cedilha), é a codificação/conjunto de caracteres, chamada de encoding ou charset.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Podemos configurar qual codificação queremos utilizar em nosso documento por meio da configuração de charset na tag &lt;meta&gt;. Um dos valores mais comuns usados hoje em dia é o UTF-8, também chamado de Unicode. Há outras possibilidades, como o latin1, muito usado antigamente. </a:t>
            </a:r>
            <a:endParaRPr sz="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O UTF-8 é a recomendação atual para encoding na Web por ser amplamente suportada em navegadores e editores de código, além de ser compatível com praticamente todos os idiomas do </a:t>
            </a:r>
            <a:endParaRPr sz="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mundo. É o que usaremos no curso.</a:t>
            </a:r>
            <a:endParaRPr b="1" sz="900"/>
          </a:p>
        </p:txBody>
      </p:sp>
      <p:sp>
        <p:nvSpPr>
          <p:cNvPr id="208" name="Google Shape;20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9" name="Google Shape;20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215" name="Google Shape;2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5"/>
          <p:cNvSpPr txBox="1"/>
          <p:nvPr>
            <p:ph type="title"/>
          </p:nvPr>
        </p:nvSpPr>
        <p:spPr>
          <a:xfrm>
            <a:off x="438616" y="284722"/>
            <a:ext cx="10515600" cy="1068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3366"/>
              </a:buClr>
              <a:buSzPts val="4100"/>
              <a:buFont typeface="Inter"/>
              <a:buNone/>
            </a:pPr>
            <a:r>
              <a:rPr b="1" lang="pt-BR" sz="4100">
                <a:solidFill>
                  <a:srgbClr val="093366"/>
                </a:solidFill>
                <a:latin typeface="Inter"/>
                <a:ea typeface="Inter"/>
                <a:cs typeface="Inter"/>
                <a:sym typeface="Inter"/>
              </a:rPr>
              <a:t>A tag &lt;head&gt; </a:t>
            </a:r>
            <a:endParaRPr/>
          </a:p>
        </p:txBody>
      </p:sp>
      <p:sp>
        <p:nvSpPr>
          <p:cNvPr id="217" name="Google Shape;21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219" name="Google Shape;2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8818" y="1896143"/>
            <a:ext cx="4447619" cy="3161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225" name="Google Shape;2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6"/>
          <p:cNvSpPr txBox="1"/>
          <p:nvPr>
            <p:ph type="title"/>
          </p:nvPr>
        </p:nvSpPr>
        <p:spPr>
          <a:xfrm>
            <a:off x="438616" y="284722"/>
            <a:ext cx="10515600" cy="1068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3366"/>
              </a:buClr>
              <a:buSzPts val="4100"/>
              <a:buFont typeface="Inter"/>
              <a:buNone/>
            </a:pPr>
            <a:r>
              <a:rPr b="1" lang="pt-BR" sz="4100">
                <a:solidFill>
                  <a:srgbClr val="093366"/>
                </a:solidFill>
                <a:latin typeface="Inter"/>
                <a:ea typeface="Inter"/>
                <a:cs typeface="Inter"/>
                <a:sym typeface="Inter"/>
              </a:rPr>
              <a:t>A tag &lt;body&gt; </a:t>
            </a:r>
            <a:endParaRPr b="1" sz="4100">
              <a:solidFill>
                <a:srgbClr val="0933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16"/>
          <p:cNvSpPr txBox="1"/>
          <p:nvPr>
            <p:ph idx="1" type="body"/>
          </p:nvPr>
        </p:nvSpPr>
        <p:spPr>
          <a:xfrm>
            <a:off x="510108" y="2493452"/>
            <a:ext cx="10023213" cy="2515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A tag &lt;body&gt; contém o corpo de um documento HTML, que é 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exibido pelo navegador em sua janela, ou seja, todo o conteúdo 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visível do site. É necessário que o &lt;body&gt; tenha ao menos um 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elemento "filho", ou seja, uma ou mais tags HTML dentro dele.</a:t>
            </a:r>
            <a:endParaRPr b="1" sz="900"/>
          </a:p>
        </p:txBody>
      </p:sp>
      <p:sp>
        <p:nvSpPr>
          <p:cNvPr id="228" name="Google Shape;22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9" name="Google Shape;22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235" name="Google Shape;2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7"/>
          <p:cNvSpPr txBox="1"/>
          <p:nvPr>
            <p:ph type="title"/>
          </p:nvPr>
        </p:nvSpPr>
        <p:spPr>
          <a:xfrm>
            <a:off x="838200" y="819117"/>
            <a:ext cx="10515600" cy="1068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3366"/>
              </a:buClr>
              <a:buSzPts val="4100"/>
              <a:buFont typeface="Inter"/>
              <a:buNone/>
            </a:pPr>
            <a:r>
              <a:rPr b="1" lang="pt-BR" sz="4100">
                <a:solidFill>
                  <a:srgbClr val="093366"/>
                </a:solidFill>
                <a:latin typeface="Inter"/>
                <a:ea typeface="Inter"/>
                <a:cs typeface="Inter"/>
                <a:sym typeface="Inter"/>
              </a:rPr>
              <a:t>A instrução DOCTYPE</a:t>
            </a:r>
            <a:endParaRPr b="1" sz="4100">
              <a:solidFill>
                <a:srgbClr val="0933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Google Shape;23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8" name="Google Shape;23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697523" y="2336602"/>
            <a:ext cx="903732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DOCTYPE não é uma tag HTML, mas uma instrução especial. Ela indica para o navegador qual versão do HTML deve ser utilizada para exibir a página. Quando não colocamos essa instrução a página é exibida numa espécie de "modo de compatibilidade" na qual algumas tags e estilizações não funcionam 100% corretamente. Principalmente as tags e estilizações mais atuais (lançadas na versão 5 do HTML). Inclusive é possível ver a diferença na folha de estilos padrão que o navegador usa quando não colocamos essa instrução. Utilizaremos &lt;!DOCTYPE html&gt;, que indica para o navegador a utilização da versão mais recente do HTML - a versão 5 &lt;!DOCTYPE html&gt;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245" name="Google Shape;2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8"/>
          <p:cNvSpPr txBox="1"/>
          <p:nvPr>
            <p:ph type="title"/>
          </p:nvPr>
        </p:nvSpPr>
        <p:spPr>
          <a:xfrm>
            <a:off x="838200" y="819117"/>
            <a:ext cx="10515600" cy="1068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3366"/>
              </a:buClr>
              <a:buSzPts val="4100"/>
              <a:buFont typeface="Inter"/>
              <a:buNone/>
            </a:pPr>
            <a:r>
              <a:rPr b="1" lang="pt-BR" sz="4100">
                <a:solidFill>
                  <a:srgbClr val="093366"/>
                </a:solidFill>
                <a:latin typeface="Inter"/>
                <a:ea typeface="Inter"/>
                <a:cs typeface="Inter"/>
                <a:sym typeface="Inter"/>
              </a:rPr>
              <a:t>tags</a:t>
            </a:r>
            <a:endParaRPr b="1" sz="4100">
              <a:solidFill>
                <a:srgbClr val="0933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7" name="Google Shape;24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8" name="Google Shape;24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697523" y="2336602"/>
            <a:ext cx="903732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código HTML é uma série de elementos em árvore onde alguns elementos são filhos de outros e assim por diante. O elemento principal dessa grande árvore é sempre a tag HTML.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 lang=”pt-br”&gt;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atributo LANG é necessário para que os user-agents saibam qual a linguagem principal do documento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255" name="Google Shape;2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7" name="Google Shape;25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422031" y="2067376"/>
            <a:ext cx="9945858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 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Tag HEAD é onde fica toda a parte inteligente da página. No HEAD ficam os metadados. Metadados são informações sobre a página e o conteúdo ali publicado. Metatag Charset No nosso exemplo há uma metatag responsável por chavear qual tabela de caractéres a página está utilizando.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&lt;meta charset=”utf-8”&gt;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Nas versões anteriores ao HTML5, essa tag era escrita da forma abaixo: &lt;meta http-equiv=”Content-Type” content=”text/html; charset=utf- 8”&gt;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264" name="Google Shape;26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6" name="Google Shape;26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450166" y="1280160"/>
            <a:ext cx="9523828" cy="3910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Parágrafo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linguagem HTML não reconhece os caracteres de quebra de linha dos editores de texto e, mesmo que exista uma linha em branco no código fonte, os clientes Web só reconhecem o início de um novo parágrafo mediante à marcação apropriada. A marcação é utilizada para definir o início de um novo parágrafo, deixando uma linha em branco entre este e o texto anterior. O parâmetro ALIGN define o alinhamento do texto do parágrafo e pode assumir os valores `left', `right', `center' e `justify', correspondendo respectivamente aos alinhamentos à esquerda, à direita, ao centro e justicado. Se o parâmetro ALIGN não for especificado, por padrão o parágrafo será alinhado à esquerda. Sintaxe básica: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273" name="Google Shape;2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5" name="Google Shape;27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450166" y="1280160"/>
            <a:ext cx="9523828" cy="3910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&lt;BR&gt; Pula linha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&lt;HR&gt; Linha Horizontal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Sintaxe básica: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Sintaxe completa: &lt;HR SIZE= número WIDTH= número &gt;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ALIGN=left | center | right COLOR=cor &gt;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&lt;HR ALIGN=center WIDTH=75% SIZE=15 COLOR=blue&gt;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282" name="Google Shape;28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4" name="Google Shape;28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450166" y="1280160"/>
            <a:ext cx="9523828" cy="3910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principais comandos de estilo de texto são: </a:t>
            </a:r>
            <a:endParaRPr b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Negrito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Aplica o estilo negrito. Sintaxe: &lt;B&gt; texto &lt;/B&gt;;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Itálico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Aplica o estilo itálico. Sintaxe: &lt;I&gt; texto &lt;/I&gt;;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Sublinhado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Aplica o estilo sublinhado. Sintaxe: &lt;U&gt; texto &lt;/U&gt;;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Similar ao negrito. Sintaxe: &lt;STRONG&gt; texto &lt;/STRONG&gt;;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Aumenta a fonte e aplica o estilo negrito. Sintaxe: &lt;BIG&gt; texto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&lt;/BIG&gt;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Reduz a fonte. Sintaxe: &lt;SMALL&gt; texto &lt;/SMALL&gt;;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Sobrescrito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Eleva o texto e diminui seu corpo. Sintaxe: &lt;SUP&gt; texto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&lt;/SUP&gt;;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Subscrito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Rebaixa o texto e diminui seu corpo. Sintaxe: &lt;SUB&gt; texto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&lt;/SUB&gt;;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291" name="Google Shape;2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3" name="Google Shape;29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94" name="Google Shape;294;p23"/>
          <p:cNvSpPr txBox="1"/>
          <p:nvPr/>
        </p:nvSpPr>
        <p:spPr>
          <a:xfrm>
            <a:off x="450166" y="1280160"/>
            <a:ext cx="9523828" cy="3910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Cabeçalhos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&lt;H1&gt; Cabeçalho com tamanho 1 &lt;/H1&gt; 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&lt;H2&gt; Cabeçalho com tamanho 2 &lt;/H2&gt; 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&lt;H3&gt; Cabeçalho com tamanho 3 &lt;/H3&gt;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&lt;H4&gt; Cabeçalho com tamanho 4 &lt;/H4&gt; 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&lt;H5&gt; Cabeçalho com tamanho 5 &lt;/H5&gt; 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&lt;H6&gt; Cabeçalho com tamanho 6 &lt;/H6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300" name="Google Shape;3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2" name="Google Shape;30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450166" y="1280160"/>
            <a:ext cx="9523828" cy="3910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Emojis 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Inserindo Emojis Outra coisa que você pode adicionar às suas páginas são os emojis, onde cada símbolo possui um código Unicode. Para uma pesquisa mais precisa e atualizada, acesse o site da emojipedia.org Escolha uma categoria, clique no emoji escolhido e procure o seu Codepoints. No caso do exemplo acima, escolhemos o emoji com o código U+1F604. Para inserir esse emoji no seu site, use o código adaptado 😄 em qualquer lugar que aceite palavras. É só substituir o U+ por &amp;#x (com a letra x minúscula).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310" name="Google Shape;31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2" name="Google Shape;31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13" name="Google Shape;313;p25"/>
          <p:cNvSpPr txBox="1"/>
          <p:nvPr/>
        </p:nvSpPr>
        <p:spPr>
          <a:xfrm>
            <a:off x="309489" y="422031"/>
            <a:ext cx="10206111" cy="6299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Existem vários formatos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imagem, cada um com suas características, vantagens e desvantagens. Porém, vamos nos focar aqui nos dois formatos compactados mais usados para a criação de sites: JPEG e PNG. O algoritmo de compactação JPEG é usado para gerar imagens fotográficas com um tamanho extremamente reduzido. Ele foi criado em 1983 por Eric Hamilton e hoje é gerenciado pelo Joint Photographics Experts Group. Ele é amplamente utilizado por câmeras digitais modernas e programas de tratamento de imagens.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grande vantagem do uso de arquivos JPG (em formato JPEG) é gerar arquivos muito pequenos e que ocupam pouco espaço em disco. Isso é muito importante, pois quando colocarmos nosso site no ar, ele tem que ser leve e carregar as imagens muito rapidamente. Só toma cuidado para não exagerar na hora de configurar o nível de compactação.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Isso pode fazer com que sua imagem fique horrível e toda borrada (dá só uma olhada na imagem abaixo). O formato Portable Network Graphics (PNG) surgiu em 1996, desenvolvido pelo W3C (o mesmo órgão que gerencia a linguagem HTML) com o objetivo de substituir o formato GIF (que hoje voltou a ser popular graças ao WhatsApp e Instagram). Ele também é um formato compactado, mas não tanto quanto o JPEG. A principal característica do PNG - e que o diferencia do JPEG - é a capacidade de configurar a opacidade de cada pixel (deixá-lo transparente ou com transparência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limitada)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320" name="Google Shape;32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2" name="Google Shape;32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23" name="Google Shape;323;p26"/>
          <p:cNvSpPr txBox="1"/>
          <p:nvPr/>
        </p:nvSpPr>
        <p:spPr>
          <a:xfrm>
            <a:off x="182881" y="140677"/>
            <a:ext cx="10332720" cy="6580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SRC= nome ou URL do arquivo - Nome ou endereço (URL) da imagem a ser exibida. Este parâmetro é obrigatório.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ALT=Texto - Exibe o texto especificado quando o Browser não encontra a imagem ou quando o cursor passa por cima da figura.  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ALIGN= Top | Middle | Bottom - Especica o alinhamento da imagem relativamente à linha de texto onde é exibida. 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ALIGN= Left | Right - Especifica o alinhamento da imagem relativamente às bordas laterais da janela. 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ISMAP - Determina que a figura é um mapa de imagem. Trataremos deste assunto com mais detalhes em um de nossos próximos capítulos. 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WIDTH= "número | número%" - Especifica a largura de exibição da imagem em pixels ou em relação à largura da janela, independentemente de seu tamanho original. Quando se altera a dimensão horizontal da imagem, a dimensão vertical é modicada automaticamente para que a proporção original seja mantida.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HEIGHT= número | número% - Especifica a altura de exibição da imagem em pixels ou em relação à largura da janela, independentemente de seu tamanho original. Quando se altera a dimensão vertical da imagem, a dimensão horizontal é modicada automaticamente para que a proporção original seja mantida. Se uisermos forçar uma distorção na proporção original da imagem, temos que usar os parâmetros WIDTH e 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HEIGHT simultaneamente. 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BORDER= número - Especifica, em pixels, a largura da borda da imagem. O valor zero remove a borda.  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VSPACE=número - Determina, em pixels, o espaço que deve ser deixado em branco na parte de cima e na parte de baixo da imagem. 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HSPACE=número - Determina, em pixels, o espaço que deve ser deixado em branco nas laterais da i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329" name="Google Shape;32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1" name="Google Shape;33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32" name="Google Shape;332;p27"/>
          <p:cNvSpPr txBox="1"/>
          <p:nvPr/>
        </p:nvSpPr>
        <p:spPr>
          <a:xfrm>
            <a:off x="838200" y="1237957"/>
            <a:ext cx="8966982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Sintaxe básica: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&lt;IMG SRC= nome ou URL do arquivo&gt;.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Sintaxe completa: &lt;IMG SRC= nome ou URL do arquivo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WIDTH=número HEIGHT=número BORDER= número ALT= Texto VSPACE=número HSPACE=número ALIGN=Top | Middle | Bottom |Left | Right&gt;.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ENAI_BRANCO.png" id="338" name="Google Shape;33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Perguntas</a:t>
            </a:r>
            <a:endParaRPr/>
          </a:p>
        </p:txBody>
      </p:sp>
      <p:sp>
        <p:nvSpPr>
          <p:cNvPr id="340" name="Google Shape;34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12/11/2024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1" name="Google Shape;34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42" name="Google Shape;342;p28"/>
          <p:cNvSpPr/>
          <p:nvPr/>
        </p:nvSpPr>
        <p:spPr>
          <a:xfrm>
            <a:off x="238539" y="1345909"/>
            <a:ext cx="10031896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2018-05-19T21:17:00Z</dcterms:created>
  <dc:creator>Anthony Freitas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33F19568222C43DF8BCBB6A257F63E76_12</vt:lpwstr>
  </property>
  <property fmtid="{D5CDD505-2E9C-101B-9397-08002B2CF9AE}" pid="3" name="KSOProductBuildVer">
    <vt:lpwstr>1046-12.2.0.17119</vt:lpwstr>
  </property>
</Properties>
</file>